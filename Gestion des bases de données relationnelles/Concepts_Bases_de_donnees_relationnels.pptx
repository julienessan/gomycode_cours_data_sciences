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404" autoAdjust="0"/>
  </p:normalViewPr>
  <p:slideViewPr>
    <p:cSldViewPr snapToGrid="0" snapToObjects="1">
      <p:cViewPr varScale="1">
        <p:scale>
          <a:sx n="71" d="100"/>
          <a:sy n="71" d="100"/>
        </p:scale>
        <p:origin x="38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92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pic>
        <p:nvPicPr>
          <p:cNvPr id="2" name="Image 0" descr="icon_database_white.png"/>
          <p:cNvPicPr>
            <a:picLocks noChangeAspect="1"/>
          </p:cNvPicPr>
          <p:nvPr/>
        </p:nvPicPr>
        <p:blipFill>
          <a:blip r:embed="rId3">
            <a:alphaModFix amt="30000"/>
          </a:blip>
          <a:stretch>
            <a:fillRect/>
          </a:stretch>
        </p:blipFill>
        <p:spPr>
          <a:xfrm>
            <a:off x="9966960" y="914400"/>
            <a:ext cx="502920" cy="502920"/>
          </a:xfrm>
          <a:prstGeom prst="rect">
            <a:avLst/>
          </a:prstGeom>
        </p:spPr>
      </p:pic>
      <p:pic>
        <p:nvPicPr>
          <p:cNvPr id="3" name="Image 1" descr="icon_database_white.png"/>
          <p:cNvPicPr>
            <a:picLocks noChangeAspect="1"/>
          </p:cNvPicPr>
          <p:nvPr/>
        </p:nvPicPr>
        <p:blipFill>
          <a:blip r:embed="rId3">
            <a:alphaModFix amt="35000"/>
          </a:blip>
          <a:stretch>
            <a:fillRect/>
          </a:stretch>
        </p:blipFill>
        <p:spPr>
          <a:xfrm>
            <a:off x="9966960" y="2103120"/>
            <a:ext cx="502920" cy="502920"/>
          </a:xfrm>
          <a:prstGeom prst="rect">
            <a:avLst/>
          </a:prstGeom>
        </p:spPr>
      </p:pic>
      <p:pic>
        <p:nvPicPr>
          <p:cNvPr id="4" name="Image 2" descr="icon_database_white.png"/>
          <p:cNvPicPr>
            <a:picLocks noChangeAspect="1"/>
          </p:cNvPicPr>
          <p:nvPr/>
        </p:nvPicPr>
        <p:blipFill>
          <a:blip r:embed="rId3">
            <a:alphaModFix amt="40000"/>
          </a:blip>
          <a:stretch>
            <a:fillRect/>
          </a:stretch>
        </p:blipFill>
        <p:spPr>
          <a:xfrm>
            <a:off x="9966960" y="3291840"/>
            <a:ext cx="502920" cy="502920"/>
          </a:xfrm>
          <a:prstGeom prst="rect">
            <a:avLst/>
          </a:prstGeom>
        </p:spPr>
      </p:pic>
      <p:pic>
        <p:nvPicPr>
          <p:cNvPr id="5" name="Image 3" descr="icon_database_white.png"/>
          <p:cNvPicPr>
            <a:picLocks noChangeAspect="1"/>
          </p:cNvPicPr>
          <p:nvPr/>
        </p:nvPicPr>
        <p:blipFill>
          <a:blip r:embed="rId3">
            <a:alphaModFix amt="45000"/>
          </a:blip>
          <a:stretch>
            <a:fillRect/>
          </a:stretch>
        </p:blipFill>
        <p:spPr>
          <a:xfrm>
            <a:off x="9966960" y="4480560"/>
            <a:ext cx="502920" cy="502920"/>
          </a:xfrm>
          <a:prstGeom prst="rect">
            <a:avLst/>
          </a:prstGeom>
        </p:spPr>
      </p:pic>
      <p:sp>
        <p:nvSpPr>
          <p:cNvPr id="6" name="Text 0"/>
          <p:cNvSpPr/>
          <p:nvPr/>
        </p:nvSpPr>
        <p:spPr>
          <a:xfrm>
            <a:off x="731520" y="1965960"/>
            <a:ext cx="7315200" cy="457200"/>
          </a:xfrm>
          <a:prstGeom prst="rect">
            <a:avLst/>
          </a:prstGeom>
          <a:noFill/>
          <a:ln/>
        </p:spPr>
        <p:txBody>
          <a:bodyPr wrap="square" lIns="0" tIns="0" rIns="0" bIns="0" rtlCol="0" anchor="ctr"/>
          <a:lstStyle/>
          <a:p>
            <a:pPr marL="0" indent="0">
              <a:buNone/>
            </a:pPr>
            <a:r>
              <a:rPr lang="en-US" sz="1400" b="1" kern="0" spc="300" dirty="0">
                <a:solidFill>
                  <a:srgbClr val="9FC6D8"/>
                </a:solidFill>
                <a:latin typeface="Calibri" pitchFamily="34" charset="0"/>
                <a:ea typeface="Calibri" pitchFamily="34" charset="-122"/>
                <a:cs typeface="Calibri" pitchFamily="34" charset="-120"/>
              </a:rPr>
              <a:t>CONCEPTS FONDAMENTAUX</a:t>
            </a:r>
            <a:endParaRPr lang="en-US" sz="1400" dirty="0"/>
          </a:p>
        </p:txBody>
      </p:sp>
      <p:sp>
        <p:nvSpPr>
          <p:cNvPr id="7" name="Text 1"/>
          <p:cNvSpPr/>
          <p:nvPr/>
        </p:nvSpPr>
        <p:spPr>
          <a:xfrm>
            <a:off x="731520" y="2377440"/>
            <a:ext cx="868680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Bases de données</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et modèles relationnels</a:t>
            </a:r>
            <a:endParaRPr lang="en-US" sz="4000" dirty="0"/>
          </a:p>
        </p:txBody>
      </p:sp>
      <p:sp>
        <p:nvSpPr>
          <p:cNvPr id="8" name="Shape 2"/>
          <p:cNvSpPr/>
          <p:nvPr/>
        </p:nvSpPr>
        <p:spPr>
          <a:xfrm>
            <a:off x="731520" y="4343400"/>
            <a:ext cx="109728" cy="109728"/>
          </a:xfrm>
          <a:prstGeom prst="ellipse">
            <a:avLst/>
          </a:prstGeom>
          <a:solidFill>
            <a:srgbClr val="1C7293"/>
          </a:solidFill>
          <a:ln w="12700">
            <a:solidFill>
              <a:srgbClr val="1C7293"/>
            </a:solidFill>
            <a:prstDash val="solid"/>
          </a:ln>
        </p:spPr>
        <p:txBody>
          <a:bodyPr/>
          <a:lstStyle/>
          <a:p>
            <a:endParaRPr lang="fr-FR"/>
          </a:p>
        </p:txBody>
      </p:sp>
      <p:sp>
        <p:nvSpPr>
          <p:cNvPr id="9" name="Text 3"/>
          <p:cNvSpPr/>
          <p:nvPr/>
        </p:nvSpPr>
        <p:spPr>
          <a:xfrm>
            <a:off x="960120" y="4206240"/>
            <a:ext cx="7315200" cy="365760"/>
          </a:xfrm>
          <a:prstGeom prst="rect">
            <a:avLst/>
          </a:prstGeom>
          <a:noFill/>
          <a:ln/>
        </p:spPr>
        <p:txBody>
          <a:bodyPr wrap="square" lIns="0" tIns="0" rIns="0" bIns="0" rtlCol="0" anchor="ctr"/>
          <a:lstStyle/>
          <a:p>
            <a:pPr marL="0" indent="0">
              <a:buNone/>
            </a:pPr>
            <a:r>
              <a:rPr lang="en-US" sz="1500" i="1" dirty="0">
                <a:solidFill>
                  <a:srgbClr val="C9DCE6"/>
                </a:solidFill>
                <a:latin typeface="Calibri" pitchFamily="34" charset="0"/>
                <a:ea typeface="Calibri" pitchFamily="34" charset="-122"/>
                <a:cs typeface="Calibri" pitchFamily="34" charset="-120"/>
              </a:rPr>
              <a:t>Définitions  •  Importance  •  Visualisation des concepts</a:t>
            </a:r>
            <a:endParaRPr lang="en-US" sz="1500" dirty="0"/>
          </a:p>
        </p:txBody>
      </p:sp>
      <p:sp>
        <p:nvSpPr>
          <p:cNvPr id="10" name="Text 3">
            <a:extLst>
              <a:ext uri="{FF2B5EF4-FFF2-40B4-BE49-F238E27FC236}">
                <a16:creationId xmlns:a16="http://schemas.microsoft.com/office/drawing/2014/main" id="{B03FDE03-9E0F-C898-1301-427C20BC6BDA}"/>
              </a:ext>
            </a:extLst>
          </p:cNvPr>
          <p:cNvSpPr/>
          <p:nvPr/>
        </p:nvSpPr>
        <p:spPr>
          <a:xfrm>
            <a:off x="786384" y="5147534"/>
            <a:ext cx="7315200" cy="365760"/>
          </a:xfrm>
          <a:prstGeom prst="rect">
            <a:avLst/>
          </a:prstGeom>
          <a:noFill/>
          <a:ln/>
        </p:spPr>
        <p:txBody>
          <a:bodyPr wrap="square" lIns="0" tIns="0" rIns="0" bIns="0" rtlCol="0" anchor="ctr"/>
          <a:lstStyle/>
          <a:p>
            <a:pPr marL="0" indent="0">
              <a:buNone/>
            </a:pPr>
            <a:r>
              <a:rPr lang="en-US" sz="1500" i="1" dirty="0">
                <a:solidFill>
                  <a:srgbClr val="C9DCE6"/>
                </a:solidFill>
                <a:latin typeface="Calibri" pitchFamily="34" charset="0"/>
                <a:ea typeface="Calibri" pitchFamily="34" charset="-122"/>
                <a:cs typeface="Calibri" pitchFamily="34" charset="-120"/>
              </a:rPr>
              <a:t>Présenté par:</a:t>
            </a:r>
          </a:p>
          <a:p>
            <a:pPr marL="0" indent="0">
              <a:buNone/>
            </a:pPr>
            <a:r>
              <a:rPr lang="en-US" sz="1500" i="1" dirty="0">
                <a:solidFill>
                  <a:srgbClr val="C9DCE6"/>
                </a:solidFill>
                <a:latin typeface="Calibri" pitchFamily="34" charset="0"/>
                <a:ea typeface="Calibri" pitchFamily="34" charset="-122"/>
                <a:cs typeface="Calibri" pitchFamily="34" charset="-120"/>
              </a:rPr>
              <a:t>ESSAN Ano Julien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371600" cy="548640"/>
          </a:xfrm>
          <a:prstGeom prst="rect">
            <a:avLst/>
          </a:prstGeom>
          <a:noFill/>
          <a:ln/>
        </p:spPr>
        <p:txBody>
          <a:bodyPr wrap="square" lIns="0" tIns="0" rIns="0" bIns="0" rtlCol="0" anchor="ctr"/>
          <a:lstStyle/>
          <a:p>
            <a:pPr marL="0" indent="0">
              <a:buNone/>
            </a:pPr>
            <a:r>
              <a:rPr lang="en-US" sz="2000" b="1" dirty="0">
                <a:solidFill>
                  <a:srgbClr val="1C7293"/>
                </a:solidFill>
                <a:latin typeface="Cambria" pitchFamily="34" charset="0"/>
                <a:ea typeface="Cambria" pitchFamily="34" charset="-122"/>
                <a:cs typeface="Cambria" pitchFamily="34" charset="-120"/>
              </a:rPr>
              <a:t>01</a:t>
            </a:r>
            <a:endParaRPr lang="en-US" sz="2000" dirty="0"/>
          </a:p>
        </p:txBody>
      </p:sp>
      <p:sp>
        <p:nvSpPr>
          <p:cNvPr id="3" name="Text 1"/>
          <p:cNvSpPr/>
          <p:nvPr/>
        </p:nvSpPr>
        <p:spPr>
          <a:xfrm>
            <a:off x="731520" y="868680"/>
            <a:ext cx="86868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Qu'est-ce qu'une base de données ?</a:t>
            </a:r>
            <a:endParaRPr lang="en-US" sz="3000" dirty="0"/>
          </a:p>
        </p:txBody>
      </p:sp>
      <p:sp>
        <p:nvSpPr>
          <p:cNvPr id="4" name="Shape 2"/>
          <p:cNvSpPr/>
          <p:nvPr/>
        </p:nvSpPr>
        <p:spPr>
          <a:xfrm>
            <a:off x="731520" y="1737360"/>
            <a:ext cx="5029200" cy="2286000"/>
          </a:xfrm>
          <a:prstGeom prst="roundRect">
            <a:avLst>
              <a:gd name="adj" fmla="val 4800"/>
            </a:avLst>
          </a:prstGeom>
          <a:solidFill>
            <a:srgbClr val="EAF4F7"/>
          </a:solidFill>
          <a:ln w="12700">
            <a:solidFill>
              <a:srgbClr val="EAF4F7"/>
            </a:solidFill>
            <a:prstDash val="solid"/>
          </a:ln>
          <a:effectLst>
            <a:outerShdw blurRad="101600" dist="38100" dir="2700000" algn="bl" rotWithShape="0">
              <a:srgbClr val="000000">
                <a:alpha val="15000"/>
              </a:srgbClr>
            </a:outerShdw>
          </a:effectLst>
        </p:spPr>
        <p:txBody>
          <a:bodyPr/>
          <a:lstStyle/>
          <a:p>
            <a:endParaRPr lang="fr-FR"/>
          </a:p>
        </p:txBody>
      </p:sp>
      <p:pic>
        <p:nvPicPr>
          <p:cNvPr id="5" name="Image 0" descr="icon_database_navy.png"/>
          <p:cNvPicPr>
            <a:picLocks noChangeAspect="1"/>
          </p:cNvPicPr>
          <p:nvPr/>
        </p:nvPicPr>
        <p:blipFill>
          <a:blip r:embed="rId3"/>
          <a:stretch>
            <a:fillRect/>
          </a:stretch>
        </p:blipFill>
        <p:spPr>
          <a:xfrm>
            <a:off x="1051560" y="2011680"/>
            <a:ext cx="502920" cy="502920"/>
          </a:xfrm>
          <a:prstGeom prst="rect">
            <a:avLst/>
          </a:prstGeom>
        </p:spPr>
      </p:pic>
      <p:sp>
        <p:nvSpPr>
          <p:cNvPr id="6" name="Text 3"/>
          <p:cNvSpPr/>
          <p:nvPr/>
        </p:nvSpPr>
        <p:spPr>
          <a:xfrm>
            <a:off x="1737360" y="2011680"/>
            <a:ext cx="3657600" cy="45720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Définition simple</a:t>
            </a:r>
            <a:endParaRPr lang="en-US" sz="1600" dirty="0"/>
          </a:p>
        </p:txBody>
      </p:sp>
      <p:sp>
        <p:nvSpPr>
          <p:cNvPr id="7" name="Text 4"/>
          <p:cNvSpPr/>
          <p:nvPr/>
        </p:nvSpPr>
        <p:spPr>
          <a:xfrm>
            <a:off x="1051560" y="2606040"/>
            <a:ext cx="4434840" cy="1325880"/>
          </a:xfrm>
          <a:prstGeom prst="rect">
            <a:avLst/>
          </a:prstGeom>
          <a:noFill/>
          <a:ln/>
        </p:spPr>
        <p:txBody>
          <a:bodyPr wrap="square" lIns="0" tIns="0" rIns="0" bIns="0" rtlCol="0" anchor="ctr"/>
          <a:lstStyle/>
          <a:p>
            <a:pPr marL="0" indent="0">
              <a:lnSpc>
                <a:spcPct val="115000"/>
              </a:lnSpc>
              <a:buNone/>
            </a:pPr>
            <a:r>
              <a:rPr lang="en-US" sz="1450" dirty="0">
                <a:solidFill>
                  <a:srgbClr val="1E2A38"/>
                </a:solidFill>
                <a:latin typeface="Calibri" pitchFamily="34" charset="0"/>
                <a:ea typeface="Calibri" pitchFamily="34" charset="-122"/>
                <a:cs typeface="Calibri" pitchFamily="34" charset="-120"/>
              </a:rPr>
              <a:t>Une base de données est un ensemble organisé d'informations, stocké et structuré de manière à pouvoir être facilement consulté, mis à jour et géré, généralement à l'aide d'un ordinateur.</a:t>
            </a:r>
            <a:endParaRPr lang="en-US" sz="1450" dirty="0"/>
          </a:p>
        </p:txBody>
      </p:sp>
      <p:sp>
        <p:nvSpPr>
          <p:cNvPr id="8" name="Shape 5"/>
          <p:cNvSpPr/>
          <p:nvPr/>
        </p:nvSpPr>
        <p:spPr>
          <a:xfrm>
            <a:off x="6035040" y="1737360"/>
            <a:ext cx="5394960" cy="2423160"/>
          </a:xfrm>
          <a:prstGeom prst="roundRect">
            <a:avLst>
              <a:gd name="adj" fmla="val 4528"/>
            </a:avLst>
          </a:prstGeom>
          <a:solidFill>
            <a:srgbClr val="065A82">
              <a:alpha val="96000"/>
            </a:srgbClr>
          </a:solidFill>
          <a:ln w="12700">
            <a:solidFill>
              <a:srgbClr val="065A82"/>
            </a:solidFill>
            <a:prstDash val="solid"/>
          </a:ln>
          <a:effectLst>
            <a:outerShdw blurRad="101600" dist="38100" dir="2700000" algn="bl" rotWithShape="0">
              <a:srgbClr val="000000">
                <a:alpha val="15000"/>
              </a:srgbClr>
            </a:outerShdw>
          </a:effectLst>
        </p:spPr>
        <p:txBody>
          <a:bodyPr/>
          <a:lstStyle/>
          <a:p>
            <a:endParaRPr lang="fr-FR"/>
          </a:p>
        </p:txBody>
      </p:sp>
      <p:pic>
        <p:nvPicPr>
          <p:cNvPr id="9" name="Image 1" descr="icon_heartbeat_white.png"/>
          <p:cNvPicPr>
            <a:picLocks noChangeAspect="1"/>
          </p:cNvPicPr>
          <p:nvPr/>
        </p:nvPicPr>
        <p:blipFill>
          <a:blip r:embed="rId4"/>
          <a:stretch>
            <a:fillRect/>
          </a:stretch>
        </p:blipFill>
        <p:spPr>
          <a:xfrm>
            <a:off x="6355080" y="1965960"/>
            <a:ext cx="457200" cy="457200"/>
          </a:xfrm>
          <a:prstGeom prst="rect">
            <a:avLst/>
          </a:prstGeom>
        </p:spPr>
      </p:pic>
      <p:sp>
        <p:nvSpPr>
          <p:cNvPr id="10" name="Text 6"/>
          <p:cNvSpPr/>
          <p:nvPr/>
        </p:nvSpPr>
        <p:spPr>
          <a:xfrm>
            <a:off x="6995160" y="1965960"/>
            <a:ext cx="411480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Exemple concret</a:t>
            </a:r>
            <a:endParaRPr lang="en-US" sz="1600" dirty="0"/>
          </a:p>
        </p:txBody>
      </p:sp>
      <p:sp>
        <p:nvSpPr>
          <p:cNvPr id="11" name="Text 7"/>
          <p:cNvSpPr/>
          <p:nvPr/>
        </p:nvSpPr>
        <p:spPr>
          <a:xfrm>
            <a:off x="6355080" y="2542032"/>
            <a:ext cx="4846320" cy="1508760"/>
          </a:xfrm>
          <a:prstGeom prst="rect">
            <a:avLst/>
          </a:prstGeom>
          <a:noFill/>
          <a:ln/>
        </p:spPr>
        <p:txBody>
          <a:bodyPr wrap="square" lIns="0" tIns="0" rIns="0" bIns="0" rtlCol="0" anchor="ctr"/>
          <a:lstStyle/>
          <a:p>
            <a:pPr marL="0" indent="0">
              <a:lnSpc>
                <a:spcPct val="112000"/>
              </a:lnSpc>
              <a:buNone/>
            </a:pPr>
            <a:r>
              <a:rPr lang="en-US" sz="1350" b="1" dirty="0">
                <a:solidFill>
                  <a:srgbClr val="E4EEF2"/>
                </a:solidFill>
                <a:latin typeface="Calibri" pitchFamily="34" charset="0"/>
                <a:ea typeface="Calibri" pitchFamily="34" charset="-122"/>
                <a:cs typeface="Calibri" pitchFamily="34" charset="-120"/>
              </a:rPr>
              <a:t>Base de données de patients</a:t>
            </a:r>
            <a:endParaRPr lang="en-US" sz="1350" dirty="0"/>
          </a:p>
          <a:p>
            <a:pPr marL="0" indent="0">
              <a:lnSpc>
                <a:spcPct val="112000"/>
              </a:lnSpc>
              <a:buNone/>
            </a:pPr>
            <a:r>
              <a:rPr lang="en-US" sz="1350" dirty="0">
                <a:solidFill>
                  <a:srgbClr val="E4EEF2"/>
                </a:solidFill>
                <a:latin typeface="Calibri" pitchFamily="34" charset="0"/>
                <a:ea typeface="Calibri" pitchFamily="34" charset="-122"/>
                <a:cs typeface="Calibri" pitchFamily="34" charset="-120"/>
              </a:rPr>
              <a:t>Chaque patient est une fiche contenant son identité, ses antécédents médicaux, ses consultations et ses résultats d'examens. Le personnel soignant peut ainsi retrouver instantanément l'historique complet d'un patient pour assurer un suivi adapté.</a:t>
            </a:r>
            <a:endParaRPr lang="en-US" sz="1350" dirty="0"/>
          </a:p>
        </p:txBody>
      </p:sp>
      <p:sp>
        <p:nvSpPr>
          <p:cNvPr id="12" name="Shape 8"/>
          <p:cNvSpPr/>
          <p:nvPr/>
        </p:nvSpPr>
        <p:spPr>
          <a:xfrm>
            <a:off x="731520" y="4389120"/>
            <a:ext cx="10698480" cy="1188720"/>
          </a:xfrm>
          <a:prstGeom prst="roundRect">
            <a:avLst>
              <a:gd name="adj" fmla="val 9231"/>
            </a:avLst>
          </a:prstGeom>
          <a:solidFill>
            <a:srgbClr val="EAF4F7"/>
          </a:solidFill>
          <a:ln w="12700">
            <a:solidFill>
              <a:srgbClr val="EAF4F7"/>
            </a:solidFill>
            <a:prstDash val="solid"/>
          </a:ln>
        </p:spPr>
        <p:txBody>
          <a:bodyPr/>
          <a:lstStyle/>
          <a:p>
            <a:endParaRPr lang="fr-FR"/>
          </a:p>
        </p:txBody>
      </p:sp>
      <p:sp>
        <p:nvSpPr>
          <p:cNvPr id="13" name="Shape 9"/>
          <p:cNvSpPr/>
          <p:nvPr/>
        </p:nvSpPr>
        <p:spPr>
          <a:xfrm>
            <a:off x="960120" y="4663440"/>
            <a:ext cx="640080" cy="640080"/>
          </a:xfrm>
          <a:prstGeom prst="ellipse">
            <a:avLst/>
          </a:prstGeom>
          <a:solidFill>
            <a:srgbClr val="1C7293"/>
          </a:solidFill>
          <a:ln w="12700">
            <a:solidFill>
              <a:srgbClr val="333333"/>
            </a:solidFill>
            <a:prstDash val="solid"/>
          </a:ln>
        </p:spPr>
        <p:txBody>
          <a:bodyPr/>
          <a:lstStyle/>
          <a:p>
            <a:endParaRPr lang="fr-FR"/>
          </a:p>
        </p:txBody>
      </p:sp>
      <p:pic>
        <p:nvPicPr>
          <p:cNvPr id="14" name="Image 2" descr="icon_users_white.png"/>
          <p:cNvPicPr>
            <a:picLocks noChangeAspect="1"/>
          </p:cNvPicPr>
          <p:nvPr/>
        </p:nvPicPr>
        <p:blipFill>
          <a:blip r:embed="rId5"/>
          <a:stretch>
            <a:fillRect/>
          </a:stretch>
        </p:blipFill>
        <p:spPr>
          <a:xfrm>
            <a:off x="1097280" y="4800600"/>
            <a:ext cx="365760" cy="365760"/>
          </a:xfrm>
          <a:prstGeom prst="rect">
            <a:avLst/>
          </a:prstGeom>
        </p:spPr>
      </p:pic>
      <p:sp>
        <p:nvSpPr>
          <p:cNvPr id="15" name="Text 10"/>
          <p:cNvSpPr/>
          <p:nvPr/>
        </p:nvSpPr>
        <p:spPr>
          <a:xfrm>
            <a:off x="1920240" y="4572000"/>
            <a:ext cx="9326880" cy="960120"/>
          </a:xfrm>
          <a:prstGeom prst="rect">
            <a:avLst/>
          </a:prstGeom>
          <a:noFill/>
          <a:ln/>
        </p:spPr>
        <p:txBody>
          <a:bodyPr wrap="square" lIns="0" tIns="0" rIns="0" bIns="0" rtlCol="0" anchor="ctr"/>
          <a:lstStyle/>
          <a:p>
            <a:pPr marL="0" indent="0">
              <a:lnSpc>
                <a:spcPct val="115000"/>
              </a:lnSpc>
              <a:buNone/>
            </a:pPr>
            <a:r>
              <a:rPr lang="en-US" sz="1400" b="1" dirty="0">
                <a:solidFill>
                  <a:srgbClr val="21295C"/>
                </a:solidFill>
                <a:latin typeface="Calibri" pitchFamily="34" charset="0"/>
                <a:ea typeface="Calibri" pitchFamily="34" charset="-122"/>
                <a:cs typeface="Calibri" pitchFamily="34" charset="-120"/>
              </a:rPr>
              <a:t>Autre exemple — Base de données clients : </a:t>
            </a:r>
            <a:r>
              <a:rPr lang="en-US" sz="1400" dirty="0">
                <a:solidFill>
                  <a:srgbClr val="1E2A38"/>
                </a:solidFill>
                <a:latin typeface="Calibri" pitchFamily="34" charset="0"/>
                <a:ea typeface="Calibri" pitchFamily="34" charset="-122"/>
                <a:cs typeface="Calibri" pitchFamily="34" charset="-120"/>
              </a:rPr>
              <a:t>un système contenant le nom, l'adresse, l'historique d'achats et les coordonnées de chaque client, utilisé par une entreprise pour gérer ses relations commerciales.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371600" cy="548640"/>
          </a:xfrm>
          <a:prstGeom prst="rect">
            <a:avLst/>
          </a:prstGeom>
          <a:noFill/>
          <a:ln/>
        </p:spPr>
        <p:txBody>
          <a:bodyPr wrap="square" lIns="0" tIns="0" rIns="0" bIns="0" rtlCol="0" anchor="ctr"/>
          <a:lstStyle/>
          <a:p>
            <a:pPr marL="0" indent="0">
              <a:buNone/>
            </a:pPr>
            <a:r>
              <a:rPr lang="en-US" sz="2000" b="1" dirty="0">
                <a:solidFill>
                  <a:srgbClr val="1C7293"/>
                </a:solidFill>
                <a:latin typeface="Cambria" pitchFamily="34" charset="0"/>
                <a:ea typeface="Cambria" pitchFamily="34" charset="-122"/>
                <a:cs typeface="Cambria" pitchFamily="34" charset="-120"/>
              </a:rPr>
              <a:t>02</a:t>
            </a:r>
            <a:endParaRPr lang="en-US" sz="2000" dirty="0"/>
          </a:p>
        </p:txBody>
      </p:sp>
      <p:sp>
        <p:nvSpPr>
          <p:cNvPr id="3" name="Text 1"/>
          <p:cNvSpPr/>
          <p:nvPr/>
        </p:nvSpPr>
        <p:spPr>
          <a:xfrm>
            <a:off x="731520" y="868680"/>
            <a:ext cx="960120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Qu'est-ce qu'un modèle relationnel ?</a:t>
            </a:r>
            <a:endParaRPr lang="en-US" sz="3000" dirty="0"/>
          </a:p>
        </p:txBody>
      </p:sp>
      <p:sp>
        <p:nvSpPr>
          <p:cNvPr id="4" name="Shape 2"/>
          <p:cNvSpPr/>
          <p:nvPr/>
        </p:nvSpPr>
        <p:spPr>
          <a:xfrm>
            <a:off x="731520" y="1691640"/>
            <a:ext cx="4114800" cy="3886200"/>
          </a:xfrm>
          <a:prstGeom prst="roundRect">
            <a:avLst>
              <a:gd name="adj" fmla="val 2824"/>
            </a:avLst>
          </a:prstGeom>
          <a:solidFill>
            <a:srgbClr val="EAF4F7"/>
          </a:solidFill>
          <a:ln w="12700">
            <a:solidFill>
              <a:srgbClr val="333333"/>
            </a:solidFill>
            <a:prstDash val="solid"/>
          </a:ln>
          <a:effectLst>
            <a:outerShdw blurRad="101600" dist="38100" dir="2700000" algn="bl" rotWithShape="0">
              <a:srgbClr val="000000">
                <a:alpha val="15000"/>
              </a:srgbClr>
            </a:outerShdw>
          </a:effectLst>
        </p:spPr>
        <p:txBody>
          <a:bodyPr/>
          <a:lstStyle/>
          <a:p>
            <a:endParaRPr lang="fr-FR"/>
          </a:p>
        </p:txBody>
      </p:sp>
      <p:sp>
        <p:nvSpPr>
          <p:cNvPr id="5" name="Shape 3"/>
          <p:cNvSpPr/>
          <p:nvPr/>
        </p:nvSpPr>
        <p:spPr>
          <a:xfrm>
            <a:off x="1051560" y="1965960"/>
            <a:ext cx="640080" cy="640080"/>
          </a:xfrm>
          <a:prstGeom prst="ellipse">
            <a:avLst/>
          </a:prstGeom>
          <a:solidFill>
            <a:srgbClr val="065A82"/>
          </a:solidFill>
          <a:ln w="12700">
            <a:solidFill>
              <a:srgbClr val="333333"/>
            </a:solidFill>
            <a:prstDash val="solid"/>
          </a:ln>
        </p:spPr>
        <p:txBody>
          <a:bodyPr/>
          <a:lstStyle/>
          <a:p>
            <a:endParaRPr lang="fr-FR"/>
          </a:p>
        </p:txBody>
      </p:sp>
      <p:pic>
        <p:nvPicPr>
          <p:cNvPr id="6" name="Image 0" descr="icon_layers_white.png"/>
          <p:cNvPicPr>
            <a:picLocks noChangeAspect="1"/>
          </p:cNvPicPr>
          <p:nvPr/>
        </p:nvPicPr>
        <p:blipFill>
          <a:blip r:embed="rId3"/>
          <a:stretch>
            <a:fillRect/>
          </a:stretch>
        </p:blipFill>
        <p:spPr>
          <a:xfrm>
            <a:off x="1207008" y="2121408"/>
            <a:ext cx="329184" cy="329184"/>
          </a:xfrm>
          <a:prstGeom prst="rect">
            <a:avLst/>
          </a:prstGeom>
        </p:spPr>
      </p:pic>
      <p:sp>
        <p:nvSpPr>
          <p:cNvPr id="7" name="Text 4"/>
          <p:cNvSpPr/>
          <p:nvPr/>
        </p:nvSpPr>
        <p:spPr>
          <a:xfrm>
            <a:off x="1828800" y="1993392"/>
            <a:ext cx="2743200" cy="45720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Principe</a:t>
            </a:r>
            <a:endParaRPr lang="en-US" sz="1600" dirty="0"/>
          </a:p>
        </p:txBody>
      </p:sp>
      <p:sp>
        <p:nvSpPr>
          <p:cNvPr id="8" name="Text 5"/>
          <p:cNvSpPr/>
          <p:nvPr/>
        </p:nvSpPr>
        <p:spPr>
          <a:xfrm>
            <a:off x="1051560" y="2697480"/>
            <a:ext cx="3520440" cy="1051560"/>
          </a:xfrm>
          <a:prstGeom prst="rect">
            <a:avLst/>
          </a:prstGeom>
          <a:noFill/>
          <a:ln/>
        </p:spPr>
        <p:txBody>
          <a:bodyPr wrap="square" lIns="0" tIns="0" rIns="0" bIns="0" rtlCol="0" anchor="ctr"/>
          <a:lstStyle/>
          <a:p>
            <a:pPr marL="0" indent="0">
              <a:lnSpc>
                <a:spcPct val="118000"/>
              </a:lnSpc>
              <a:buNone/>
            </a:pPr>
            <a:r>
              <a:rPr lang="en-US" sz="1350" dirty="0">
                <a:solidFill>
                  <a:srgbClr val="1E2A38"/>
                </a:solidFill>
                <a:latin typeface="Calibri" pitchFamily="34" charset="0"/>
                <a:ea typeface="Calibri" pitchFamily="34" charset="-122"/>
                <a:cs typeface="Calibri" pitchFamily="34" charset="-120"/>
              </a:rPr>
              <a:t>Un modèle relationnel organise les données dans des tables (ou « relations »), composées de lignes (enregistrements) et de colonnes (champs).</a:t>
            </a:r>
            <a:endParaRPr lang="en-US" sz="1350" dirty="0"/>
          </a:p>
        </p:txBody>
      </p:sp>
      <p:sp>
        <p:nvSpPr>
          <p:cNvPr id="9" name="Text 6"/>
          <p:cNvSpPr/>
          <p:nvPr/>
        </p:nvSpPr>
        <p:spPr>
          <a:xfrm>
            <a:off x="1051560" y="3794760"/>
            <a:ext cx="3520440" cy="822960"/>
          </a:xfrm>
          <a:prstGeom prst="rect">
            <a:avLst/>
          </a:prstGeom>
          <a:noFill/>
          <a:ln/>
        </p:spPr>
        <p:txBody>
          <a:bodyPr wrap="square" lIns="0" tIns="0" rIns="0" bIns="0" rtlCol="0" anchor="ctr"/>
          <a:lstStyle/>
          <a:p>
            <a:pPr marL="0" indent="0">
              <a:lnSpc>
                <a:spcPct val="115000"/>
              </a:lnSpc>
              <a:buNone/>
            </a:pPr>
            <a:r>
              <a:rPr lang="en-US" sz="1250" b="1" dirty="0">
                <a:solidFill>
                  <a:srgbClr val="21295C"/>
                </a:solidFill>
                <a:latin typeface="Calibri" pitchFamily="34" charset="0"/>
                <a:ea typeface="Calibri" pitchFamily="34" charset="-122"/>
                <a:cs typeface="Calibri" pitchFamily="34" charset="-120"/>
              </a:rPr>
              <a:t>Clé primaire</a:t>
            </a:r>
            <a:endParaRPr lang="en-US" sz="1250" dirty="0"/>
          </a:p>
          <a:p>
            <a:pPr marL="0" indent="0">
              <a:lnSpc>
                <a:spcPct val="115000"/>
              </a:lnSpc>
              <a:buNone/>
            </a:pPr>
            <a:r>
              <a:rPr lang="en-US" sz="1250" dirty="0">
                <a:solidFill>
                  <a:srgbClr val="1E2A38"/>
                </a:solidFill>
                <a:latin typeface="Calibri" pitchFamily="34" charset="0"/>
                <a:ea typeface="Calibri" pitchFamily="34" charset="-122"/>
                <a:cs typeface="Calibri" pitchFamily="34" charset="-120"/>
              </a:rPr>
              <a:t>Identifie de façon unique chaque enregistrement d'une table (ex. ID_patient).</a:t>
            </a:r>
            <a:endParaRPr lang="en-US" sz="1250" dirty="0"/>
          </a:p>
        </p:txBody>
      </p:sp>
      <p:sp>
        <p:nvSpPr>
          <p:cNvPr id="10" name="Text 7"/>
          <p:cNvSpPr/>
          <p:nvPr/>
        </p:nvSpPr>
        <p:spPr>
          <a:xfrm>
            <a:off x="1051560" y="4617720"/>
            <a:ext cx="3520440" cy="822960"/>
          </a:xfrm>
          <a:prstGeom prst="rect">
            <a:avLst/>
          </a:prstGeom>
          <a:noFill/>
          <a:ln/>
        </p:spPr>
        <p:txBody>
          <a:bodyPr wrap="square" lIns="0" tIns="0" rIns="0" bIns="0" rtlCol="0" anchor="ctr"/>
          <a:lstStyle/>
          <a:p>
            <a:pPr marL="0" indent="0">
              <a:lnSpc>
                <a:spcPct val="115000"/>
              </a:lnSpc>
              <a:buNone/>
            </a:pPr>
            <a:r>
              <a:rPr lang="en-US" sz="1250" b="1" dirty="0">
                <a:solidFill>
                  <a:srgbClr val="21295C"/>
                </a:solidFill>
                <a:latin typeface="Calibri" pitchFamily="34" charset="0"/>
                <a:ea typeface="Calibri" pitchFamily="34" charset="-122"/>
                <a:cs typeface="Calibri" pitchFamily="34" charset="-120"/>
              </a:rPr>
              <a:t>Clé étrangère</a:t>
            </a:r>
            <a:endParaRPr lang="en-US" sz="1250" dirty="0"/>
          </a:p>
          <a:p>
            <a:pPr marL="0" indent="0">
              <a:lnSpc>
                <a:spcPct val="115000"/>
              </a:lnSpc>
              <a:buNone/>
            </a:pPr>
            <a:r>
              <a:rPr lang="en-US" sz="1250" dirty="0">
                <a:solidFill>
                  <a:srgbClr val="1E2A38"/>
                </a:solidFill>
                <a:latin typeface="Calibri" pitchFamily="34" charset="0"/>
                <a:ea typeface="Calibri" pitchFamily="34" charset="-122"/>
                <a:cs typeface="Calibri" pitchFamily="34" charset="-120"/>
              </a:rPr>
              <a:t>Établit le lien entre deux tables en référençant la clé primaire d'une autre table.</a:t>
            </a:r>
            <a:endParaRPr lang="en-US" sz="1250" dirty="0"/>
          </a:p>
        </p:txBody>
      </p:sp>
      <p:sp>
        <p:nvSpPr>
          <p:cNvPr id="11" name="Shape 8"/>
          <p:cNvSpPr/>
          <p:nvPr/>
        </p:nvSpPr>
        <p:spPr>
          <a:xfrm>
            <a:off x="5212080" y="2148840"/>
            <a:ext cx="2651760" cy="1783080"/>
          </a:xfrm>
          <a:prstGeom prst="roundRect">
            <a:avLst>
              <a:gd name="adj" fmla="val 5128"/>
            </a:avLst>
          </a:prstGeom>
          <a:solidFill>
            <a:srgbClr val="065A82"/>
          </a:solidFill>
          <a:ln w="12700">
            <a:solidFill>
              <a:srgbClr val="333333"/>
            </a:solidFill>
            <a:prstDash val="solid"/>
          </a:ln>
          <a:effectLst>
            <a:outerShdw blurRad="101600" dist="38100" dir="2700000" algn="bl" rotWithShape="0">
              <a:srgbClr val="000000">
                <a:alpha val="15000"/>
              </a:srgbClr>
            </a:outerShdw>
          </a:effectLst>
        </p:spPr>
        <p:txBody>
          <a:bodyPr/>
          <a:lstStyle/>
          <a:p>
            <a:endParaRPr lang="fr-FR"/>
          </a:p>
        </p:txBody>
      </p:sp>
      <p:sp>
        <p:nvSpPr>
          <p:cNvPr id="12" name="Text 9"/>
          <p:cNvSpPr/>
          <p:nvPr/>
        </p:nvSpPr>
        <p:spPr>
          <a:xfrm>
            <a:off x="5212080" y="2258568"/>
            <a:ext cx="265176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PATIENTS</a:t>
            </a:r>
            <a:endParaRPr lang="en-US" sz="1300" dirty="0"/>
          </a:p>
        </p:txBody>
      </p:sp>
      <p:sp>
        <p:nvSpPr>
          <p:cNvPr id="13" name="Text 10"/>
          <p:cNvSpPr/>
          <p:nvPr/>
        </p:nvSpPr>
        <p:spPr>
          <a:xfrm>
            <a:off x="5440680" y="2651760"/>
            <a:ext cx="2194560" cy="274320"/>
          </a:xfrm>
          <a:prstGeom prst="rect">
            <a:avLst/>
          </a:prstGeom>
          <a:noFill/>
          <a:ln/>
        </p:spPr>
        <p:txBody>
          <a:bodyPr wrap="square" lIns="0" tIns="0" rIns="0" bIns="0" rtlCol="0" anchor="ctr"/>
          <a:lstStyle/>
          <a:p>
            <a:pPr marL="0" indent="0">
              <a:buNone/>
            </a:pPr>
            <a:r>
              <a:rPr lang="en-US" sz="1100" b="1" dirty="0">
                <a:solidFill>
                  <a:srgbClr val="9FE0D8"/>
                </a:solidFill>
                <a:latin typeface="Calibri" pitchFamily="34" charset="0"/>
                <a:ea typeface="Calibri" pitchFamily="34" charset="-122"/>
                <a:cs typeface="Calibri" pitchFamily="34" charset="-120"/>
              </a:rPr>
              <a:t>ID_patient (CP)</a:t>
            </a:r>
            <a:endParaRPr lang="en-US" sz="1100" dirty="0"/>
          </a:p>
        </p:txBody>
      </p:sp>
      <p:sp>
        <p:nvSpPr>
          <p:cNvPr id="14" name="Text 11"/>
          <p:cNvSpPr/>
          <p:nvPr/>
        </p:nvSpPr>
        <p:spPr>
          <a:xfrm>
            <a:off x="5440680" y="2953512"/>
            <a:ext cx="2194560" cy="274320"/>
          </a:xfrm>
          <a:prstGeom prst="rect">
            <a:avLst/>
          </a:prstGeom>
          <a:noFill/>
          <a:ln/>
        </p:spPr>
        <p:txBody>
          <a:bodyPr wrap="square" lIns="0" tIns="0" rIns="0" bIns="0" rtlCol="0" anchor="ctr"/>
          <a:lstStyle/>
          <a:p>
            <a:pPr marL="0" indent="0">
              <a:buNone/>
            </a:pPr>
            <a:r>
              <a:rPr lang="en-US" sz="1100" dirty="0">
                <a:solidFill>
                  <a:srgbClr val="E4EEF2"/>
                </a:solidFill>
                <a:latin typeface="Calibri" pitchFamily="34" charset="0"/>
                <a:ea typeface="Calibri" pitchFamily="34" charset="-122"/>
                <a:cs typeface="Calibri" pitchFamily="34" charset="-120"/>
              </a:rPr>
              <a:t>Nom</a:t>
            </a:r>
            <a:endParaRPr lang="en-US" sz="1100" dirty="0"/>
          </a:p>
        </p:txBody>
      </p:sp>
      <p:sp>
        <p:nvSpPr>
          <p:cNvPr id="15" name="Text 12"/>
          <p:cNvSpPr/>
          <p:nvPr/>
        </p:nvSpPr>
        <p:spPr>
          <a:xfrm>
            <a:off x="5440680" y="3255264"/>
            <a:ext cx="2194560" cy="274320"/>
          </a:xfrm>
          <a:prstGeom prst="rect">
            <a:avLst/>
          </a:prstGeom>
          <a:noFill/>
          <a:ln/>
        </p:spPr>
        <p:txBody>
          <a:bodyPr wrap="square" lIns="0" tIns="0" rIns="0" bIns="0" rtlCol="0" anchor="ctr"/>
          <a:lstStyle/>
          <a:p>
            <a:pPr marL="0" indent="0">
              <a:buNone/>
            </a:pPr>
            <a:r>
              <a:rPr lang="en-US" sz="1100" dirty="0">
                <a:solidFill>
                  <a:srgbClr val="E4EEF2"/>
                </a:solidFill>
                <a:latin typeface="Calibri" pitchFamily="34" charset="0"/>
                <a:ea typeface="Calibri" pitchFamily="34" charset="-122"/>
                <a:cs typeface="Calibri" pitchFamily="34" charset="-120"/>
              </a:rPr>
              <a:t>Date de naissance</a:t>
            </a:r>
            <a:endParaRPr lang="en-US" sz="1100" dirty="0"/>
          </a:p>
        </p:txBody>
      </p:sp>
      <p:sp>
        <p:nvSpPr>
          <p:cNvPr id="16" name="Text 13"/>
          <p:cNvSpPr/>
          <p:nvPr/>
        </p:nvSpPr>
        <p:spPr>
          <a:xfrm>
            <a:off x="5440680" y="3557016"/>
            <a:ext cx="2194560" cy="274320"/>
          </a:xfrm>
          <a:prstGeom prst="rect">
            <a:avLst/>
          </a:prstGeom>
          <a:noFill/>
          <a:ln/>
        </p:spPr>
        <p:txBody>
          <a:bodyPr wrap="square" lIns="0" tIns="0" rIns="0" bIns="0" rtlCol="0" anchor="ctr"/>
          <a:lstStyle/>
          <a:p>
            <a:pPr marL="0" indent="0">
              <a:buNone/>
            </a:pPr>
            <a:r>
              <a:rPr lang="en-US" sz="1100" dirty="0">
                <a:solidFill>
                  <a:srgbClr val="E4EEF2"/>
                </a:solidFill>
                <a:latin typeface="Calibri" pitchFamily="34" charset="0"/>
                <a:ea typeface="Calibri" pitchFamily="34" charset="-122"/>
                <a:cs typeface="Calibri" pitchFamily="34" charset="-120"/>
              </a:rPr>
              <a:t>Sexe</a:t>
            </a:r>
            <a:endParaRPr lang="en-US" sz="1100" dirty="0"/>
          </a:p>
        </p:txBody>
      </p:sp>
      <p:sp>
        <p:nvSpPr>
          <p:cNvPr id="17" name="Shape 14"/>
          <p:cNvSpPr/>
          <p:nvPr/>
        </p:nvSpPr>
        <p:spPr>
          <a:xfrm>
            <a:off x="8686800" y="2148840"/>
            <a:ext cx="2651760" cy="1783080"/>
          </a:xfrm>
          <a:prstGeom prst="roundRect">
            <a:avLst>
              <a:gd name="adj" fmla="val 5128"/>
            </a:avLst>
          </a:prstGeom>
          <a:solidFill>
            <a:srgbClr val="1C7293"/>
          </a:solidFill>
          <a:ln w="12700">
            <a:solidFill>
              <a:srgbClr val="333333"/>
            </a:solidFill>
            <a:prstDash val="solid"/>
          </a:ln>
          <a:effectLst>
            <a:outerShdw blurRad="101600" dist="38100" dir="2700000" algn="bl" rotWithShape="0">
              <a:srgbClr val="000000">
                <a:alpha val="15000"/>
              </a:srgbClr>
            </a:outerShdw>
          </a:effectLst>
        </p:spPr>
        <p:txBody>
          <a:bodyPr/>
          <a:lstStyle/>
          <a:p>
            <a:endParaRPr lang="fr-FR"/>
          </a:p>
        </p:txBody>
      </p:sp>
      <p:sp>
        <p:nvSpPr>
          <p:cNvPr id="18" name="Text 15"/>
          <p:cNvSpPr/>
          <p:nvPr/>
        </p:nvSpPr>
        <p:spPr>
          <a:xfrm>
            <a:off x="8686800" y="2258568"/>
            <a:ext cx="265176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CONSULTATIONS</a:t>
            </a:r>
            <a:endParaRPr lang="en-US" sz="1300" dirty="0"/>
          </a:p>
        </p:txBody>
      </p:sp>
      <p:sp>
        <p:nvSpPr>
          <p:cNvPr id="19" name="Text 16"/>
          <p:cNvSpPr/>
          <p:nvPr/>
        </p:nvSpPr>
        <p:spPr>
          <a:xfrm>
            <a:off x="8915400" y="2651760"/>
            <a:ext cx="2194560" cy="274320"/>
          </a:xfrm>
          <a:prstGeom prst="rect">
            <a:avLst/>
          </a:prstGeom>
          <a:noFill/>
          <a:ln/>
        </p:spPr>
        <p:txBody>
          <a:bodyPr wrap="square" lIns="0" tIns="0" rIns="0" bIns="0" rtlCol="0" anchor="ctr"/>
          <a:lstStyle/>
          <a:p>
            <a:pPr marL="0" indent="0">
              <a:buNone/>
            </a:pPr>
            <a:r>
              <a:rPr lang="en-US" sz="1100" b="1" dirty="0">
                <a:solidFill>
                  <a:srgbClr val="FFE9A8"/>
                </a:solidFill>
                <a:latin typeface="Calibri" pitchFamily="34" charset="0"/>
                <a:ea typeface="Calibri" pitchFamily="34" charset="-122"/>
                <a:cs typeface="Calibri" pitchFamily="34" charset="-120"/>
              </a:rPr>
              <a:t>ID_consult. (CP)</a:t>
            </a:r>
            <a:endParaRPr lang="en-US" sz="1100" dirty="0"/>
          </a:p>
        </p:txBody>
      </p:sp>
      <p:sp>
        <p:nvSpPr>
          <p:cNvPr id="20" name="Text 17"/>
          <p:cNvSpPr/>
          <p:nvPr/>
        </p:nvSpPr>
        <p:spPr>
          <a:xfrm>
            <a:off x="8915400" y="2953512"/>
            <a:ext cx="2194560" cy="274320"/>
          </a:xfrm>
          <a:prstGeom prst="rect">
            <a:avLst/>
          </a:prstGeom>
          <a:noFill/>
          <a:ln/>
        </p:spPr>
        <p:txBody>
          <a:bodyPr wrap="square" lIns="0" tIns="0" rIns="0" bIns="0" rtlCol="0" anchor="ctr"/>
          <a:lstStyle/>
          <a:p>
            <a:pPr marL="0" indent="0">
              <a:buNone/>
            </a:pPr>
            <a:r>
              <a:rPr lang="en-US" sz="1100" b="1" dirty="0">
                <a:solidFill>
                  <a:srgbClr val="FFE9A8"/>
                </a:solidFill>
                <a:latin typeface="Calibri" pitchFamily="34" charset="0"/>
                <a:ea typeface="Calibri" pitchFamily="34" charset="-122"/>
                <a:cs typeface="Calibri" pitchFamily="34" charset="-120"/>
              </a:rPr>
              <a:t>ID_patient (CE)</a:t>
            </a:r>
            <a:endParaRPr lang="en-US" sz="1100" dirty="0"/>
          </a:p>
        </p:txBody>
      </p:sp>
      <p:sp>
        <p:nvSpPr>
          <p:cNvPr id="21" name="Text 18"/>
          <p:cNvSpPr/>
          <p:nvPr/>
        </p:nvSpPr>
        <p:spPr>
          <a:xfrm>
            <a:off x="8915400" y="3255264"/>
            <a:ext cx="2194560" cy="274320"/>
          </a:xfrm>
          <a:prstGeom prst="rect">
            <a:avLst/>
          </a:prstGeom>
          <a:noFill/>
          <a:ln/>
        </p:spPr>
        <p:txBody>
          <a:bodyPr wrap="square" lIns="0" tIns="0" rIns="0" bIns="0" rtlCol="0" anchor="ctr"/>
          <a:lstStyle/>
          <a:p>
            <a:pPr marL="0" indent="0">
              <a:buNone/>
            </a:pPr>
            <a:r>
              <a:rPr lang="en-US" sz="1100" dirty="0">
                <a:solidFill>
                  <a:srgbClr val="E4EEF2"/>
                </a:solidFill>
                <a:latin typeface="Calibri" pitchFamily="34" charset="0"/>
                <a:ea typeface="Calibri" pitchFamily="34" charset="-122"/>
                <a:cs typeface="Calibri" pitchFamily="34" charset="-120"/>
              </a:rPr>
              <a:t>Date</a:t>
            </a:r>
            <a:endParaRPr lang="en-US" sz="1100" dirty="0"/>
          </a:p>
        </p:txBody>
      </p:sp>
      <p:sp>
        <p:nvSpPr>
          <p:cNvPr id="22" name="Text 19"/>
          <p:cNvSpPr/>
          <p:nvPr/>
        </p:nvSpPr>
        <p:spPr>
          <a:xfrm>
            <a:off x="8915400" y="3557016"/>
            <a:ext cx="2194560" cy="274320"/>
          </a:xfrm>
          <a:prstGeom prst="rect">
            <a:avLst/>
          </a:prstGeom>
          <a:noFill/>
          <a:ln/>
        </p:spPr>
        <p:txBody>
          <a:bodyPr wrap="square" lIns="0" tIns="0" rIns="0" bIns="0" rtlCol="0" anchor="ctr"/>
          <a:lstStyle/>
          <a:p>
            <a:pPr marL="0" indent="0">
              <a:buNone/>
            </a:pPr>
            <a:r>
              <a:rPr lang="en-US" sz="1100" dirty="0">
                <a:solidFill>
                  <a:srgbClr val="E4EEF2"/>
                </a:solidFill>
                <a:latin typeface="Calibri" pitchFamily="34" charset="0"/>
                <a:ea typeface="Calibri" pitchFamily="34" charset="-122"/>
                <a:cs typeface="Calibri" pitchFamily="34" charset="-120"/>
              </a:rPr>
              <a:t>Diagnostic</a:t>
            </a:r>
            <a:endParaRPr lang="en-US" sz="1100" dirty="0"/>
          </a:p>
        </p:txBody>
      </p:sp>
      <p:sp>
        <p:nvSpPr>
          <p:cNvPr id="23" name="Shape 20"/>
          <p:cNvSpPr/>
          <p:nvPr/>
        </p:nvSpPr>
        <p:spPr>
          <a:xfrm>
            <a:off x="6537960" y="1856232"/>
            <a:ext cx="3474720" cy="0"/>
          </a:xfrm>
          <a:prstGeom prst="line">
            <a:avLst/>
          </a:prstGeom>
          <a:noFill/>
          <a:ln w="19050">
            <a:solidFill>
              <a:srgbClr val="21295C"/>
            </a:solidFill>
            <a:prstDash val="dash"/>
          </a:ln>
        </p:spPr>
        <p:txBody>
          <a:bodyPr/>
          <a:lstStyle/>
          <a:p>
            <a:endParaRPr lang="fr-FR"/>
          </a:p>
        </p:txBody>
      </p:sp>
      <p:sp>
        <p:nvSpPr>
          <p:cNvPr id="24" name="Shape 21"/>
          <p:cNvSpPr/>
          <p:nvPr/>
        </p:nvSpPr>
        <p:spPr>
          <a:xfrm>
            <a:off x="6537960" y="1856232"/>
            <a:ext cx="0" cy="292608"/>
          </a:xfrm>
          <a:prstGeom prst="line">
            <a:avLst/>
          </a:prstGeom>
          <a:noFill/>
          <a:ln w="19050">
            <a:solidFill>
              <a:srgbClr val="21295C"/>
            </a:solidFill>
            <a:prstDash val="dash"/>
          </a:ln>
        </p:spPr>
        <p:txBody>
          <a:bodyPr/>
          <a:lstStyle/>
          <a:p>
            <a:endParaRPr lang="fr-FR"/>
          </a:p>
        </p:txBody>
      </p:sp>
      <p:sp>
        <p:nvSpPr>
          <p:cNvPr id="25" name="Shape 22"/>
          <p:cNvSpPr/>
          <p:nvPr/>
        </p:nvSpPr>
        <p:spPr>
          <a:xfrm>
            <a:off x="10012680" y="1856232"/>
            <a:ext cx="0" cy="292608"/>
          </a:xfrm>
          <a:prstGeom prst="line">
            <a:avLst/>
          </a:prstGeom>
          <a:noFill/>
          <a:ln w="19050">
            <a:solidFill>
              <a:srgbClr val="21295C"/>
            </a:solidFill>
            <a:prstDash val="dash"/>
          </a:ln>
        </p:spPr>
        <p:txBody>
          <a:bodyPr/>
          <a:lstStyle/>
          <a:p>
            <a:endParaRPr lang="fr-FR"/>
          </a:p>
        </p:txBody>
      </p:sp>
      <p:sp>
        <p:nvSpPr>
          <p:cNvPr id="26" name="Text 23"/>
          <p:cNvSpPr/>
          <p:nvPr/>
        </p:nvSpPr>
        <p:spPr>
          <a:xfrm>
            <a:off x="5212080" y="1554480"/>
            <a:ext cx="6126480" cy="274320"/>
          </a:xfrm>
          <a:prstGeom prst="rect">
            <a:avLst/>
          </a:prstGeom>
          <a:noFill/>
          <a:ln/>
        </p:spPr>
        <p:txBody>
          <a:bodyPr wrap="square" lIns="0" tIns="0" rIns="0" bIns="0" rtlCol="0" anchor="ctr"/>
          <a:lstStyle/>
          <a:p>
            <a:pPr marL="0" indent="0" algn="ctr">
              <a:buNone/>
            </a:pPr>
            <a:r>
              <a:rPr lang="en-US" sz="1100" i="1" dirty="0">
                <a:solidFill>
                  <a:srgbClr val="5B7184"/>
                </a:solidFill>
                <a:latin typeface="Calibri" pitchFamily="34" charset="0"/>
                <a:ea typeface="Calibri" pitchFamily="34" charset="-122"/>
                <a:cs typeface="Calibri" pitchFamily="34" charset="-120"/>
              </a:rPr>
              <a:t>reliées via ID_patient</a:t>
            </a:r>
            <a:endParaRPr lang="en-US" sz="1100" dirty="0"/>
          </a:p>
        </p:txBody>
      </p:sp>
      <p:sp>
        <p:nvSpPr>
          <p:cNvPr id="27" name="Shape 24"/>
          <p:cNvSpPr/>
          <p:nvPr/>
        </p:nvSpPr>
        <p:spPr>
          <a:xfrm>
            <a:off x="5212080" y="4206240"/>
            <a:ext cx="6126480" cy="1828800"/>
          </a:xfrm>
          <a:prstGeom prst="roundRect">
            <a:avLst>
              <a:gd name="adj" fmla="val 6000"/>
            </a:avLst>
          </a:prstGeom>
          <a:solidFill>
            <a:srgbClr val="EAF4F7"/>
          </a:solidFill>
          <a:ln w="12700">
            <a:solidFill>
              <a:srgbClr val="333333"/>
            </a:solidFill>
            <a:prstDash val="solid"/>
          </a:ln>
        </p:spPr>
        <p:txBody>
          <a:bodyPr/>
          <a:lstStyle/>
          <a:p>
            <a:endParaRPr lang="fr-FR"/>
          </a:p>
        </p:txBody>
      </p:sp>
      <p:sp>
        <p:nvSpPr>
          <p:cNvPr id="28" name="Text 25"/>
          <p:cNvSpPr/>
          <p:nvPr/>
        </p:nvSpPr>
        <p:spPr>
          <a:xfrm>
            <a:off x="5486400" y="4389120"/>
            <a:ext cx="5577840" cy="1463040"/>
          </a:xfrm>
          <a:prstGeom prst="rect">
            <a:avLst/>
          </a:prstGeom>
          <a:noFill/>
          <a:ln/>
        </p:spPr>
        <p:txBody>
          <a:bodyPr wrap="square" lIns="0" tIns="0" rIns="0" bIns="0" rtlCol="0" anchor="ctr"/>
          <a:lstStyle/>
          <a:p>
            <a:pPr marL="0" indent="0">
              <a:lnSpc>
                <a:spcPct val="120000"/>
              </a:lnSpc>
              <a:buNone/>
            </a:pPr>
            <a:r>
              <a:rPr lang="en-US" sz="1300" b="1" dirty="0">
                <a:solidFill>
                  <a:srgbClr val="21295C"/>
                </a:solidFill>
                <a:latin typeface="Calibri" pitchFamily="34" charset="0"/>
                <a:ea typeface="Calibri" pitchFamily="34" charset="-122"/>
                <a:cs typeface="Calibri" pitchFamily="34" charset="-120"/>
              </a:rPr>
              <a:t>Pourquoi des tables liées plutôt qu'une seule grande table ?
</a:t>
            </a:r>
            <a:endParaRPr lang="en-US" sz="1300" dirty="0"/>
          </a:p>
          <a:p>
            <a:pPr marL="0" indent="0">
              <a:lnSpc>
                <a:spcPct val="120000"/>
              </a:lnSpc>
              <a:buNone/>
            </a:pPr>
            <a:r>
              <a:rPr lang="en-US" sz="1300" dirty="0">
                <a:solidFill>
                  <a:srgbClr val="1E2A38"/>
                </a:solidFill>
                <a:latin typeface="Calibri" pitchFamily="34" charset="0"/>
                <a:ea typeface="Calibri" pitchFamily="34" charset="-122"/>
                <a:cs typeface="Calibri" pitchFamily="34" charset="-120"/>
              </a:rPr>
              <a:t>Chaque consultation est associée à un patient grâce à sa clé étrangère, sans dupliquer les informations personnelles du patient à chaque consultation. C'est le principe central des modèles relationnels : </a:t>
            </a:r>
            <a:r>
              <a:rPr lang="en-US" sz="1300" b="1" dirty="0">
                <a:solidFill>
                  <a:srgbClr val="1E2A38"/>
                </a:solidFill>
                <a:latin typeface="Calibri" pitchFamily="34" charset="0"/>
                <a:ea typeface="Calibri" pitchFamily="34" charset="-122"/>
                <a:cs typeface="Calibri" pitchFamily="34" charset="-120"/>
              </a:rPr>
              <a:t>des données reliées entre elles plutôt que répétées.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457200"/>
            <a:ext cx="1371600" cy="548640"/>
          </a:xfrm>
          <a:prstGeom prst="rect">
            <a:avLst/>
          </a:prstGeom>
          <a:noFill/>
          <a:ln/>
        </p:spPr>
        <p:txBody>
          <a:bodyPr wrap="square" lIns="0" tIns="0" rIns="0" bIns="0" rtlCol="0" anchor="ctr"/>
          <a:lstStyle/>
          <a:p>
            <a:pPr marL="0" indent="0">
              <a:buNone/>
            </a:pPr>
            <a:r>
              <a:rPr lang="en-US" sz="2000" b="1" dirty="0">
                <a:solidFill>
                  <a:srgbClr val="1C7293"/>
                </a:solidFill>
                <a:latin typeface="Cambria" pitchFamily="34" charset="0"/>
                <a:ea typeface="Cambria" pitchFamily="34" charset="-122"/>
                <a:cs typeface="Cambria" pitchFamily="34" charset="-120"/>
              </a:rPr>
              <a:t>03</a:t>
            </a:r>
            <a:endParaRPr lang="en-US" sz="2000" dirty="0"/>
          </a:p>
        </p:txBody>
      </p:sp>
      <p:sp>
        <p:nvSpPr>
          <p:cNvPr id="3" name="Text 1"/>
          <p:cNvSpPr/>
          <p:nvPr/>
        </p:nvSpPr>
        <p:spPr>
          <a:xfrm>
            <a:off x="731520" y="868680"/>
            <a:ext cx="10515600" cy="64008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Pourquoi les bases de données sont-elles importantes ?</a:t>
            </a:r>
            <a:endParaRPr lang="en-US" sz="2800" dirty="0"/>
          </a:p>
        </p:txBody>
      </p:sp>
      <p:sp>
        <p:nvSpPr>
          <p:cNvPr id="5" name="Shape 3"/>
          <p:cNvSpPr/>
          <p:nvPr/>
        </p:nvSpPr>
        <p:spPr>
          <a:xfrm>
            <a:off x="1024307" y="1811316"/>
            <a:ext cx="4343400" cy="1892004"/>
          </a:xfrm>
          <a:prstGeom prst="roundRect">
            <a:avLst>
              <a:gd name="adj" fmla="val 5854"/>
            </a:avLst>
          </a:prstGeom>
          <a:solidFill>
            <a:srgbClr val="EAF4F7"/>
          </a:solidFill>
          <a:ln w="12700">
            <a:solidFill>
              <a:srgbClr val="333333"/>
            </a:solidFill>
            <a:prstDash val="solid"/>
          </a:ln>
          <a:effectLst>
            <a:outerShdw blurRad="101600" dist="38100" dir="2700000" algn="bl" rotWithShape="0">
              <a:srgbClr val="000000">
                <a:alpha val="15000"/>
              </a:srgbClr>
            </a:outerShdw>
          </a:effectLst>
        </p:spPr>
        <p:txBody>
          <a:bodyPr/>
          <a:lstStyle/>
          <a:p>
            <a:endParaRPr lang="fr-FR"/>
          </a:p>
        </p:txBody>
      </p:sp>
      <p:sp>
        <p:nvSpPr>
          <p:cNvPr id="6" name="Shape 4"/>
          <p:cNvSpPr/>
          <p:nvPr/>
        </p:nvSpPr>
        <p:spPr>
          <a:xfrm>
            <a:off x="1298627" y="2067348"/>
            <a:ext cx="566928" cy="566928"/>
          </a:xfrm>
          <a:prstGeom prst="ellipse">
            <a:avLst/>
          </a:prstGeom>
          <a:solidFill>
            <a:srgbClr val="065A82"/>
          </a:solidFill>
          <a:ln w="12700">
            <a:solidFill>
              <a:srgbClr val="333333"/>
            </a:solidFill>
            <a:prstDash val="solid"/>
          </a:ln>
        </p:spPr>
        <p:txBody>
          <a:bodyPr/>
          <a:lstStyle/>
          <a:p>
            <a:endParaRPr lang="fr-FR"/>
          </a:p>
        </p:txBody>
      </p:sp>
      <p:pic>
        <p:nvPicPr>
          <p:cNvPr id="7" name="Image 0" descr="icon_folder_white.png"/>
          <p:cNvPicPr>
            <a:picLocks noChangeAspect="1"/>
          </p:cNvPicPr>
          <p:nvPr/>
        </p:nvPicPr>
        <p:blipFill>
          <a:blip r:embed="rId3"/>
          <a:stretch>
            <a:fillRect/>
          </a:stretch>
        </p:blipFill>
        <p:spPr>
          <a:xfrm>
            <a:off x="1435787" y="2204508"/>
            <a:ext cx="292608" cy="292608"/>
          </a:xfrm>
          <a:prstGeom prst="rect">
            <a:avLst/>
          </a:prstGeom>
        </p:spPr>
      </p:pic>
      <p:sp>
        <p:nvSpPr>
          <p:cNvPr id="8" name="Text 5"/>
          <p:cNvSpPr/>
          <p:nvPr/>
        </p:nvSpPr>
        <p:spPr>
          <a:xfrm>
            <a:off x="1984427" y="2012484"/>
            <a:ext cx="2221992" cy="640080"/>
          </a:xfrm>
          <a:prstGeom prst="rect">
            <a:avLst/>
          </a:prstGeom>
          <a:noFill/>
          <a:ln/>
        </p:spPr>
        <p:txBody>
          <a:bodyPr wrap="square" lIns="0" tIns="0" rIns="0" bIns="0" rtlCol="0" anchor="ctr"/>
          <a:lstStyle/>
          <a:p>
            <a:pPr marL="0" indent="0">
              <a:lnSpc>
                <a:spcPct val="105000"/>
              </a:lnSpc>
              <a:buNone/>
            </a:pPr>
            <a:r>
              <a:rPr lang="en-US" sz="1600" b="1" dirty="0">
                <a:solidFill>
                  <a:srgbClr val="21295C"/>
                </a:solidFill>
                <a:latin typeface="Calibri" pitchFamily="34" charset="0"/>
                <a:ea typeface="Calibri" pitchFamily="34" charset="-122"/>
                <a:cs typeface="Calibri" pitchFamily="34" charset="-120"/>
              </a:rPr>
              <a:t>Organisation des données</a:t>
            </a:r>
            <a:endParaRPr lang="en-US" sz="1600" dirty="0"/>
          </a:p>
        </p:txBody>
      </p:sp>
      <p:sp>
        <p:nvSpPr>
          <p:cNvPr id="9" name="Text 6"/>
          <p:cNvSpPr/>
          <p:nvPr/>
        </p:nvSpPr>
        <p:spPr>
          <a:xfrm>
            <a:off x="1984427" y="2643599"/>
            <a:ext cx="3179244" cy="868680"/>
          </a:xfrm>
          <a:prstGeom prst="rect">
            <a:avLst/>
          </a:prstGeom>
          <a:noFill/>
          <a:ln/>
        </p:spPr>
        <p:txBody>
          <a:bodyPr wrap="square" lIns="0" tIns="0" rIns="0" bIns="0" rtlCol="0" anchor="ctr"/>
          <a:lstStyle/>
          <a:p>
            <a:pPr marL="0" indent="0">
              <a:lnSpc>
                <a:spcPct val="112000"/>
              </a:lnSpc>
              <a:buNone/>
            </a:pPr>
            <a:r>
              <a:rPr lang="en-US" sz="1400" dirty="0">
                <a:solidFill>
                  <a:srgbClr val="1E2A38"/>
                </a:solidFill>
                <a:latin typeface="Calibri" pitchFamily="34" charset="0"/>
                <a:ea typeface="Calibri" pitchFamily="34" charset="-122"/>
                <a:cs typeface="Calibri" pitchFamily="34" charset="-120"/>
              </a:rPr>
              <a:t>Les informations sont structurées de façon cohérente (tables, champs, relations), ce qui évite les doublons et facilite la recherche, le tri et la mise à jour.</a:t>
            </a:r>
            <a:endParaRPr lang="en-US" sz="1400" dirty="0"/>
          </a:p>
        </p:txBody>
      </p:sp>
      <p:sp>
        <p:nvSpPr>
          <p:cNvPr id="10" name="Shape 7"/>
          <p:cNvSpPr/>
          <p:nvPr/>
        </p:nvSpPr>
        <p:spPr>
          <a:xfrm>
            <a:off x="6411557" y="1811316"/>
            <a:ext cx="4216102" cy="1874520"/>
          </a:xfrm>
          <a:prstGeom prst="roundRect">
            <a:avLst>
              <a:gd name="adj" fmla="val 5854"/>
            </a:avLst>
          </a:prstGeom>
          <a:solidFill>
            <a:srgbClr val="065A82"/>
          </a:solidFill>
          <a:ln w="12700">
            <a:solidFill>
              <a:srgbClr val="333333"/>
            </a:solidFill>
            <a:prstDash val="solid"/>
          </a:ln>
          <a:effectLst>
            <a:outerShdw blurRad="101600" dist="38100" dir="2700000" algn="bl" rotWithShape="0">
              <a:srgbClr val="000000">
                <a:alpha val="15000"/>
              </a:srgbClr>
            </a:outerShdw>
          </a:effectLst>
        </p:spPr>
        <p:txBody>
          <a:bodyPr/>
          <a:lstStyle/>
          <a:p>
            <a:endParaRPr lang="fr-FR"/>
          </a:p>
        </p:txBody>
      </p:sp>
      <p:sp>
        <p:nvSpPr>
          <p:cNvPr id="11" name="Shape 8"/>
          <p:cNvSpPr/>
          <p:nvPr/>
        </p:nvSpPr>
        <p:spPr>
          <a:xfrm>
            <a:off x="6608153" y="1986223"/>
            <a:ext cx="566928" cy="566928"/>
          </a:xfrm>
          <a:prstGeom prst="ellipse">
            <a:avLst/>
          </a:prstGeom>
          <a:solidFill>
            <a:srgbClr val="1C7293"/>
          </a:solidFill>
          <a:ln w="12700">
            <a:solidFill>
              <a:srgbClr val="333333"/>
            </a:solidFill>
            <a:prstDash val="solid"/>
          </a:ln>
        </p:spPr>
        <p:txBody>
          <a:bodyPr/>
          <a:lstStyle/>
          <a:p>
            <a:endParaRPr lang="fr-FR"/>
          </a:p>
        </p:txBody>
      </p:sp>
      <p:pic>
        <p:nvPicPr>
          <p:cNvPr id="12" name="Image 1" descr="icon_bolt_white.png"/>
          <p:cNvPicPr>
            <a:picLocks noChangeAspect="1"/>
          </p:cNvPicPr>
          <p:nvPr/>
        </p:nvPicPr>
        <p:blipFill>
          <a:blip r:embed="rId4"/>
          <a:stretch>
            <a:fillRect/>
          </a:stretch>
        </p:blipFill>
        <p:spPr>
          <a:xfrm>
            <a:off x="6745313" y="2123383"/>
            <a:ext cx="292608" cy="292608"/>
          </a:xfrm>
          <a:prstGeom prst="rect">
            <a:avLst/>
          </a:prstGeom>
        </p:spPr>
      </p:pic>
      <p:sp>
        <p:nvSpPr>
          <p:cNvPr id="13" name="Text 9"/>
          <p:cNvSpPr/>
          <p:nvPr/>
        </p:nvSpPr>
        <p:spPr>
          <a:xfrm>
            <a:off x="7363251" y="1942562"/>
            <a:ext cx="2221992" cy="640080"/>
          </a:xfrm>
          <a:prstGeom prst="rect">
            <a:avLst/>
          </a:prstGeom>
          <a:noFill/>
          <a:ln/>
        </p:spPr>
        <p:txBody>
          <a:bodyPr wrap="square" lIns="0" tIns="0" rIns="0" bIns="0" rtlCol="0" anchor="ctr"/>
          <a:lstStyle/>
          <a:p>
            <a:pPr marL="0" indent="0">
              <a:lnSpc>
                <a:spcPct val="105000"/>
              </a:lnSpc>
              <a:buNone/>
            </a:pPr>
            <a:r>
              <a:rPr lang="en-US" b="1" dirty="0">
                <a:solidFill>
                  <a:srgbClr val="FFFFFF"/>
                </a:solidFill>
                <a:latin typeface="Calibri" pitchFamily="34" charset="0"/>
                <a:ea typeface="Calibri" pitchFamily="34" charset="-122"/>
                <a:cs typeface="Calibri" pitchFamily="34" charset="-120"/>
              </a:rPr>
              <a:t>Efficacité</a:t>
            </a:r>
            <a:endParaRPr lang="en-US" dirty="0"/>
          </a:p>
        </p:txBody>
      </p:sp>
      <p:sp>
        <p:nvSpPr>
          <p:cNvPr id="14" name="Text 10"/>
          <p:cNvSpPr/>
          <p:nvPr/>
        </p:nvSpPr>
        <p:spPr>
          <a:xfrm>
            <a:off x="7204574" y="2500796"/>
            <a:ext cx="3295785" cy="1043845"/>
          </a:xfrm>
          <a:prstGeom prst="rect">
            <a:avLst/>
          </a:prstGeom>
          <a:noFill/>
          <a:ln/>
        </p:spPr>
        <p:txBody>
          <a:bodyPr wrap="square" lIns="0" tIns="0" rIns="0" bIns="0" rtlCol="0" anchor="ctr"/>
          <a:lstStyle/>
          <a:p>
            <a:pPr marL="0" indent="0">
              <a:lnSpc>
                <a:spcPct val="112000"/>
              </a:lnSpc>
              <a:buNone/>
            </a:pPr>
            <a:r>
              <a:rPr lang="en-US" sz="1400" dirty="0">
                <a:solidFill>
                  <a:srgbClr val="E4EEF2"/>
                </a:solidFill>
                <a:latin typeface="Calibri" pitchFamily="34" charset="0"/>
                <a:ea typeface="Calibri" pitchFamily="34" charset="-122"/>
                <a:cs typeface="Calibri" pitchFamily="34" charset="-120"/>
              </a:rPr>
              <a:t>L'accès aux données est rapide, même sur de très grands volumes, avec plusieurs utilisateurs simultanés sans perte de performance.</a:t>
            </a:r>
            <a:endParaRPr lang="en-US" sz="1400" dirty="0"/>
          </a:p>
        </p:txBody>
      </p:sp>
      <p:sp>
        <p:nvSpPr>
          <p:cNvPr id="15" name="Shape 11"/>
          <p:cNvSpPr/>
          <p:nvPr/>
        </p:nvSpPr>
        <p:spPr>
          <a:xfrm>
            <a:off x="6411557" y="3988391"/>
            <a:ext cx="4216102" cy="2000929"/>
          </a:xfrm>
          <a:prstGeom prst="roundRect">
            <a:avLst>
              <a:gd name="adj" fmla="val 5854"/>
            </a:avLst>
          </a:prstGeom>
          <a:solidFill>
            <a:srgbClr val="EAF4F7"/>
          </a:solidFill>
          <a:ln w="12700">
            <a:solidFill>
              <a:srgbClr val="333333"/>
            </a:solidFill>
            <a:prstDash val="solid"/>
          </a:ln>
          <a:effectLst>
            <a:outerShdw blurRad="101600" dist="38100" dir="2700000" algn="bl" rotWithShape="0">
              <a:srgbClr val="000000">
                <a:alpha val="15000"/>
              </a:srgbClr>
            </a:outerShdw>
          </a:effectLst>
        </p:spPr>
        <p:txBody>
          <a:bodyPr/>
          <a:lstStyle/>
          <a:p>
            <a:endParaRPr lang="fr-FR"/>
          </a:p>
        </p:txBody>
      </p:sp>
      <p:sp>
        <p:nvSpPr>
          <p:cNvPr id="16" name="Shape 12"/>
          <p:cNvSpPr/>
          <p:nvPr/>
        </p:nvSpPr>
        <p:spPr>
          <a:xfrm>
            <a:off x="6679781" y="4165092"/>
            <a:ext cx="566928" cy="566928"/>
          </a:xfrm>
          <a:prstGeom prst="ellipse">
            <a:avLst/>
          </a:prstGeom>
          <a:solidFill>
            <a:srgbClr val="065A82"/>
          </a:solidFill>
          <a:ln w="12700">
            <a:solidFill>
              <a:srgbClr val="333333"/>
            </a:solidFill>
            <a:prstDash val="solid"/>
          </a:ln>
        </p:spPr>
        <p:txBody>
          <a:bodyPr/>
          <a:lstStyle/>
          <a:p>
            <a:endParaRPr lang="fr-FR"/>
          </a:p>
        </p:txBody>
      </p:sp>
      <p:pic>
        <p:nvPicPr>
          <p:cNvPr id="17" name="Image 2" descr="icon_shield_white.png"/>
          <p:cNvPicPr>
            <a:picLocks noChangeAspect="1"/>
          </p:cNvPicPr>
          <p:nvPr/>
        </p:nvPicPr>
        <p:blipFill>
          <a:blip r:embed="rId5"/>
          <a:stretch>
            <a:fillRect/>
          </a:stretch>
        </p:blipFill>
        <p:spPr>
          <a:xfrm>
            <a:off x="6816941" y="4302252"/>
            <a:ext cx="292608" cy="292608"/>
          </a:xfrm>
          <a:prstGeom prst="rect">
            <a:avLst/>
          </a:prstGeom>
        </p:spPr>
      </p:pic>
      <p:sp>
        <p:nvSpPr>
          <p:cNvPr id="18" name="Text 13"/>
          <p:cNvSpPr/>
          <p:nvPr/>
        </p:nvSpPr>
        <p:spPr>
          <a:xfrm>
            <a:off x="7365581" y="4110228"/>
            <a:ext cx="2221992" cy="640080"/>
          </a:xfrm>
          <a:prstGeom prst="rect">
            <a:avLst/>
          </a:prstGeom>
          <a:noFill/>
          <a:ln/>
        </p:spPr>
        <p:txBody>
          <a:bodyPr wrap="square" lIns="0" tIns="0" rIns="0" bIns="0" rtlCol="0" anchor="ctr"/>
          <a:lstStyle/>
          <a:p>
            <a:pPr marL="0" indent="0">
              <a:lnSpc>
                <a:spcPct val="105000"/>
              </a:lnSpc>
              <a:buNone/>
            </a:pPr>
            <a:r>
              <a:rPr lang="en-US" b="1" dirty="0">
                <a:solidFill>
                  <a:srgbClr val="21295C"/>
                </a:solidFill>
                <a:latin typeface="Calibri" pitchFamily="34" charset="0"/>
                <a:ea typeface="Calibri" pitchFamily="34" charset="-122"/>
                <a:cs typeface="Calibri" pitchFamily="34" charset="-120"/>
              </a:rPr>
              <a:t>Sécurité</a:t>
            </a:r>
            <a:endParaRPr lang="en-US" dirty="0"/>
          </a:p>
        </p:txBody>
      </p:sp>
      <p:sp>
        <p:nvSpPr>
          <p:cNvPr id="19" name="Text 14"/>
          <p:cNvSpPr/>
          <p:nvPr/>
        </p:nvSpPr>
        <p:spPr>
          <a:xfrm>
            <a:off x="7109549" y="4732020"/>
            <a:ext cx="3298475" cy="1037214"/>
          </a:xfrm>
          <a:prstGeom prst="rect">
            <a:avLst/>
          </a:prstGeom>
          <a:noFill/>
          <a:ln/>
        </p:spPr>
        <p:txBody>
          <a:bodyPr wrap="square" lIns="0" tIns="0" rIns="0" bIns="0" rtlCol="0" anchor="ctr"/>
          <a:lstStyle/>
          <a:p>
            <a:pPr marL="0" indent="0">
              <a:lnSpc>
                <a:spcPct val="112000"/>
              </a:lnSpc>
              <a:buNone/>
            </a:pPr>
            <a:r>
              <a:rPr lang="en-US" sz="1400" dirty="0">
                <a:solidFill>
                  <a:srgbClr val="1E2A38"/>
                </a:solidFill>
                <a:latin typeface="Calibri" pitchFamily="34" charset="0"/>
                <a:ea typeface="Calibri" pitchFamily="34" charset="-122"/>
                <a:cs typeface="Calibri" pitchFamily="34" charset="-120"/>
              </a:rPr>
              <a:t>Des mécanismes de contrôle d'accès, de sauvegarde et de journalisation protègent les données contre la perte ou les accès non autorisés.</a:t>
            </a:r>
            <a:endParaRPr lang="en-US" sz="1400" dirty="0"/>
          </a:p>
        </p:txBody>
      </p:sp>
      <p:sp>
        <p:nvSpPr>
          <p:cNvPr id="20" name="Shape 15"/>
          <p:cNvSpPr/>
          <p:nvPr/>
        </p:nvSpPr>
        <p:spPr>
          <a:xfrm>
            <a:off x="1005840" y="3977640"/>
            <a:ext cx="4343400" cy="2011680"/>
          </a:xfrm>
          <a:prstGeom prst="roundRect">
            <a:avLst>
              <a:gd name="adj" fmla="val 5854"/>
            </a:avLst>
          </a:prstGeom>
          <a:solidFill>
            <a:srgbClr val="065A82"/>
          </a:solidFill>
          <a:ln w="12700">
            <a:solidFill>
              <a:srgbClr val="333333"/>
            </a:solidFill>
            <a:prstDash val="solid"/>
          </a:ln>
          <a:effectLst>
            <a:outerShdw blurRad="101600" dist="38100" dir="2700000" algn="bl" rotWithShape="0">
              <a:srgbClr val="000000">
                <a:alpha val="15000"/>
              </a:srgbClr>
            </a:outerShdw>
          </a:effectLst>
        </p:spPr>
        <p:txBody>
          <a:bodyPr/>
          <a:lstStyle/>
          <a:p>
            <a:endParaRPr lang="fr-FR"/>
          </a:p>
        </p:txBody>
      </p:sp>
      <p:sp>
        <p:nvSpPr>
          <p:cNvPr id="21" name="Shape 16"/>
          <p:cNvSpPr/>
          <p:nvPr/>
        </p:nvSpPr>
        <p:spPr>
          <a:xfrm>
            <a:off x="1280160" y="4233672"/>
            <a:ext cx="566928" cy="566928"/>
          </a:xfrm>
          <a:prstGeom prst="ellipse">
            <a:avLst/>
          </a:prstGeom>
          <a:solidFill>
            <a:srgbClr val="1C7293"/>
          </a:solidFill>
          <a:ln w="12700">
            <a:solidFill>
              <a:srgbClr val="333333"/>
            </a:solidFill>
            <a:prstDash val="solid"/>
          </a:ln>
        </p:spPr>
        <p:txBody>
          <a:bodyPr/>
          <a:lstStyle/>
          <a:p>
            <a:endParaRPr lang="fr-FR"/>
          </a:p>
        </p:txBody>
      </p:sp>
      <p:pic>
        <p:nvPicPr>
          <p:cNvPr id="22" name="Image 3" descr="icon_integrity_white.png"/>
          <p:cNvPicPr>
            <a:picLocks noChangeAspect="1"/>
          </p:cNvPicPr>
          <p:nvPr/>
        </p:nvPicPr>
        <p:blipFill>
          <a:blip r:embed="rId6"/>
          <a:stretch>
            <a:fillRect/>
          </a:stretch>
        </p:blipFill>
        <p:spPr>
          <a:xfrm>
            <a:off x="1417320" y="4370832"/>
            <a:ext cx="292608" cy="292608"/>
          </a:xfrm>
          <a:prstGeom prst="rect">
            <a:avLst/>
          </a:prstGeom>
        </p:spPr>
      </p:pic>
      <p:sp>
        <p:nvSpPr>
          <p:cNvPr id="23" name="Text 17"/>
          <p:cNvSpPr/>
          <p:nvPr/>
        </p:nvSpPr>
        <p:spPr>
          <a:xfrm>
            <a:off x="1965960" y="4178808"/>
            <a:ext cx="2221992" cy="640080"/>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Calibri" pitchFamily="34" charset="0"/>
                <a:ea typeface="Calibri" pitchFamily="34" charset="-122"/>
                <a:cs typeface="Calibri" pitchFamily="34" charset="-120"/>
              </a:rPr>
              <a:t>Intégrité des données</a:t>
            </a:r>
            <a:endParaRPr lang="en-US" sz="1450" dirty="0"/>
          </a:p>
        </p:txBody>
      </p:sp>
      <p:sp>
        <p:nvSpPr>
          <p:cNvPr id="24" name="Text 18"/>
          <p:cNvSpPr/>
          <p:nvPr/>
        </p:nvSpPr>
        <p:spPr>
          <a:xfrm>
            <a:off x="1903565" y="4772720"/>
            <a:ext cx="3260106" cy="1125160"/>
          </a:xfrm>
          <a:prstGeom prst="rect">
            <a:avLst/>
          </a:prstGeom>
          <a:noFill/>
          <a:ln/>
        </p:spPr>
        <p:txBody>
          <a:bodyPr wrap="square" lIns="0" tIns="0" rIns="0" bIns="0" rtlCol="0" anchor="ctr"/>
          <a:lstStyle/>
          <a:p>
            <a:pPr marL="0" indent="0">
              <a:lnSpc>
                <a:spcPct val="112000"/>
              </a:lnSpc>
              <a:buNone/>
            </a:pPr>
            <a:r>
              <a:rPr lang="en-US" sz="1400" dirty="0">
                <a:solidFill>
                  <a:srgbClr val="E4EEF2"/>
                </a:solidFill>
                <a:latin typeface="Calibri" pitchFamily="34" charset="0"/>
                <a:ea typeface="Calibri" pitchFamily="34" charset="-122"/>
                <a:cs typeface="Calibri" pitchFamily="34" charset="-120"/>
              </a:rPr>
              <a:t>Des règles (contraintes, clés, validations) garantissent que les données restent exactes, cohérentes et fiables dans le temps, sans contradiction entre les tables.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731520" y="640080"/>
            <a:ext cx="5486400" cy="411480"/>
          </a:xfrm>
          <a:prstGeom prst="rect">
            <a:avLst/>
          </a:prstGeom>
          <a:noFill/>
          <a:ln/>
        </p:spPr>
        <p:txBody>
          <a:bodyPr wrap="square" lIns="0" tIns="0" rIns="0" bIns="0" rtlCol="0" anchor="ctr"/>
          <a:lstStyle/>
          <a:p>
            <a:pPr marL="0" indent="0">
              <a:buNone/>
            </a:pPr>
            <a:r>
              <a:rPr lang="en-US" sz="1400" b="1" kern="0" spc="300" dirty="0">
                <a:solidFill>
                  <a:srgbClr val="9FC6D8"/>
                </a:solidFill>
                <a:latin typeface="Calibri" pitchFamily="34" charset="0"/>
                <a:ea typeface="Calibri" pitchFamily="34" charset="-122"/>
                <a:cs typeface="Calibri" pitchFamily="34" charset="-120"/>
              </a:rPr>
              <a:t>EN CONCLUSION</a:t>
            </a:r>
            <a:endParaRPr lang="en-US" sz="1400" dirty="0"/>
          </a:p>
        </p:txBody>
      </p:sp>
      <p:sp>
        <p:nvSpPr>
          <p:cNvPr id="3" name="Text 1"/>
          <p:cNvSpPr/>
          <p:nvPr/>
        </p:nvSpPr>
        <p:spPr>
          <a:xfrm>
            <a:off x="731520" y="1097280"/>
            <a:ext cx="9601200" cy="1280160"/>
          </a:xfrm>
          <a:prstGeom prst="rect">
            <a:avLst/>
          </a:prstGeom>
          <a:noFill/>
          <a:ln/>
        </p:spPr>
        <p:txBody>
          <a:bodyPr wrap="square" lIns="0" tIns="0" rIns="0" bIns="0" rtlCol="0" anchor="ctr"/>
          <a:lstStyle/>
          <a:p>
            <a:pPr marL="0" indent="0">
              <a:lnSpc>
                <a:spcPct val="110000"/>
              </a:lnSpc>
              <a:buNone/>
            </a:pPr>
            <a:r>
              <a:rPr lang="fr-FR" sz="2800" b="1" dirty="0">
                <a:solidFill>
                  <a:srgbClr val="FFFFFF"/>
                </a:solidFill>
                <a:latin typeface="Cambria" pitchFamily="34" charset="0"/>
                <a:ea typeface="Cambria" pitchFamily="34" charset="-122"/>
                <a:cs typeface="Cambria" pitchFamily="34" charset="-120"/>
              </a:rPr>
              <a:t>Les bases de données sont essentielles à l'ère numérique.</a:t>
            </a:r>
            <a:endParaRPr lang="en-US" sz="2800" dirty="0"/>
          </a:p>
        </p:txBody>
      </p:sp>
      <p:sp>
        <p:nvSpPr>
          <p:cNvPr id="4" name="Shape 2"/>
          <p:cNvSpPr/>
          <p:nvPr/>
        </p:nvSpPr>
        <p:spPr>
          <a:xfrm>
            <a:off x="731520" y="2743200"/>
            <a:ext cx="548640" cy="548640"/>
          </a:xfrm>
          <a:prstGeom prst="ellipse">
            <a:avLst/>
          </a:prstGeom>
          <a:solidFill>
            <a:srgbClr val="1C7293"/>
          </a:solidFill>
          <a:ln w="12700">
            <a:solidFill>
              <a:srgbClr val="333333"/>
            </a:solidFill>
            <a:prstDash val="solid"/>
          </a:ln>
        </p:spPr>
        <p:txBody>
          <a:bodyPr/>
          <a:lstStyle/>
          <a:p>
            <a:endParaRPr lang="fr-FR"/>
          </a:p>
        </p:txBody>
      </p:sp>
      <p:pic>
        <p:nvPicPr>
          <p:cNvPr id="5" name="Image 0" descr="icon_database_white.png"/>
          <p:cNvPicPr>
            <a:picLocks noChangeAspect="1"/>
          </p:cNvPicPr>
          <p:nvPr/>
        </p:nvPicPr>
        <p:blipFill>
          <a:blip r:embed="rId3"/>
          <a:stretch>
            <a:fillRect/>
          </a:stretch>
        </p:blipFill>
        <p:spPr>
          <a:xfrm>
            <a:off x="868680" y="2880360"/>
            <a:ext cx="274320" cy="274320"/>
          </a:xfrm>
          <a:prstGeom prst="rect">
            <a:avLst/>
          </a:prstGeom>
        </p:spPr>
      </p:pic>
      <p:sp>
        <p:nvSpPr>
          <p:cNvPr id="6" name="Text 3"/>
          <p:cNvSpPr/>
          <p:nvPr/>
        </p:nvSpPr>
        <p:spPr>
          <a:xfrm>
            <a:off x="1508760" y="2670048"/>
            <a:ext cx="9875520" cy="777240"/>
          </a:xfrm>
          <a:prstGeom prst="rect">
            <a:avLst/>
          </a:prstGeom>
          <a:noFill/>
          <a:ln/>
        </p:spPr>
        <p:txBody>
          <a:bodyPr wrap="square" lIns="0" tIns="0" rIns="0" bIns="0" rtlCol="0" anchor="ctr"/>
          <a:lstStyle/>
          <a:p>
            <a:pPr marL="0" indent="0">
              <a:lnSpc>
                <a:spcPct val="115000"/>
              </a:lnSpc>
              <a:buNone/>
            </a:pPr>
            <a:r>
              <a:rPr lang="en-US" sz="1600" dirty="0">
                <a:solidFill>
                  <a:srgbClr val="DCE8EE"/>
                </a:solidFill>
                <a:latin typeface="Calibri" pitchFamily="34" charset="0"/>
                <a:ea typeface="Calibri" pitchFamily="34" charset="-122"/>
                <a:cs typeface="Calibri" pitchFamily="34" charset="-120"/>
              </a:rPr>
              <a:t>Les bases de données </a:t>
            </a:r>
            <a:r>
              <a:rPr lang="fr-CI" sz="1600" noProof="0" dirty="0">
                <a:solidFill>
                  <a:srgbClr val="DCE8EE"/>
                </a:solidFill>
                <a:latin typeface="Calibri" pitchFamily="34" charset="0"/>
                <a:ea typeface="Calibri" pitchFamily="34" charset="-122"/>
                <a:cs typeface="Calibri" pitchFamily="34" charset="-120"/>
              </a:rPr>
              <a:t>relationnelles</a:t>
            </a:r>
            <a:r>
              <a:rPr lang="en-US" sz="1600" dirty="0">
                <a:solidFill>
                  <a:srgbClr val="DCE8EE"/>
                </a:solidFill>
                <a:latin typeface="Calibri" pitchFamily="34" charset="0"/>
                <a:ea typeface="Calibri" pitchFamily="34" charset="-122"/>
                <a:cs typeface="Calibri" pitchFamily="34" charset="-120"/>
              </a:rPr>
              <a:t> sont devenus des piliers incontournables du monde numérique.</a:t>
            </a:r>
            <a:endParaRPr lang="en-US" sz="1600" dirty="0"/>
          </a:p>
        </p:txBody>
      </p:sp>
      <p:sp>
        <p:nvSpPr>
          <p:cNvPr id="7" name="Shape 4"/>
          <p:cNvSpPr/>
          <p:nvPr/>
        </p:nvSpPr>
        <p:spPr>
          <a:xfrm>
            <a:off x="731520" y="3703320"/>
            <a:ext cx="548640" cy="548640"/>
          </a:xfrm>
          <a:prstGeom prst="ellipse">
            <a:avLst/>
          </a:prstGeom>
          <a:solidFill>
            <a:srgbClr val="1C7293"/>
          </a:solidFill>
          <a:ln w="12700">
            <a:solidFill>
              <a:srgbClr val="333333"/>
            </a:solidFill>
            <a:prstDash val="solid"/>
          </a:ln>
        </p:spPr>
        <p:txBody>
          <a:bodyPr/>
          <a:lstStyle/>
          <a:p>
            <a:endParaRPr lang="fr-FR"/>
          </a:p>
        </p:txBody>
      </p:sp>
      <p:pic>
        <p:nvPicPr>
          <p:cNvPr id="8" name="Image 1" descr="icon_shield_white.png"/>
          <p:cNvPicPr>
            <a:picLocks noChangeAspect="1"/>
          </p:cNvPicPr>
          <p:nvPr/>
        </p:nvPicPr>
        <p:blipFill>
          <a:blip r:embed="rId4"/>
          <a:stretch>
            <a:fillRect/>
          </a:stretch>
        </p:blipFill>
        <p:spPr>
          <a:xfrm>
            <a:off x="868680" y="3840480"/>
            <a:ext cx="274320" cy="274320"/>
          </a:xfrm>
          <a:prstGeom prst="rect">
            <a:avLst/>
          </a:prstGeom>
        </p:spPr>
      </p:pic>
      <p:sp>
        <p:nvSpPr>
          <p:cNvPr id="9" name="Text 5"/>
          <p:cNvSpPr/>
          <p:nvPr/>
        </p:nvSpPr>
        <p:spPr>
          <a:xfrm>
            <a:off x="1508760" y="3630168"/>
            <a:ext cx="9875520" cy="777240"/>
          </a:xfrm>
          <a:prstGeom prst="rect">
            <a:avLst/>
          </a:prstGeom>
          <a:noFill/>
          <a:ln/>
        </p:spPr>
        <p:txBody>
          <a:bodyPr wrap="square" lIns="0" tIns="0" rIns="0" bIns="0" rtlCol="0" anchor="ctr"/>
          <a:lstStyle/>
          <a:p>
            <a:pPr marL="0" indent="0">
              <a:lnSpc>
                <a:spcPct val="115000"/>
              </a:lnSpc>
              <a:buNone/>
            </a:pPr>
            <a:r>
              <a:rPr lang="en-US" sz="1600" dirty="0">
                <a:solidFill>
                  <a:srgbClr val="DCE8EE"/>
                </a:solidFill>
                <a:latin typeface="Calibri" pitchFamily="34" charset="0"/>
                <a:ea typeface="Calibri" pitchFamily="34" charset="-122"/>
                <a:cs typeface="Calibri" pitchFamily="34" charset="-120"/>
              </a:rPr>
              <a:t>Ils permettent de gérer efficacement de grands volumes de données, en alliant organisation, performance et sécurité.</a:t>
            </a:r>
            <a:endParaRPr lang="en-US" sz="1600" dirty="0"/>
          </a:p>
        </p:txBody>
      </p:sp>
      <p:sp>
        <p:nvSpPr>
          <p:cNvPr id="10" name="Shape 6"/>
          <p:cNvSpPr/>
          <p:nvPr/>
        </p:nvSpPr>
        <p:spPr>
          <a:xfrm>
            <a:off x="731520" y="4663440"/>
            <a:ext cx="548640" cy="548640"/>
          </a:xfrm>
          <a:prstGeom prst="ellipse">
            <a:avLst/>
          </a:prstGeom>
          <a:solidFill>
            <a:srgbClr val="1C7293"/>
          </a:solidFill>
          <a:ln w="12700">
            <a:solidFill>
              <a:srgbClr val="333333"/>
            </a:solidFill>
            <a:prstDash val="solid"/>
          </a:ln>
        </p:spPr>
        <p:txBody>
          <a:bodyPr/>
          <a:lstStyle/>
          <a:p>
            <a:endParaRPr lang="fr-FR"/>
          </a:p>
        </p:txBody>
      </p:sp>
      <p:pic>
        <p:nvPicPr>
          <p:cNvPr id="11" name="Image 2" descr="icon_bolt_white.png"/>
          <p:cNvPicPr>
            <a:picLocks noChangeAspect="1"/>
          </p:cNvPicPr>
          <p:nvPr/>
        </p:nvPicPr>
        <p:blipFill>
          <a:blip r:embed="rId5"/>
          <a:stretch>
            <a:fillRect/>
          </a:stretch>
        </p:blipFill>
        <p:spPr>
          <a:xfrm>
            <a:off x="868680" y="4800600"/>
            <a:ext cx="274320" cy="274320"/>
          </a:xfrm>
          <a:prstGeom prst="rect">
            <a:avLst/>
          </a:prstGeom>
        </p:spPr>
      </p:pic>
      <p:sp>
        <p:nvSpPr>
          <p:cNvPr id="12" name="Text 7"/>
          <p:cNvSpPr/>
          <p:nvPr/>
        </p:nvSpPr>
        <p:spPr>
          <a:xfrm>
            <a:off x="1508760" y="4590288"/>
            <a:ext cx="9875520" cy="777240"/>
          </a:xfrm>
          <a:prstGeom prst="rect">
            <a:avLst/>
          </a:prstGeom>
          <a:noFill/>
          <a:ln/>
        </p:spPr>
        <p:txBody>
          <a:bodyPr wrap="square" lIns="0" tIns="0" rIns="0" bIns="0" rtlCol="0" anchor="ctr"/>
          <a:lstStyle/>
          <a:p>
            <a:pPr marL="0" indent="0">
              <a:lnSpc>
                <a:spcPct val="115000"/>
              </a:lnSpc>
              <a:buNone/>
            </a:pPr>
            <a:r>
              <a:rPr lang="en-US" sz="1600" dirty="0">
                <a:solidFill>
                  <a:srgbClr val="DCE8EE"/>
                </a:solidFill>
                <a:latin typeface="Calibri" pitchFamily="34" charset="0"/>
                <a:ea typeface="Calibri" pitchFamily="34" charset="-122"/>
                <a:cs typeface="Calibri" pitchFamily="34" charset="-120"/>
              </a:rPr>
              <a:t>Maîtriser ces notions, c'est se donner les moyens de construire des applications puissantes, dans tous les domaines.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487</Words>
  <Application>Microsoft Office PowerPoint</Application>
  <PresentationFormat>Grand écran</PresentationFormat>
  <Paragraphs>55</Paragraphs>
  <Slides>5</Slides>
  <Notes>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vt:i4>
      </vt:variant>
    </vt:vector>
  </HeadingPairs>
  <TitlesOfParts>
    <vt:vector size="9"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Concepts de Base de Données et Modèles Relationnels</dc:title>
  <dc:subject>PptxGenJS Presentation</dc:subject>
  <dc:creator>Présentation Bases de Données</dc:creator>
  <cp:lastModifiedBy>Essan Ano Julien</cp:lastModifiedBy>
  <cp:revision>2</cp:revision>
  <dcterms:created xsi:type="dcterms:W3CDTF">2026-06-22T22:19:57Z</dcterms:created>
  <dcterms:modified xsi:type="dcterms:W3CDTF">2026-06-22T22:37:37Z</dcterms:modified>
</cp:coreProperties>
</file>