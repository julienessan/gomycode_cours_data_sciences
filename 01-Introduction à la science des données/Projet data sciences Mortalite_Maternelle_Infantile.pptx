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7" r:id="rId11"/>
    <p:sldId id="268" r:id="rId12"/>
    <p:sldId id="269" r:id="rId13"/>
    <p:sldId id="270"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F8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p:scale>
          <a:sx n="64" d="100"/>
          <a:sy n="64" d="100"/>
        </p:scale>
        <p:origin x="1046" y="7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800" b="0" i="0" u="none" strike="noStrike">
                <a:solidFill>
                  <a:srgbClr val="000000"/>
                </a:solidFill>
                <a:latin typeface="Arial"/>
              </a:defRPr>
            </a:pPr>
            <a:r>
              <a:rPr lang="fr-CI" sz="1800" b="0" i="0" u="none" strike="noStrike" noProof="0" dirty="0">
                <a:solidFill>
                  <a:srgbClr val="000000"/>
                </a:solidFill>
                <a:latin typeface="Arial"/>
              </a:rPr>
              <a:t>Causes directes (%)</a:t>
            </a:r>
          </a:p>
        </c:rich>
      </c:tx>
      <c:overlay val="0"/>
    </c:title>
    <c:autoTitleDeleted val="0"/>
    <c:plotArea>
      <c:layout/>
      <c:pieChart>
        <c:varyColors val="1"/>
        <c:ser>
          <c:idx val="0"/>
          <c:order val="0"/>
          <c:tx>
            <c:strRef>
              <c:f>Sheet1!$B$1</c:f>
              <c:strCache>
                <c:ptCount val="1"/>
                <c:pt idx="0">
                  <c:v>Causes directes</c:v>
                </c:pt>
              </c:strCache>
            </c:strRef>
          </c:tx>
          <c:spPr>
            <a:solidFill>
              <a:schemeClr val="accent1"/>
            </a:solidFill>
            <a:ln w="9525" cap="flat">
              <a:solidFill>
                <a:srgbClr val="F9F9F9"/>
              </a:solidFill>
              <a:prstDash val="solid"/>
              <a:round/>
            </a:ln>
            <a:effectLst/>
          </c:spPr>
          <c:dPt>
            <c:idx val="0"/>
            <c:bubble3D val="0"/>
            <c:spPr>
              <a:solidFill>
                <a:srgbClr val="6D2E46"/>
              </a:solidFill>
              <a:effectLst/>
            </c:spPr>
            <c:extLst>
              <c:ext xmlns:c16="http://schemas.microsoft.com/office/drawing/2014/chart" uri="{C3380CC4-5D6E-409C-BE32-E72D297353CC}">
                <c16:uniqueId val="{00000001-3347-47D2-88BA-348F88B20E0D}"/>
              </c:ext>
            </c:extLst>
          </c:dPt>
          <c:dPt>
            <c:idx val="1"/>
            <c:bubble3D val="0"/>
            <c:spPr>
              <a:solidFill>
                <a:srgbClr val="028090"/>
              </a:solidFill>
              <a:effectLst/>
            </c:spPr>
            <c:extLst>
              <c:ext xmlns:c16="http://schemas.microsoft.com/office/drawing/2014/chart" uri="{C3380CC4-5D6E-409C-BE32-E72D297353CC}">
                <c16:uniqueId val="{00000003-3347-47D2-88BA-348F88B20E0D}"/>
              </c:ext>
            </c:extLst>
          </c:dPt>
          <c:dPt>
            <c:idx val="2"/>
            <c:bubble3D val="0"/>
            <c:spPr>
              <a:solidFill>
                <a:srgbClr val="F9A825"/>
              </a:solidFill>
              <a:effectLst/>
            </c:spPr>
            <c:extLst>
              <c:ext xmlns:c16="http://schemas.microsoft.com/office/drawing/2014/chart" uri="{C3380CC4-5D6E-409C-BE32-E72D297353CC}">
                <c16:uniqueId val="{00000005-3347-47D2-88BA-348F88B20E0D}"/>
              </c:ext>
            </c:extLst>
          </c:dPt>
          <c:dPt>
            <c:idx val="3"/>
            <c:bubble3D val="0"/>
            <c:spPr>
              <a:solidFill>
                <a:srgbClr val="A26769"/>
              </a:solidFill>
              <a:effectLst/>
            </c:spPr>
            <c:extLst>
              <c:ext xmlns:c16="http://schemas.microsoft.com/office/drawing/2014/chart" uri="{C3380CC4-5D6E-409C-BE32-E72D297353CC}">
                <c16:uniqueId val="{00000007-3347-47D2-88BA-348F88B20E0D}"/>
              </c:ext>
            </c:extLst>
          </c:dPt>
          <c:dLbls>
            <c:dLbl>
              <c:idx val="0"/>
              <c:numFmt formatCode="0%" sourceLinked="0"/>
              <c:spPr/>
              <c:txPr>
                <a:bodyPr/>
                <a:lstStyle/>
                <a:p>
                  <a:pPr>
                    <a:defRPr sz="1200" b="0" i="0" u="none" strike="noStrike">
                      <a:solidFill>
                        <a:srgbClr val="000000"/>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3347-47D2-88BA-348F88B20E0D}"/>
                </c:ext>
              </c:extLst>
            </c:dLbl>
            <c:dLbl>
              <c:idx val="1"/>
              <c:numFmt formatCode="0%" sourceLinked="0"/>
              <c:spPr/>
              <c:txPr>
                <a:bodyPr/>
                <a:lstStyle/>
                <a:p>
                  <a:pPr>
                    <a:defRPr sz="1200" b="0" i="0" u="none" strike="noStrike">
                      <a:solidFill>
                        <a:srgbClr val="000000"/>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3347-47D2-88BA-348F88B20E0D}"/>
                </c:ext>
              </c:extLst>
            </c:dLbl>
            <c:dLbl>
              <c:idx val="2"/>
              <c:numFmt formatCode="0%" sourceLinked="0"/>
              <c:spPr/>
              <c:txPr>
                <a:bodyPr/>
                <a:lstStyle/>
                <a:p>
                  <a:pPr>
                    <a:defRPr sz="1200" b="0" i="0" u="none" strike="noStrike">
                      <a:solidFill>
                        <a:srgbClr val="000000"/>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3347-47D2-88BA-348F88B20E0D}"/>
                </c:ext>
              </c:extLst>
            </c:dLbl>
            <c:dLbl>
              <c:idx val="3"/>
              <c:numFmt formatCode="0%" sourceLinked="0"/>
              <c:spPr/>
              <c:txPr>
                <a:bodyPr/>
                <a:lstStyle/>
                <a:p>
                  <a:pPr>
                    <a:defRPr sz="1200" b="0" i="0" u="none" strike="noStrike">
                      <a:solidFill>
                        <a:srgbClr val="000000"/>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3347-47D2-88BA-348F88B20E0D}"/>
                </c:ext>
              </c:extLst>
            </c:dLbl>
            <c:numFmt formatCode="0%" sourceLinked="0"/>
            <c:spPr>
              <a:noFill/>
              <a:ln>
                <a:noFill/>
              </a:ln>
              <a:effectLst/>
            </c:spPr>
            <c:txPr>
              <a:bodyPr/>
              <a:lstStyle/>
              <a:p>
                <a:pPr>
                  <a:defRPr sz="1800" b="0" i="0" u="none" strike="noStrike">
                    <a:solidFill>
                      <a:srgbClr val="000000"/>
                    </a:solidFill>
                    <a:latin typeface="Arial"/>
                  </a:defRPr>
                </a:pPr>
                <a:endParaRPr lang="fr-FR"/>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Hémorragies</c:v>
                </c:pt>
                <c:pt idx="1">
                  <c:v>Hypertension/Éclampsie</c:v>
                </c:pt>
                <c:pt idx="2">
                  <c:v>Infections</c:v>
                </c:pt>
                <c:pt idx="3">
                  <c:v>Complications obstét.</c:v>
                </c:pt>
              </c:strCache>
            </c:strRef>
          </c:cat>
          <c:val>
            <c:numRef>
              <c:f>Sheet1!$B$2:$B$5</c:f>
              <c:numCache>
                <c:formatCode>General</c:formatCode>
                <c:ptCount val="4"/>
                <c:pt idx="0">
                  <c:v>35</c:v>
                </c:pt>
                <c:pt idx="1">
                  <c:v>28</c:v>
                </c:pt>
                <c:pt idx="2">
                  <c:v>20</c:v>
                </c:pt>
                <c:pt idx="3">
                  <c:v>17</c:v>
                </c:pt>
              </c:numCache>
            </c:numRef>
          </c:val>
          <c:extLst>
            <c:ext xmlns:c16="http://schemas.microsoft.com/office/drawing/2014/chart" uri="{C3380CC4-5D6E-409C-BE32-E72D297353CC}">
              <c16:uniqueId val="{00000008-3347-47D2-88BA-348F88B20E0D}"/>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strRef>
              <c:f>Sheet1!$B$1</c:f>
              <c:strCache>
                <c:ptCount val="1"/>
                <c:pt idx="0">
                  <c:v>% de décès infantiles</c:v>
                </c:pt>
              </c:strCache>
            </c:strRef>
          </c:tx>
          <c:spPr>
            <a:solidFill>
              <a:srgbClr val="028090"/>
            </a:solidFill>
            <a:effectLst/>
          </c:spPr>
          <c:invertIfNegative val="0"/>
          <c:dPt>
            <c:idx val="0"/>
            <c:invertIfNegative val="0"/>
            <c:bubble3D val="0"/>
            <c:extLst>
              <c:ext xmlns:c16="http://schemas.microsoft.com/office/drawing/2014/chart" uri="{C3380CC4-5D6E-409C-BE32-E72D297353CC}">
                <c16:uniqueId val="{00000001-9BB8-4D70-A0FD-E9733F482E5A}"/>
              </c:ext>
            </c:extLst>
          </c:dPt>
          <c:dPt>
            <c:idx val="1"/>
            <c:invertIfNegative val="0"/>
            <c:bubble3D val="0"/>
            <c:spPr>
              <a:solidFill>
                <a:srgbClr val="00A896"/>
              </a:solidFill>
              <a:effectLst/>
            </c:spPr>
            <c:extLst>
              <c:ext xmlns:c16="http://schemas.microsoft.com/office/drawing/2014/chart" uri="{C3380CC4-5D6E-409C-BE32-E72D297353CC}">
                <c16:uniqueId val="{00000003-9BB8-4D70-A0FD-E9733F482E5A}"/>
              </c:ext>
            </c:extLst>
          </c:dPt>
          <c:dPt>
            <c:idx val="2"/>
            <c:invertIfNegative val="0"/>
            <c:bubble3D val="0"/>
            <c:spPr>
              <a:solidFill>
                <a:srgbClr val="02C39A"/>
              </a:solidFill>
              <a:effectLst/>
            </c:spPr>
            <c:extLst>
              <c:ext xmlns:c16="http://schemas.microsoft.com/office/drawing/2014/chart" uri="{C3380CC4-5D6E-409C-BE32-E72D297353CC}">
                <c16:uniqueId val="{00000005-9BB8-4D70-A0FD-E9733F482E5A}"/>
              </c:ext>
            </c:extLst>
          </c:dPt>
          <c:dPt>
            <c:idx val="3"/>
            <c:invertIfNegative val="0"/>
            <c:bubble3D val="0"/>
            <c:spPr>
              <a:solidFill>
                <a:srgbClr val="3D9EC5"/>
              </a:solidFill>
              <a:effectLst/>
            </c:spPr>
            <c:extLst>
              <c:ext xmlns:c16="http://schemas.microsoft.com/office/drawing/2014/chart" uri="{C3380CC4-5D6E-409C-BE32-E72D297353CC}">
                <c16:uniqueId val="{00000007-9BB8-4D70-A0FD-E9733F482E5A}"/>
              </c:ext>
            </c:extLst>
          </c:dPt>
          <c:dPt>
            <c:idx val="4"/>
            <c:invertIfNegative val="0"/>
            <c:bubble3D val="0"/>
            <c:spPr>
              <a:solidFill>
                <a:srgbClr val="F9A825"/>
              </a:solidFill>
              <a:effectLst/>
            </c:spPr>
            <c:extLst>
              <c:ext xmlns:c16="http://schemas.microsoft.com/office/drawing/2014/chart" uri="{C3380CC4-5D6E-409C-BE32-E72D297353CC}">
                <c16:uniqueId val="{00000009-9BB8-4D70-A0FD-E9733F482E5A}"/>
              </c:ext>
            </c:extLst>
          </c:dPt>
          <c:dPt>
            <c:idx val="5"/>
            <c:invertIfNegative val="0"/>
            <c:bubble3D val="0"/>
            <c:spPr>
              <a:solidFill>
                <a:srgbClr val="6D2E46"/>
              </a:solidFill>
              <a:effectLst/>
            </c:spPr>
            <c:extLst>
              <c:ext xmlns:c16="http://schemas.microsoft.com/office/drawing/2014/chart" uri="{C3380CC4-5D6E-409C-BE32-E72D297353CC}">
                <c16:uniqueId val="{0000000B-9BB8-4D70-A0FD-E9733F482E5A}"/>
              </c:ext>
            </c:extLst>
          </c:dPt>
          <c:dLbls>
            <c:numFmt formatCode="#,##0" sourceLinked="0"/>
            <c:spPr>
              <a:noFill/>
              <a:ln>
                <a:noFill/>
              </a:ln>
              <a:effectLst/>
            </c:spPr>
            <c:txPr>
              <a:bodyPr/>
              <a:lstStyle/>
              <a:p>
                <a:pPr>
                  <a:defRPr sz="1000" b="0" i="0" u="none" strike="noStrike">
                    <a:solidFill>
                      <a:srgbClr val="1A2E3B"/>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Naissance prématurée</c:v>
                </c:pt>
                <c:pt idx="1">
                  <c:v>Asphyxie néonatale</c:v>
                </c:pt>
                <c:pt idx="2">
                  <c:v>Pneumonie</c:v>
                </c:pt>
                <c:pt idx="3">
                  <c:v>Diarrhée</c:v>
                </c:pt>
                <c:pt idx="4">
                  <c:v>Paludisme</c:v>
                </c:pt>
                <c:pt idx="5">
                  <c:v>Malnutrition</c:v>
                </c:pt>
              </c:strCache>
            </c:strRef>
          </c:cat>
          <c:val>
            <c:numRef>
              <c:f>Sheet1!$B$2:$B$7</c:f>
              <c:numCache>
                <c:formatCode>General</c:formatCode>
                <c:ptCount val="6"/>
                <c:pt idx="0">
                  <c:v>28</c:v>
                </c:pt>
                <c:pt idx="1">
                  <c:v>24</c:v>
                </c:pt>
                <c:pt idx="2">
                  <c:v>16</c:v>
                </c:pt>
                <c:pt idx="3">
                  <c:v>12</c:v>
                </c:pt>
                <c:pt idx="4">
                  <c:v>10</c:v>
                </c:pt>
                <c:pt idx="5">
                  <c:v>10</c:v>
                </c:pt>
              </c:numCache>
            </c:numRef>
          </c:val>
          <c:extLst>
            <c:ext xmlns:c16="http://schemas.microsoft.com/office/drawing/2014/chart" uri="{C3380CC4-5D6E-409C-BE32-E72D297353CC}">
              <c16:uniqueId val="{0000000C-9BB8-4D70-A0FD-E9733F482E5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D5A6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D8E8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848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975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D44"/>
        </a:solidFill>
        <a:effectLst/>
      </p:bgPr>
    </p:bg>
    <p:spTree>
      <p:nvGrpSpPr>
        <p:cNvPr id="1" name=""/>
        <p:cNvGrpSpPr/>
        <p:nvPr/>
      </p:nvGrpSpPr>
      <p:grpSpPr>
        <a:xfrm>
          <a:off x="0" y="0"/>
          <a:ext cx="0" cy="0"/>
          <a:chOff x="0" y="0"/>
          <a:chExt cx="0" cy="0"/>
        </a:xfrm>
      </p:grpSpPr>
      <p:sp>
        <p:nvSpPr>
          <p:cNvPr id="11" name="Freeform 3">
            <a:extLst>
              <a:ext uri="{FF2B5EF4-FFF2-40B4-BE49-F238E27FC236}">
                <a16:creationId xmlns:a16="http://schemas.microsoft.com/office/drawing/2014/main" id="{8F74B509-DD06-2D36-C1F4-67161B34CF3E}"/>
              </a:ext>
            </a:extLst>
          </p:cNvPr>
          <p:cNvSpPr/>
          <p:nvPr/>
        </p:nvSpPr>
        <p:spPr>
          <a:xfrm>
            <a:off x="5585790" y="-34066"/>
            <a:ext cx="3558209" cy="5211631"/>
          </a:xfrm>
          <a:custGeom>
            <a:avLst/>
            <a:gdLst/>
            <a:ahLst/>
            <a:cxnLst/>
            <a:rect l="l" t="t" r="r" b="b"/>
            <a:pathLst>
              <a:path w="1035548" h="1184737">
                <a:moveTo>
                  <a:pt x="0" y="0"/>
                </a:moveTo>
                <a:lnTo>
                  <a:pt x="1035548" y="0"/>
                </a:lnTo>
                <a:lnTo>
                  <a:pt x="1035548" y="1184737"/>
                </a:lnTo>
                <a:lnTo>
                  <a:pt x="0" y="1184737"/>
                </a:lnTo>
                <a:close/>
              </a:path>
            </a:pathLst>
          </a:custGeom>
          <a:blipFill>
            <a:blip r:embed="rId3">
              <a:alphaModFix/>
            </a:blip>
            <a:stretch>
              <a:fillRect t="-597" b="-597"/>
            </a:stretch>
          </a:blipFill>
        </p:spPr>
      </p:sp>
      <p:sp>
        <p:nvSpPr>
          <p:cNvPr id="2" name="Shape 0"/>
          <p:cNvSpPr/>
          <p:nvPr/>
        </p:nvSpPr>
        <p:spPr>
          <a:xfrm>
            <a:off x="-1371600" y="-1371600"/>
            <a:ext cx="4572000" cy="4572000"/>
          </a:xfrm>
          <a:prstGeom prst="ellipse">
            <a:avLst/>
          </a:prstGeom>
          <a:solidFill>
            <a:srgbClr val="028090">
              <a:alpha val="20000"/>
            </a:srgbClr>
          </a:solidFill>
          <a:ln/>
        </p:spPr>
        <p:txBody>
          <a:bodyPr/>
          <a:lstStyle/>
          <a:p>
            <a:endParaRPr lang="fr-CI" noProof="0" dirty="0"/>
          </a:p>
        </p:txBody>
      </p:sp>
      <p:sp>
        <p:nvSpPr>
          <p:cNvPr id="3" name="Shape 1"/>
          <p:cNvSpPr/>
          <p:nvPr/>
        </p:nvSpPr>
        <p:spPr>
          <a:xfrm>
            <a:off x="6858000" y="3200400"/>
            <a:ext cx="3657600" cy="3657600"/>
          </a:xfrm>
          <a:prstGeom prst="ellipse">
            <a:avLst/>
          </a:prstGeom>
          <a:solidFill>
            <a:srgbClr val="00A896">
              <a:alpha val="15000"/>
            </a:srgbClr>
          </a:solidFill>
          <a:ln/>
        </p:spPr>
        <p:txBody>
          <a:bodyPr/>
          <a:lstStyle/>
          <a:p>
            <a:endParaRPr lang="fr-CI" noProof="0" dirty="0"/>
          </a:p>
        </p:txBody>
      </p:sp>
      <p:sp>
        <p:nvSpPr>
          <p:cNvPr id="4" name="Shape 2"/>
          <p:cNvSpPr/>
          <p:nvPr/>
        </p:nvSpPr>
        <p:spPr>
          <a:xfrm>
            <a:off x="457200" y="2103120"/>
            <a:ext cx="502920" cy="502920"/>
          </a:xfrm>
          <a:prstGeom prst="ellipse">
            <a:avLst/>
          </a:prstGeom>
          <a:solidFill>
            <a:srgbClr val="F9A825"/>
          </a:solidFill>
          <a:ln/>
        </p:spPr>
        <p:txBody>
          <a:bodyPr/>
          <a:lstStyle/>
          <a:p>
            <a:endParaRPr lang="fr-CI" noProof="0" dirty="0"/>
          </a:p>
        </p:txBody>
      </p:sp>
      <p:sp>
        <p:nvSpPr>
          <p:cNvPr id="6" name="Text 4"/>
          <p:cNvSpPr/>
          <p:nvPr/>
        </p:nvSpPr>
        <p:spPr>
          <a:xfrm>
            <a:off x="457200" y="1371600"/>
            <a:ext cx="7772400" cy="731520"/>
          </a:xfrm>
          <a:prstGeom prst="rect">
            <a:avLst/>
          </a:prstGeom>
          <a:noFill/>
          <a:ln/>
        </p:spPr>
        <p:txBody>
          <a:bodyPr wrap="square" lIns="0" tIns="0" rIns="0" bIns="0" rtlCol="0" anchor="ctr"/>
          <a:lstStyle/>
          <a:p>
            <a:pPr marL="0" indent="0" algn="l">
              <a:buNone/>
            </a:pPr>
            <a:r>
              <a:rPr lang="fr-CI" sz="3400" b="1" noProof="0" dirty="0">
                <a:solidFill>
                  <a:srgbClr val="00A896"/>
                </a:solidFill>
                <a:latin typeface="Cambria" pitchFamily="34" charset="0"/>
                <a:ea typeface="Cambria" pitchFamily="34" charset="-122"/>
                <a:cs typeface="Cambria" pitchFamily="34" charset="-120"/>
              </a:rPr>
              <a:t>pour Réduire la Mortalité</a:t>
            </a:r>
            <a:endParaRPr lang="fr-CI" sz="3400" noProof="0" dirty="0"/>
          </a:p>
        </p:txBody>
      </p:sp>
      <p:sp>
        <p:nvSpPr>
          <p:cNvPr id="7" name="Text 5"/>
          <p:cNvSpPr/>
          <p:nvPr/>
        </p:nvSpPr>
        <p:spPr>
          <a:xfrm>
            <a:off x="457200" y="2011680"/>
            <a:ext cx="7315200" cy="685800"/>
          </a:xfrm>
          <a:prstGeom prst="rect">
            <a:avLst/>
          </a:prstGeom>
          <a:noFill/>
          <a:ln/>
        </p:spPr>
        <p:txBody>
          <a:bodyPr wrap="square" lIns="0" tIns="0" rIns="0" bIns="0" rtlCol="0" anchor="ctr"/>
          <a:lstStyle/>
          <a:p>
            <a:pPr marL="0" indent="0" algn="l">
              <a:buNone/>
            </a:pPr>
            <a:r>
              <a:rPr lang="fr-CI" sz="3000" noProof="0" dirty="0">
                <a:solidFill>
                  <a:srgbClr val="02C39A"/>
                </a:solidFill>
                <a:latin typeface="Cambria" pitchFamily="34" charset="0"/>
                <a:ea typeface="Cambria" pitchFamily="34" charset="-122"/>
                <a:cs typeface="Cambria" pitchFamily="34" charset="-120"/>
              </a:rPr>
              <a:t>Maternelle et Infantile</a:t>
            </a:r>
            <a:endParaRPr lang="fr-CI" sz="3000" noProof="0" dirty="0"/>
          </a:p>
        </p:txBody>
      </p:sp>
      <p:sp>
        <p:nvSpPr>
          <p:cNvPr id="8" name="Text 6"/>
          <p:cNvSpPr/>
          <p:nvPr/>
        </p:nvSpPr>
        <p:spPr>
          <a:xfrm>
            <a:off x="457200" y="2834640"/>
            <a:ext cx="6858000" cy="457200"/>
          </a:xfrm>
          <a:prstGeom prst="rect">
            <a:avLst/>
          </a:prstGeom>
          <a:noFill/>
          <a:ln/>
        </p:spPr>
        <p:txBody>
          <a:bodyPr wrap="square" lIns="0" tIns="0" rIns="0" bIns="0" rtlCol="0" anchor="ctr"/>
          <a:lstStyle/>
          <a:p>
            <a:pPr marL="0" indent="0" algn="l">
              <a:buNone/>
            </a:pPr>
            <a:r>
              <a:rPr lang="fr-CI" sz="1300" i="1" noProof="0" dirty="0">
                <a:solidFill>
                  <a:srgbClr val="A8D8E0"/>
                </a:solidFill>
                <a:latin typeface="Calibri" pitchFamily="34" charset="0"/>
                <a:ea typeface="Calibri" pitchFamily="34" charset="-122"/>
                <a:cs typeface="Calibri" pitchFamily="34" charset="-120"/>
              </a:rPr>
              <a:t>Exploitation des données pour identifier les risques et sauver des vies</a:t>
            </a:r>
            <a:endParaRPr lang="fr-CI" sz="1300" noProof="0" dirty="0"/>
          </a:p>
        </p:txBody>
      </p:sp>
      <p:sp>
        <p:nvSpPr>
          <p:cNvPr id="9" name="Text 7"/>
          <p:cNvSpPr/>
          <p:nvPr/>
        </p:nvSpPr>
        <p:spPr>
          <a:xfrm>
            <a:off x="457200" y="3931920"/>
            <a:ext cx="8229600" cy="365760"/>
          </a:xfrm>
          <a:prstGeom prst="rect">
            <a:avLst/>
          </a:prstGeom>
          <a:noFill/>
          <a:ln/>
        </p:spPr>
        <p:txBody>
          <a:bodyPr wrap="square" lIns="0" tIns="0" rIns="0" bIns="0" rtlCol="0" anchor="ctr"/>
          <a:lstStyle/>
          <a:p>
            <a:pPr marL="0" indent="0" algn="l">
              <a:buNone/>
            </a:pPr>
            <a:r>
              <a:rPr lang="fr-CI" sz="1400" noProof="0" dirty="0">
                <a:solidFill>
                  <a:srgbClr val="6B9BA8"/>
                </a:solidFill>
                <a:latin typeface="Calibri" pitchFamily="34" charset="0"/>
                <a:ea typeface="Calibri" pitchFamily="34" charset="-122"/>
                <a:cs typeface="Calibri" pitchFamily="34" charset="-120"/>
              </a:rPr>
              <a:t>Présenté par: </a:t>
            </a:r>
          </a:p>
          <a:p>
            <a:pPr marL="0" indent="0" algn="l">
              <a:buNone/>
            </a:pPr>
            <a:r>
              <a:rPr lang="fr-CI" sz="1400" noProof="0" dirty="0">
                <a:solidFill>
                  <a:srgbClr val="6B9BA8"/>
                </a:solidFill>
                <a:latin typeface="Calibri" pitchFamily="34" charset="0"/>
                <a:ea typeface="Calibri" pitchFamily="34" charset="-122"/>
                <a:cs typeface="Calibri" pitchFamily="34" charset="-120"/>
              </a:rPr>
              <a:t>ESSAN Ano Julien</a:t>
            </a:r>
            <a:endParaRPr lang="fr-CI" sz="1400" noProof="0" dirty="0"/>
          </a:p>
        </p:txBody>
      </p:sp>
      <p:pic>
        <p:nvPicPr>
          <p:cNvPr id="10" name="Image 0" descr="preencoded.png"/>
          <p:cNvPicPr>
            <a:picLocks noChangeAspect="1"/>
          </p:cNvPicPr>
          <p:nvPr/>
        </p:nvPicPr>
        <p:blipFill>
          <a:blip r:embed="rId4"/>
          <a:stretch>
            <a:fillRect/>
          </a:stretch>
        </p:blipFill>
        <p:spPr>
          <a:xfrm>
            <a:off x="7772400" y="640080"/>
            <a:ext cx="1005840" cy="1005840"/>
          </a:xfrm>
          <a:prstGeom prst="rect">
            <a:avLst/>
          </a:prstGeom>
        </p:spPr>
      </p:pic>
      <p:sp>
        <p:nvSpPr>
          <p:cNvPr id="5" name="Text 3"/>
          <p:cNvSpPr/>
          <p:nvPr/>
        </p:nvSpPr>
        <p:spPr>
          <a:xfrm>
            <a:off x="457200" y="640080"/>
            <a:ext cx="7772400" cy="822960"/>
          </a:xfrm>
          <a:prstGeom prst="rect">
            <a:avLst/>
          </a:prstGeom>
          <a:noFill/>
          <a:ln/>
        </p:spPr>
        <p:txBody>
          <a:bodyPr wrap="square" lIns="0" tIns="0" rIns="0" bIns="0" rtlCol="0" anchor="ctr"/>
          <a:lstStyle/>
          <a:p>
            <a:pPr marL="0" indent="0" algn="l">
              <a:buNone/>
            </a:pPr>
            <a:r>
              <a:rPr lang="fr-CI" sz="3800" b="1" noProof="0" dirty="0">
                <a:solidFill>
                  <a:srgbClr val="FFFFFF"/>
                </a:solidFill>
                <a:latin typeface="Cambria" pitchFamily="34" charset="0"/>
                <a:ea typeface="Cambria" pitchFamily="34" charset="-122"/>
                <a:cs typeface="Cambria" pitchFamily="34" charset="-120"/>
              </a:rPr>
              <a:t>Science des Données</a:t>
            </a:r>
            <a:endParaRPr lang="fr-CI" sz="38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2D44"/>
          </a:solidFill>
          <a:ln/>
        </p:spPr>
        <p:txBody>
          <a:bodyPr/>
          <a:lstStyle/>
          <a:p>
            <a:endParaRPr lang="fr-CI" noProof="0" dirty="0"/>
          </a:p>
        </p:txBody>
      </p:sp>
      <p:sp>
        <p:nvSpPr>
          <p:cNvPr id="3" name="Text 1"/>
          <p:cNvSpPr/>
          <p:nvPr/>
        </p:nvSpPr>
        <p:spPr>
          <a:xfrm>
            <a:off x="365760" y="91440"/>
            <a:ext cx="8412480" cy="777240"/>
          </a:xfrm>
          <a:prstGeom prst="rect">
            <a:avLst/>
          </a:prstGeom>
          <a:noFill/>
          <a:ln/>
        </p:spPr>
        <p:txBody>
          <a:bodyPr wrap="square" lIns="0" tIns="0" rIns="0" bIns="0" rtlCol="0" anchor="ctr"/>
          <a:lstStyle/>
          <a:p>
            <a:pPr marL="0" indent="0" algn="l">
              <a:buNone/>
            </a:pPr>
            <a:r>
              <a:rPr lang="fr-CI" sz="2800" b="1" noProof="0" dirty="0">
                <a:solidFill>
                  <a:srgbClr val="00A896"/>
                </a:solidFill>
                <a:latin typeface="Calibri" pitchFamily="34" charset="0"/>
                <a:ea typeface="Calibri" pitchFamily="34" charset="-122"/>
                <a:cs typeface="Calibri" pitchFamily="34" charset="-120"/>
              </a:rPr>
              <a:t>INTRODUCTION</a:t>
            </a:r>
            <a:endParaRPr lang="fr-CI" sz="2800" noProof="0" dirty="0"/>
          </a:p>
        </p:txBody>
      </p:sp>
      <p:sp>
        <p:nvSpPr>
          <p:cNvPr id="4" name="Text 2"/>
          <p:cNvSpPr/>
          <p:nvPr/>
        </p:nvSpPr>
        <p:spPr>
          <a:xfrm>
            <a:off x="365760" y="1051560"/>
            <a:ext cx="8229600" cy="548640"/>
          </a:xfrm>
          <a:prstGeom prst="rect">
            <a:avLst/>
          </a:prstGeom>
          <a:noFill/>
          <a:ln/>
        </p:spPr>
        <p:txBody>
          <a:bodyPr wrap="square" lIns="0" tIns="0" rIns="0" bIns="0" rtlCol="0" anchor="ctr"/>
          <a:lstStyle/>
          <a:p>
            <a:pPr marL="0" indent="0">
              <a:buNone/>
            </a:pPr>
            <a:r>
              <a:rPr lang="fr-CI" sz="2600" b="1" noProof="0" dirty="0">
                <a:solidFill>
                  <a:srgbClr val="0A2D44"/>
                </a:solidFill>
                <a:latin typeface="Cambria" pitchFamily="34" charset="0"/>
                <a:ea typeface="Cambria" pitchFamily="34" charset="-122"/>
                <a:cs typeface="Cambria" pitchFamily="34" charset="-120"/>
              </a:rPr>
              <a:t>Contexte Mondial </a:t>
            </a:r>
            <a:r>
              <a:rPr lang="fr-CI" sz="1600" b="1" noProof="0" dirty="0">
                <a:solidFill>
                  <a:srgbClr val="0A2D44"/>
                </a:solidFill>
                <a:latin typeface="Cambria" pitchFamily="34" charset="0"/>
                <a:ea typeface="Cambria" pitchFamily="34" charset="-122"/>
                <a:cs typeface="Cambria" pitchFamily="34" charset="-120"/>
              </a:rPr>
              <a:t>(</a:t>
            </a:r>
            <a:r>
              <a:rPr lang="fr-FR" sz="1600" b="1" noProof="0" dirty="0">
                <a:solidFill>
                  <a:srgbClr val="0A2D44"/>
                </a:solidFill>
                <a:latin typeface="Cambria" pitchFamily="34" charset="0"/>
                <a:ea typeface="Cambria" pitchFamily="34" charset="-122"/>
                <a:cs typeface="Cambria" pitchFamily="34" charset="-120"/>
              </a:rPr>
              <a:t>Selon l'Organisation mondiale de la Santé)</a:t>
            </a:r>
            <a:endParaRPr lang="fr-CI" sz="1600" noProof="0" dirty="0"/>
          </a:p>
        </p:txBody>
      </p:sp>
      <p:sp>
        <p:nvSpPr>
          <p:cNvPr id="5" name="Shape 3"/>
          <p:cNvSpPr/>
          <p:nvPr/>
        </p:nvSpPr>
        <p:spPr>
          <a:xfrm>
            <a:off x="320040" y="1737360"/>
            <a:ext cx="2468880" cy="1280160"/>
          </a:xfrm>
          <a:prstGeom prst="roundRect">
            <a:avLst>
              <a:gd name="adj" fmla="val 8571"/>
            </a:avLst>
          </a:prstGeom>
          <a:solidFill>
            <a:srgbClr val="FFFFFF"/>
          </a:solidFill>
          <a:ln/>
          <a:effectLst>
            <a:outerShdw blurRad="101600" dist="38100" dir="2700000" algn="bl" rotWithShape="0">
              <a:srgbClr val="000000">
                <a:alpha val="12000"/>
              </a:srgbClr>
            </a:outerShdw>
          </a:effectLst>
        </p:spPr>
        <p:txBody>
          <a:bodyPr/>
          <a:lstStyle/>
          <a:p>
            <a:endParaRPr lang="fr-CI" noProof="0" dirty="0"/>
          </a:p>
        </p:txBody>
      </p:sp>
      <p:sp>
        <p:nvSpPr>
          <p:cNvPr id="6" name="Text 4"/>
          <p:cNvSpPr/>
          <p:nvPr/>
        </p:nvSpPr>
        <p:spPr>
          <a:xfrm>
            <a:off x="320040" y="1847088"/>
            <a:ext cx="2468880" cy="685800"/>
          </a:xfrm>
          <a:prstGeom prst="rect">
            <a:avLst/>
          </a:prstGeom>
          <a:noFill/>
          <a:ln/>
        </p:spPr>
        <p:txBody>
          <a:bodyPr wrap="square" lIns="0" tIns="0" rIns="0" bIns="0" rtlCol="0" anchor="ctr"/>
          <a:lstStyle/>
          <a:p>
            <a:pPr marL="0" indent="0" algn="ctr">
              <a:buNone/>
            </a:pPr>
            <a:r>
              <a:rPr lang="fr-CI" sz="3600" b="1" noProof="0" dirty="0">
                <a:solidFill>
                  <a:srgbClr val="6D2E46"/>
                </a:solidFill>
                <a:latin typeface="Cambria" pitchFamily="34" charset="0"/>
                <a:ea typeface="Cambria" pitchFamily="34" charset="-122"/>
                <a:cs typeface="Cambria" pitchFamily="34" charset="-120"/>
              </a:rPr>
              <a:t>~260 000</a:t>
            </a:r>
            <a:endParaRPr lang="fr-CI" sz="3600" noProof="0" dirty="0"/>
          </a:p>
        </p:txBody>
      </p:sp>
      <p:sp>
        <p:nvSpPr>
          <p:cNvPr id="7" name="Text 5"/>
          <p:cNvSpPr/>
          <p:nvPr/>
        </p:nvSpPr>
        <p:spPr>
          <a:xfrm>
            <a:off x="320040" y="2542032"/>
            <a:ext cx="2468880" cy="384048"/>
          </a:xfrm>
          <a:prstGeom prst="rect">
            <a:avLst/>
          </a:prstGeom>
          <a:noFill/>
          <a:ln/>
        </p:spPr>
        <p:txBody>
          <a:bodyPr wrap="square" lIns="0" tIns="0" rIns="0" bIns="0" rtlCol="0" anchor="ctr"/>
          <a:lstStyle/>
          <a:p>
            <a:pPr marL="0" indent="0" algn="ctr">
              <a:buNone/>
            </a:pPr>
            <a:r>
              <a:rPr lang="fr-FR" sz="1000" noProof="0" dirty="0">
                <a:solidFill>
                  <a:srgbClr val="3D5A6B"/>
                </a:solidFill>
                <a:latin typeface="Calibri" pitchFamily="34" charset="0"/>
                <a:ea typeface="Calibri" pitchFamily="34" charset="-122"/>
                <a:cs typeface="Calibri" pitchFamily="34" charset="-120"/>
              </a:rPr>
              <a:t>femmes meurent chaque année de complications liées à la grossesse ou à l'accouchement</a:t>
            </a:r>
            <a:endParaRPr lang="fr-CI" sz="1000" noProof="0" dirty="0"/>
          </a:p>
        </p:txBody>
      </p:sp>
      <p:sp>
        <p:nvSpPr>
          <p:cNvPr id="8" name="Shape 6"/>
          <p:cNvSpPr/>
          <p:nvPr/>
        </p:nvSpPr>
        <p:spPr>
          <a:xfrm>
            <a:off x="3337560" y="1737360"/>
            <a:ext cx="2468880" cy="1280160"/>
          </a:xfrm>
          <a:prstGeom prst="roundRect">
            <a:avLst>
              <a:gd name="adj" fmla="val 8571"/>
            </a:avLst>
          </a:prstGeom>
          <a:solidFill>
            <a:srgbClr val="FFFFFF"/>
          </a:solidFill>
          <a:ln/>
          <a:effectLst>
            <a:outerShdw blurRad="101600" dist="38100" dir="2700000" algn="bl" rotWithShape="0">
              <a:srgbClr val="000000">
                <a:alpha val="12000"/>
              </a:srgbClr>
            </a:outerShdw>
          </a:effectLst>
        </p:spPr>
        <p:txBody>
          <a:bodyPr/>
          <a:lstStyle/>
          <a:p>
            <a:endParaRPr lang="fr-CI" noProof="0" dirty="0"/>
          </a:p>
        </p:txBody>
      </p:sp>
      <p:sp>
        <p:nvSpPr>
          <p:cNvPr id="9" name="Text 7"/>
          <p:cNvSpPr/>
          <p:nvPr/>
        </p:nvSpPr>
        <p:spPr>
          <a:xfrm>
            <a:off x="3337560" y="1847088"/>
            <a:ext cx="2468880" cy="685800"/>
          </a:xfrm>
          <a:prstGeom prst="rect">
            <a:avLst/>
          </a:prstGeom>
          <a:noFill/>
          <a:ln/>
        </p:spPr>
        <p:txBody>
          <a:bodyPr wrap="square" lIns="0" tIns="0" rIns="0" bIns="0" rtlCol="0" anchor="ctr"/>
          <a:lstStyle/>
          <a:p>
            <a:pPr marL="0" indent="0" algn="ctr">
              <a:buNone/>
            </a:pPr>
            <a:r>
              <a:rPr lang="fr-CI" sz="3600" b="1" noProof="0" dirty="0">
                <a:solidFill>
                  <a:srgbClr val="028090"/>
                </a:solidFill>
                <a:latin typeface="Cambria" pitchFamily="34" charset="0"/>
                <a:ea typeface="Cambria" pitchFamily="34" charset="-122"/>
                <a:cs typeface="Cambria" pitchFamily="34" charset="-120"/>
              </a:rPr>
              <a:t>4 M+</a:t>
            </a:r>
            <a:endParaRPr lang="fr-CI" sz="3600" noProof="0" dirty="0"/>
          </a:p>
        </p:txBody>
      </p:sp>
      <p:sp>
        <p:nvSpPr>
          <p:cNvPr id="10" name="Text 8"/>
          <p:cNvSpPr/>
          <p:nvPr/>
        </p:nvSpPr>
        <p:spPr>
          <a:xfrm>
            <a:off x="3337560" y="2542032"/>
            <a:ext cx="2468880" cy="384048"/>
          </a:xfrm>
          <a:prstGeom prst="rect">
            <a:avLst/>
          </a:prstGeom>
          <a:noFill/>
          <a:ln/>
        </p:spPr>
        <p:txBody>
          <a:bodyPr wrap="square" lIns="0" tIns="0" rIns="0" bIns="0" rtlCol="0" anchor="ctr"/>
          <a:lstStyle/>
          <a:p>
            <a:pPr marL="0" indent="0" algn="ctr">
              <a:buNone/>
            </a:pPr>
            <a:r>
              <a:rPr lang="fr-CI" sz="1000" dirty="0">
                <a:solidFill>
                  <a:srgbClr val="3D5A6B"/>
                </a:solidFill>
                <a:latin typeface="Calibri" pitchFamily="34" charset="0"/>
                <a:ea typeface="Calibri" pitchFamily="34" charset="-122"/>
                <a:cs typeface="Calibri" pitchFamily="34" charset="-120"/>
              </a:rPr>
              <a:t>d’</a:t>
            </a:r>
            <a:r>
              <a:rPr lang="fr-CI" sz="1000" noProof="0" dirty="0">
                <a:solidFill>
                  <a:srgbClr val="3D5A6B"/>
                </a:solidFill>
                <a:latin typeface="Calibri" pitchFamily="34" charset="0"/>
                <a:ea typeface="Calibri" pitchFamily="34" charset="-122"/>
                <a:cs typeface="Calibri" pitchFamily="34" charset="-120"/>
              </a:rPr>
              <a:t>enfants décèdent avant</a:t>
            </a:r>
            <a:endParaRPr lang="fr-CI" sz="1000" noProof="0" dirty="0"/>
          </a:p>
          <a:p>
            <a:pPr marL="0" indent="0" algn="ctr">
              <a:buNone/>
            </a:pPr>
            <a:r>
              <a:rPr lang="fr-CI" sz="1000" noProof="0" dirty="0">
                <a:solidFill>
                  <a:srgbClr val="3D5A6B"/>
                </a:solidFill>
                <a:latin typeface="Calibri" pitchFamily="34" charset="0"/>
                <a:ea typeface="Calibri" pitchFamily="34" charset="-122"/>
                <a:cs typeface="Calibri" pitchFamily="34" charset="-120"/>
              </a:rPr>
              <a:t>leur 5ème anniversaire</a:t>
            </a:r>
            <a:endParaRPr lang="fr-CI" sz="1000" noProof="0" dirty="0"/>
          </a:p>
        </p:txBody>
      </p:sp>
      <p:sp>
        <p:nvSpPr>
          <p:cNvPr id="11" name="Shape 9"/>
          <p:cNvSpPr/>
          <p:nvPr/>
        </p:nvSpPr>
        <p:spPr>
          <a:xfrm>
            <a:off x="6327648" y="1737360"/>
            <a:ext cx="2468880" cy="1280160"/>
          </a:xfrm>
          <a:prstGeom prst="roundRect">
            <a:avLst>
              <a:gd name="adj" fmla="val 8571"/>
            </a:avLst>
          </a:prstGeom>
          <a:solidFill>
            <a:srgbClr val="FFFFFF"/>
          </a:solidFill>
          <a:ln/>
          <a:effectLst>
            <a:outerShdw blurRad="101600" dist="38100" dir="2700000" algn="bl" rotWithShape="0">
              <a:srgbClr val="000000">
                <a:alpha val="12000"/>
              </a:srgbClr>
            </a:outerShdw>
          </a:effectLst>
        </p:spPr>
        <p:txBody>
          <a:bodyPr/>
          <a:lstStyle/>
          <a:p>
            <a:endParaRPr lang="fr-CI" noProof="0" dirty="0"/>
          </a:p>
        </p:txBody>
      </p:sp>
      <p:sp>
        <p:nvSpPr>
          <p:cNvPr id="13" name="Text 11"/>
          <p:cNvSpPr/>
          <p:nvPr/>
        </p:nvSpPr>
        <p:spPr>
          <a:xfrm>
            <a:off x="6327648" y="1923627"/>
            <a:ext cx="2348992" cy="1002453"/>
          </a:xfrm>
          <a:prstGeom prst="rect">
            <a:avLst/>
          </a:prstGeom>
          <a:noFill/>
          <a:ln/>
        </p:spPr>
        <p:txBody>
          <a:bodyPr wrap="square" lIns="0" tIns="0" rIns="0" bIns="0" rtlCol="0" anchor="ctr"/>
          <a:lstStyle/>
          <a:p>
            <a:pPr marL="0" indent="0" algn="ctr">
              <a:buNone/>
            </a:pPr>
            <a:r>
              <a:rPr lang="fr-FR" sz="1400" noProof="0" dirty="0">
                <a:solidFill>
                  <a:srgbClr val="3D5A6B"/>
                </a:solidFill>
                <a:latin typeface="Calibri" pitchFamily="34" charset="0"/>
                <a:ea typeface="Calibri" pitchFamily="34" charset="-122"/>
                <a:cs typeface="Calibri" pitchFamily="34" charset="-120"/>
              </a:rPr>
              <a:t>La majorité de ces décès surviennent dans les pays à revenu faible et intermédiaire. </a:t>
            </a:r>
            <a:endParaRPr lang="fr-CI" sz="1400" noProof="0" dirty="0"/>
          </a:p>
        </p:txBody>
      </p:sp>
      <p:sp>
        <p:nvSpPr>
          <p:cNvPr id="14" name="Shape 12"/>
          <p:cNvSpPr/>
          <p:nvPr/>
        </p:nvSpPr>
        <p:spPr>
          <a:xfrm>
            <a:off x="292608" y="3360420"/>
            <a:ext cx="8503920" cy="1463040"/>
          </a:xfrm>
          <a:prstGeom prst="roundRect">
            <a:avLst>
              <a:gd name="adj" fmla="val 7500"/>
            </a:avLst>
          </a:prstGeom>
          <a:solidFill>
            <a:srgbClr val="0A2D44"/>
          </a:solidFill>
          <a:ln/>
          <a:effectLst>
            <a:outerShdw blurRad="101600" dist="38100" dir="2700000" algn="bl" rotWithShape="0">
              <a:srgbClr val="000000">
                <a:alpha val="12000"/>
              </a:srgbClr>
            </a:outerShdw>
          </a:effectLst>
        </p:spPr>
        <p:txBody>
          <a:bodyPr/>
          <a:lstStyle/>
          <a:p>
            <a:endParaRPr lang="fr-CI" noProof="0" dirty="0"/>
          </a:p>
        </p:txBody>
      </p:sp>
      <p:sp>
        <p:nvSpPr>
          <p:cNvPr id="16" name="Text 14"/>
          <p:cNvSpPr/>
          <p:nvPr/>
        </p:nvSpPr>
        <p:spPr>
          <a:xfrm>
            <a:off x="629920" y="3589020"/>
            <a:ext cx="8046720" cy="822960"/>
          </a:xfrm>
          <a:prstGeom prst="rect">
            <a:avLst/>
          </a:prstGeom>
          <a:noFill/>
          <a:ln/>
        </p:spPr>
        <p:txBody>
          <a:bodyPr wrap="square" lIns="0" tIns="0" rIns="0" bIns="0" rtlCol="0" anchor="ctr"/>
          <a:lstStyle/>
          <a:p>
            <a:pPr marL="0" indent="0">
              <a:buNone/>
            </a:pPr>
            <a:r>
              <a:rPr lang="fr-CI" sz="2400" i="1" noProof="0" dirty="0">
                <a:solidFill>
                  <a:srgbClr val="FFFFFF"/>
                </a:solidFill>
                <a:latin typeface="Cambria" pitchFamily="34" charset="0"/>
                <a:ea typeface="Cambria" pitchFamily="34" charset="-122"/>
                <a:cs typeface="Cambria" pitchFamily="34" charset="-120"/>
              </a:rPr>
              <a:t>Comment exploiter les données pour identifier les risques et sauver davantage de vies maternelles et infantiles ?</a:t>
            </a:r>
            <a:endParaRPr lang="fr-CI" sz="24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2D44"/>
          </a:solidFill>
          <a:ln/>
        </p:spPr>
        <p:txBody>
          <a:bodyPr/>
          <a:lstStyle/>
          <a:p>
            <a:endParaRPr lang="fr-CI" noProof="0" dirty="0"/>
          </a:p>
        </p:txBody>
      </p:sp>
      <p:sp>
        <p:nvSpPr>
          <p:cNvPr id="3" name="Text 1"/>
          <p:cNvSpPr/>
          <p:nvPr/>
        </p:nvSpPr>
        <p:spPr>
          <a:xfrm>
            <a:off x="365760" y="91440"/>
            <a:ext cx="8412480" cy="777240"/>
          </a:xfrm>
          <a:prstGeom prst="rect">
            <a:avLst/>
          </a:prstGeom>
          <a:noFill/>
          <a:ln/>
        </p:spPr>
        <p:txBody>
          <a:bodyPr wrap="square" lIns="0" tIns="0" rIns="0" bIns="0" rtlCol="0" anchor="ctr"/>
          <a:lstStyle/>
          <a:p>
            <a:pPr marL="0" indent="0" algn="l">
              <a:buNone/>
            </a:pPr>
            <a:r>
              <a:rPr lang="fr-CI" sz="2800" b="1" noProof="0" dirty="0">
                <a:solidFill>
                  <a:srgbClr val="00A896"/>
                </a:solidFill>
                <a:latin typeface="Calibri" pitchFamily="34" charset="0"/>
                <a:ea typeface="Calibri" pitchFamily="34" charset="-122"/>
                <a:cs typeface="Calibri" pitchFamily="34" charset="-120"/>
              </a:rPr>
              <a:t>INTRODUCTION</a:t>
            </a:r>
            <a:endParaRPr lang="fr-CI" sz="2800" noProof="0" dirty="0"/>
          </a:p>
        </p:txBody>
      </p:sp>
      <p:sp>
        <p:nvSpPr>
          <p:cNvPr id="4" name="Text 2"/>
          <p:cNvSpPr/>
          <p:nvPr/>
        </p:nvSpPr>
        <p:spPr>
          <a:xfrm>
            <a:off x="365760" y="1051560"/>
            <a:ext cx="8229600" cy="548640"/>
          </a:xfrm>
          <a:prstGeom prst="rect">
            <a:avLst/>
          </a:prstGeom>
          <a:noFill/>
          <a:ln/>
        </p:spPr>
        <p:txBody>
          <a:bodyPr wrap="square" lIns="0" tIns="0" rIns="0" bIns="0" rtlCol="0" anchor="ctr"/>
          <a:lstStyle/>
          <a:p>
            <a:pPr marL="0" indent="0">
              <a:buNone/>
            </a:pPr>
            <a:r>
              <a:rPr lang="fr-CI" sz="2400" b="1" noProof="0" dirty="0">
                <a:solidFill>
                  <a:srgbClr val="0A2D44"/>
                </a:solidFill>
                <a:latin typeface="Cambria" pitchFamily="34" charset="0"/>
                <a:ea typeface="Cambria" pitchFamily="34" charset="-122"/>
                <a:cs typeface="Cambria" pitchFamily="34" charset="-120"/>
              </a:rPr>
              <a:t>Qu'est-ce que la Science des Données ?</a:t>
            </a:r>
            <a:endParaRPr lang="fr-CI" sz="2400" noProof="0" dirty="0"/>
          </a:p>
        </p:txBody>
      </p:sp>
      <p:sp>
        <p:nvSpPr>
          <p:cNvPr id="5" name="Shape 3"/>
          <p:cNvSpPr/>
          <p:nvPr/>
        </p:nvSpPr>
        <p:spPr>
          <a:xfrm>
            <a:off x="320039" y="1691640"/>
            <a:ext cx="5358865" cy="3063240"/>
          </a:xfrm>
          <a:prstGeom prst="roundRect">
            <a:avLst>
              <a:gd name="adj" fmla="val 3582"/>
            </a:avLst>
          </a:prstGeom>
          <a:solidFill>
            <a:srgbClr val="FFFFFF"/>
          </a:solidFill>
          <a:ln/>
          <a:effectLst>
            <a:outerShdw blurRad="101600" dist="38100" dir="2700000" algn="bl" rotWithShape="0">
              <a:srgbClr val="000000">
                <a:alpha val="12000"/>
              </a:srgbClr>
            </a:outerShdw>
          </a:effectLst>
        </p:spPr>
        <p:txBody>
          <a:bodyPr/>
          <a:lstStyle/>
          <a:p>
            <a:endParaRPr lang="fr-CI" noProof="0" dirty="0"/>
          </a:p>
        </p:txBody>
      </p:sp>
      <p:sp>
        <p:nvSpPr>
          <p:cNvPr id="6" name="Text 4"/>
          <p:cNvSpPr/>
          <p:nvPr/>
        </p:nvSpPr>
        <p:spPr>
          <a:xfrm>
            <a:off x="434339" y="1786689"/>
            <a:ext cx="5124249" cy="3059631"/>
          </a:xfrm>
          <a:prstGeom prst="rect">
            <a:avLst/>
          </a:prstGeom>
          <a:noFill/>
          <a:ln/>
        </p:spPr>
        <p:txBody>
          <a:bodyPr wrap="square" lIns="0" tIns="0" rIns="0" bIns="0" rtlCol="0" anchor="ctr"/>
          <a:lstStyle/>
          <a:p>
            <a:pPr algn="just"/>
            <a:r>
              <a:rPr lang="fr-CI" sz="1300" dirty="0">
                <a:solidFill>
                  <a:srgbClr val="1A2E3B"/>
                </a:solidFill>
                <a:latin typeface="Calibri" pitchFamily="34" charset="0"/>
                <a:ea typeface="Calibri" pitchFamily="34" charset="-122"/>
                <a:cs typeface="Calibri" pitchFamily="34" charset="-120"/>
              </a:rPr>
              <a:t>La science des données est l’art d’utiliser des données pour poser et répondre à des questions, résoudre des problèmes et prendre de meilleures décisions.</a:t>
            </a:r>
          </a:p>
          <a:p>
            <a:pPr algn="just"/>
            <a:r>
              <a:rPr lang="fr-CI" sz="1300" dirty="0">
                <a:solidFill>
                  <a:srgbClr val="1A2E3B"/>
                </a:solidFill>
                <a:latin typeface="Calibri" pitchFamily="34" charset="0"/>
                <a:ea typeface="Calibri" pitchFamily="34" charset="-122"/>
                <a:cs typeface="Calibri" pitchFamily="34" charset="-120"/>
              </a:rPr>
              <a:t>Son objectif principal est de transformer des données brutes en informations actionnables en utilisant </a:t>
            </a:r>
            <a:r>
              <a:rPr lang="fr-FR" sz="1300" dirty="0">
                <a:solidFill>
                  <a:srgbClr val="1A2E3B"/>
                </a:solidFill>
                <a:latin typeface="Calibri" pitchFamily="34" charset="0"/>
                <a:ea typeface="Calibri" pitchFamily="34" charset="-122"/>
                <a:cs typeface="Calibri" pitchFamily="34" charset="-120"/>
              </a:rPr>
              <a:t>des techniques permettant de :</a:t>
            </a:r>
          </a:p>
          <a:p>
            <a:pPr algn="just"/>
            <a:endParaRPr lang="fr-FR" sz="1300" dirty="0">
              <a:solidFill>
                <a:srgbClr val="1A2E3B"/>
              </a:solidFill>
              <a:latin typeface="Calibri" pitchFamily="34" charset="0"/>
              <a:ea typeface="Calibri" pitchFamily="34" charset="-122"/>
              <a:cs typeface="Calibri" pitchFamily="34" charset="-120"/>
            </a:endParaRPr>
          </a:p>
          <a:p>
            <a:pPr marL="342900" indent="-342900">
              <a:buSzPct val="100000"/>
              <a:buChar char="•"/>
            </a:pPr>
            <a:r>
              <a:rPr lang="fr-CI" sz="1300" dirty="0">
                <a:solidFill>
                  <a:srgbClr val="1A2E3B"/>
                </a:solidFill>
                <a:latin typeface="Calibri" pitchFamily="34" charset="0"/>
                <a:ea typeface="Calibri" pitchFamily="34" charset="-122"/>
                <a:cs typeface="Calibri" pitchFamily="34" charset="-120"/>
              </a:rPr>
              <a:t>Collecter les données</a:t>
            </a:r>
            <a:endParaRPr lang="fr-CI" sz="1300" dirty="0"/>
          </a:p>
          <a:p>
            <a:pPr marL="342900" indent="-342900">
              <a:buSzPct val="100000"/>
              <a:buChar char="•"/>
            </a:pPr>
            <a:r>
              <a:rPr lang="fr-CI" sz="1300" dirty="0">
                <a:solidFill>
                  <a:srgbClr val="1A2E3B"/>
                </a:solidFill>
                <a:latin typeface="Calibri" pitchFamily="34" charset="0"/>
                <a:ea typeface="Calibri" pitchFamily="34" charset="-122"/>
                <a:cs typeface="Calibri" pitchFamily="34" charset="-120"/>
              </a:rPr>
              <a:t>Nettoyer les données</a:t>
            </a:r>
            <a:endParaRPr lang="fr-CI" sz="1300" dirty="0"/>
          </a:p>
          <a:p>
            <a:pPr marL="342900" indent="-342900">
              <a:buSzPct val="100000"/>
              <a:buChar char="•"/>
            </a:pPr>
            <a:r>
              <a:rPr lang="fr-CI" sz="1300" dirty="0">
                <a:solidFill>
                  <a:srgbClr val="1A2E3B"/>
                </a:solidFill>
                <a:latin typeface="Calibri" pitchFamily="34" charset="0"/>
                <a:ea typeface="Calibri" pitchFamily="34" charset="-122"/>
                <a:cs typeface="Calibri" pitchFamily="34" charset="-120"/>
              </a:rPr>
              <a:t>Analyser les données</a:t>
            </a:r>
            <a:endParaRPr lang="fr-CI" sz="1300" dirty="0"/>
          </a:p>
          <a:p>
            <a:pPr marL="342900" indent="-342900">
              <a:buSzPct val="100000"/>
              <a:buChar char="•"/>
            </a:pPr>
            <a:r>
              <a:rPr lang="fr-CI" sz="1300" dirty="0">
                <a:solidFill>
                  <a:srgbClr val="1A2E3B"/>
                </a:solidFill>
                <a:latin typeface="Calibri" pitchFamily="34" charset="0"/>
                <a:ea typeface="Calibri" pitchFamily="34" charset="-122"/>
                <a:cs typeface="Calibri" pitchFamily="34" charset="-120"/>
              </a:rPr>
              <a:t>Produire des prédictions</a:t>
            </a:r>
            <a:endParaRPr lang="fr-CI" sz="1300" dirty="0"/>
          </a:p>
          <a:p>
            <a:pPr marL="342900" indent="-342900">
              <a:buSzPct val="100000"/>
              <a:buChar char="•"/>
            </a:pPr>
            <a:r>
              <a:rPr lang="fr-CI" sz="1300" dirty="0">
                <a:solidFill>
                  <a:srgbClr val="1A2E3B"/>
                </a:solidFill>
                <a:latin typeface="Calibri" pitchFamily="34" charset="0"/>
                <a:ea typeface="Calibri" pitchFamily="34" charset="-122"/>
                <a:cs typeface="Calibri" pitchFamily="34" charset="-120"/>
              </a:rPr>
              <a:t>Soutenir la prise de décision</a:t>
            </a:r>
            <a:endParaRPr lang="fr-CI" sz="1300" dirty="0"/>
          </a:p>
          <a:p>
            <a:pPr algn="just"/>
            <a:endParaRPr lang="fr-CI" sz="1300" dirty="0">
              <a:solidFill>
                <a:srgbClr val="1A2E3B"/>
              </a:solidFill>
              <a:latin typeface="Calibri" pitchFamily="34" charset="0"/>
              <a:ea typeface="Calibri" pitchFamily="34" charset="-122"/>
              <a:cs typeface="Calibri" pitchFamily="34" charset="-120"/>
            </a:endParaRPr>
          </a:p>
          <a:p>
            <a:endParaRPr lang="fr-CI" sz="1400" dirty="0"/>
          </a:p>
          <a:p>
            <a:pPr marL="0" indent="0">
              <a:buNone/>
            </a:pPr>
            <a:endParaRPr lang="fr-CI" sz="1300" noProof="0" dirty="0"/>
          </a:p>
        </p:txBody>
      </p:sp>
      <p:sp>
        <p:nvSpPr>
          <p:cNvPr id="7" name="Text 5"/>
          <p:cNvSpPr/>
          <p:nvPr/>
        </p:nvSpPr>
        <p:spPr>
          <a:xfrm>
            <a:off x="548039" y="3373655"/>
            <a:ext cx="3840480" cy="1234440"/>
          </a:xfrm>
          <a:prstGeom prst="rect">
            <a:avLst/>
          </a:prstGeom>
          <a:noFill/>
          <a:ln/>
        </p:spPr>
        <p:txBody>
          <a:bodyPr wrap="square" rtlCol="0" anchor="ctr"/>
          <a:lstStyle/>
          <a:p>
            <a:pPr marL="342900" indent="-342900">
              <a:buSzPct val="100000"/>
              <a:buChar char="•"/>
            </a:pPr>
            <a:endParaRPr lang="fr-CI" sz="1300" noProof="0" dirty="0"/>
          </a:p>
        </p:txBody>
      </p:sp>
      <p:pic>
        <p:nvPicPr>
          <p:cNvPr id="12" name="Image 0" descr="preencoded.png"/>
          <p:cNvPicPr>
            <a:picLocks noChangeAspect="1"/>
          </p:cNvPicPr>
          <p:nvPr/>
        </p:nvPicPr>
        <p:blipFill>
          <a:blip r:embed="rId3"/>
          <a:stretch>
            <a:fillRect/>
          </a:stretch>
        </p:blipFill>
        <p:spPr>
          <a:xfrm>
            <a:off x="4315968" y="2715768"/>
            <a:ext cx="512064" cy="512064"/>
          </a:xfrm>
          <a:prstGeom prst="rect">
            <a:avLst/>
          </a:prstGeom>
        </p:spPr>
      </p:pic>
      <p:pic>
        <p:nvPicPr>
          <p:cNvPr id="14" name="Image 13">
            <a:extLst>
              <a:ext uri="{FF2B5EF4-FFF2-40B4-BE49-F238E27FC236}">
                <a16:creationId xmlns:a16="http://schemas.microsoft.com/office/drawing/2014/main" id="{63CEE781-E39F-FCB9-3DC2-328ECF0995CE}"/>
              </a:ext>
            </a:extLst>
          </p:cNvPr>
          <p:cNvPicPr>
            <a:picLocks noChangeAspect="1"/>
          </p:cNvPicPr>
          <p:nvPr/>
        </p:nvPicPr>
        <p:blipFill>
          <a:blip r:embed="rId4"/>
          <a:srcRect t="20585" b="9942"/>
          <a:stretch>
            <a:fillRect/>
          </a:stretch>
        </p:blipFill>
        <p:spPr>
          <a:xfrm>
            <a:off x="5816667" y="1419725"/>
            <a:ext cx="3207017" cy="33351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2D44"/>
          </a:solidFill>
          <a:ln/>
        </p:spPr>
        <p:txBody>
          <a:bodyPr/>
          <a:lstStyle/>
          <a:p>
            <a:endParaRPr lang="fr-CI" noProof="0" dirty="0"/>
          </a:p>
        </p:txBody>
      </p:sp>
      <p:sp>
        <p:nvSpPr>
          <p:cNvPr id="3" name="Text 1"/>
          <p:cNvSpPr/>
          <p:nvPr/>
        </p:nvSpPr>
        <p:spPr>
          <a:xfrm>
            <a:off x="365760" y="91440"/>
            <a:ext cx="8412480" cy="777240"/>
          </a:xfrm>
          <a:prstGeom prst="rect">
            <a:avLst/>
          </a:prstGeom>
          <a:noFill/>
          <a:ln/>
        </p:spPr>
        <p:txBody>
          <a:bodyPr wrap="square" lIns="0" tIns="0" rIns="0" bIns="0" rtlCol="0" anchor="ctr"/>
          <a:lstStyle/>
          <a:p>
            <a:pPr marL="0" indent="0" algn="l">
              <a:buNone/>
            </a:pPr>
            <a:r>
              <a:rPr lang="fr-CI" sz="2800" b="1" noProof="0" dirty="0">
                <a:solidFill>
                  <a:srgbClr val="00A896"/>
                </a:solidFill>
                <a:latin typeface="Calibri" pitchFamily="34" charset="0"/>
                <a:ea typeface="Calibri" pitchFamily="34" charset="-122"/>
                <a:cs typeface="Calibri" pitchFamily="34" charset="-120"/>
              </a:rPr>
              <a:t>PARTIE I : COMPRENDRE LE PROBLÈME</a:t>
            </a:r>
            <a:endParaRPr lang="fr-CI" sz="2800" noProof="0" dirty="0"/>
          </a:p>
        </p:txBody>
      </p:sp>
      <p:sp>
        <p:nvSpPr>
          <p:cNvPr id="4" name="Text 2"/>
          <p:cNvSpPr/>
          <p:nvPr/>
        </p:nvSpPr>
        <p:spPr>
          <a:xfrm>
            <a:off x="365760" y="1051560"/>
            <a:ext cx="8412480" cy="502920"/>
          </a:xfrm>
          <a:prstGeom prst="rect">
            <a:avLst/>
          </a:prstGeom>
          <a:noFill/>
          <a:ln/>
        </p:spPr>
        <p:txBody>
          <a:bodyPr wrap="square" lIns="0" tIns="0" rIns="0" bIns="0" rtlCol="0" anchor="ctr"/>
          <a:lstStyle/>
          <a:p>
            <a:pPr marL="0" indent="0">
              <a:buNone/>
            </a:pPr>
            <a:r>
              <a:rPr lang="fr-CI" sz="2200" b="1" noProof="0" dirty="0">
                <a:solidFill>
                  <a:srgbClr val="0A2D44"/>
                </a:solidFill>
                <a:latin typeface="Cambria" pitchFamily="34" charset="0"/>
                <a:ea typeface="Cambria" pitchFamily="34" charset="-122"/>
                <a:cs typeface="Cambria" pitchFamily="34" charset="-120"/>
              </a:rPr>
              <a:t>Causes Principales de Mortalité Maternelle</a:t>
            </a:r>
            <a:endParaRPr lang="fr-CI" sz="2200" noProof="0" dirty="0"/>
          </a:p>
        </p:txBody>
      </p:sp>
      <p:graphicFrame>
        <p:nvGraphicFramePr>
          <p:cNvPr id="5" name="Chart 0"/>
          <p:cNvGraphicFramePr/>
          <p:nvPr>
            <p:extLst>
              <p:ext uri="{D42A27DB-BD31-4B8C-83A1-F6EECF244321}">
                <p14:modId xmlns:p14="http://schemas.microsoft.com/office/powerpoint/2010/main" val="1718993420"/>
              </p:ext>
            </p:extLst>
          </p:nvPr>
        </p:nvGraphicFramePr>
        <p:xfrm>
          <a:off x="274320" y="1600200"/>
          <a:ext cx="475488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212080" y="1600200"/>
            <a:ext cx="3657600" cy="3200400"/>
          </a:xfrm>
          <a:prstGeom prst="roundRect">
            <a:avLst>
              <a:gd name="adj" fmla="val 3429"/>
            </a:avLst>
          </a:prstGeom>
          <a:solidFill>
            <a:srgbClr val="FFFFFF"/>
          </a:solidFill>
          <a:ln/>
          <a:effectLst>
            <a:outerShdw blurRad="101600" dist="38100" dir="2700000" algn="bl" rotWithShape="0">
              <a:srgbClr val="000000">
                <a:alpha val="12000"/>
              </a:srgbClr>
            </a:outerShdw>
          </a:effectLst>
        </p:spPr>
        <p:txBody>
          <a:bodyPr/>
          <a:lstStyle/>
          <a:p>
            <a:endParaRPr lang="fr-CI" noProof="0" dirty="0"/>
          </a:p>
        </p:txBody>
      </p:sp>
      <p:sp>
        <p:nvSpPr>
          <p:cNvPr id="7" name="Text 4"/>
          <p:cNvSpPr/>
          <p:nvPr/>
        </p:nvSpPr>
        <p:spPr>
          <a:xfrm>
            <a:off x="5394960" y="1691640"/>
            <a:ext cx="3291840" cy="365760"/>
          </a:xfrm>
          <a:prstGeom prst="rect">
            <a:avLst/>
          </a:prstGeom>
          <a:noFill/>
          <a:ln/>
        </p:spPr>
        <p:txBody>
          <a:bodyPr wrap="square" lIns="0" tIns="0" rIns="0" bIns="0" rtlCol="0" anchor="ctr"/>
          <a:lstStyle/>
          <a:p>
            <a:pPr marL="0" indent="0">
              <a:buNone/>
            </a:pPr>
            <a:r>
              <a:rPr lang="fr-CI" sz="1300" b="1" noProof="0" dirty="0">
                <a:solidFill>
                  <a:srgbClr val="6D2E46"/>
                </a:solidFill>
                <a:latin typeface="Calibri" pitchFamily="34" charset="0"/>
                <a:ea typeface="Calibri" pitchFamily="34" charset="-122"/>
                <a:cs typeface="Calibri" pitchFamily="34" charset="-120"/>
              </a:rPr>
              <a:t>Causes Indirectes</a:t>
            </a:r>
            <a:endParaRPr lang="fr-CI" sz="1300" noProof="0" dirty="0"/>
          </a:p>
        </p:txBody>
      </p:sp>
      <p:sp>
        <p:nvSpPr>
          <p:cNvPr id="8" name="Shape 5"/>
          <p:cNvSpPr/>
          <p:nvPr/>
        </p:nvSpPr>
        <p:spPr>
          <a:xfrm>
            <a:off x="5394960" y="2221992"/>
            <a:ext cx="256032" cy="256032"/>
          </a:xfrm>
          <a:prstGeom prst="ellipse">
            <a:avLst/>
          </a:prstGeom>
          <a:solidFill>
            <a:srgbClr val="028090"/>
          </a:solidFill>
          <a:ln/>
        </p:spPr>
        <p:txBody>
          <a:bodyPr/>
          <a:lstStyle/>
          <a:p>
            <a:endParaRPr lang="fr-CI" noProof="0" dirty="0"/>
          </a:p>
        </p:txBody>
      </p:sp>
      <p:sp>
        <p:nvSpPr>
          <p:cNvPr id="9" name="Text 6"/>
          <p:cNvSpPr/>
          <p:nvPr/>
        </p:nvSpPr>
        <p:spPr>
          <a:xfrm>
            <a:off x="5742432" y="2176272"/>
            <a:ext cx="2926080" cy="347472"/>
          </a:xfrm>
          <a:prstGeom prst="rect">
            <a:avLst/>
          </a:prstGeom>
          <a:noFill/>
          <a:ln/>
        </p:spPr>
        <p:txBody>
          <a:bodyPr wrap="square" lIns="0" tIns="0" rIns="0" bIns="0" rtlCol="0" anchor="ctr"/>
          <a:lstStyle/>
          <a:p>
            <a:pPr marL="0" indent="0">
              <a:buNone/>
            </a:pPr>
            <a:r>
              <a:rPr lang="fr-CI" sz="1300" noProof="0" dirty="0">
                <a:solidFill>
                  <a:srgbClr val="1A2E3B"/>
                </a:solidFill>
                <a:latin typeface="Calibri" pitchFamily="34" charset="0"/>
                <a:ea typeface="Calibri" pitchFamily="34" charset="-122"/>
                <a:cs typeface="Calibri" pitchFamily="34" charset="-120"/>
              </a:rPr>
              <a:t>VIH/SIDA</a:t>
            </a:r>
            <a:endParaRPr lang="fr-CI" sz="1300" noProof="0" dirty="0"/>
          </a:p>
        </p:txBody>
      </p:sp>
      <p:sp>
        <p:nvSpPr>
          <p:cNvPr id="10" name="Shape 7"/>
          <p:cNvSpPr/>
          <p:nvPr/>
        </p:nvSpPr>
        <p:spPr>
          <a:xfrm>
            <a:off x="5394960" y="2816352"/>
            <a:ext cx="256032" cy="256032"/>
          </a:xfrm>
          <a:prstGeom prst="ellipse">
            <a:avLst/>
          </a:prstGeom>
          <a:solidFill>
            <a:srgbClr val="00A896"/>
          </a:solidFill>
          <a:ln/>
        </p:spPr>
        <p:txBody>
          <a:bodyPr/>
          <a:lstStyle/>
          <a:p>
            <a:endParaRPr lang="fr-CI" noProof="0" dirty="0"/>
          </a:p>
        </p:txBody>
      </p:sp>
      <p:sp>
        <p:nvSpPr>
          <p:cNvPr id="11" name="Text 8"/>
          <p:cNvSpPr/>
          <p:nvPr/>
        </p:nvSpPr>
        <p:spPr>
          <a:xfrm>
            <a:off x="5742432" y="2770632"/>
            <a:ext cx="2926080" cy="347472"/>
          </a:xfrm>
          <a:prstGeom prst="rect">
            <a:avLst/>
          </a:prstGeom>
          <a:noFill/>
          <a:ln/>
        </p:spPr>
        <p:txBody>
          <a:bodyPr wrap="square" lIns="0" tIns="0" rIns="0" bIns="0" rtlCol="0" anchor="ctr"/>
          <a:lstStyle/>
          <a:p>
            <a:pPr marL="0" indent="0">
              <a:buNone/>
            </a:pPr>
            <a:r>
              <a:rPr lang="fr-CI" sz="1300" noProof="0" dirty="0">
                <a:solidFill>
                  <a:srgbClr val="1A2E3B"/>
                </a:solidFill>
                <a:latin typeface="Calibri" pitchFamily="34" charset="0"/>
                <a:ea typeface="Calibri" pitchFamily="34" charset="-122"/>
                <a:cs typeface="Calibri" pitchFamily="34" charset="-120"/>
              </a:rPr>
              <a:t>Paludisme</a:t>
            </a:r>
            <a:endParaRPr lang="fr-CI" sz="1300" noProof="0" dirty="0"/>
          </a:p>
        </p:txBody>
      </p:sp>
      <p:sp>
        <p:nvSpPr>
          <p:cNvPr id="12" name="Shape 9"/>
          <p:cNvSpPr/>
          <p:nvPr/>
        </p:nvSpPr>
        <p:spPr>
          <a:xfrm>
            <a:off x="5394960" y="3410712"/>
            <a:ext cx="256032" cy="256032"/>
          </a:xfrm>
          <a:prstGeom prst="ellipse">
            <a:avLst/>
          </a:prstGeom>
          <a:solidFill>
            <a:srgbClr val="02C39A"/>
          </a:solidFill>
          <a:ln/>
        </p:spPr>
        <p:txBody>
          <a:bodyPr/>
          <a:lstStyle/>
          <a:p>
            <a:endParaRPr lang="fr-CI" noProof="0" dirty="0"/>
          </a:p>
        </p:txBody>
      </p:sp>
      <p:sp>
        <p:nvSpPr>
          <p:cNvPr id="13" name="Text 10"/>
          <p:cNvSpPr/>
          <p:nvPr/>
        </p:nvSpPr>
        <p:spPr>
          <a:xfrm>
            <a:off x="5742432" y="3364992"/>
            <a:ext cx="2926080" cy="347472"/>
          </a:xfrm>
          <a:prstGeom prst="rect">
            <a:avLst/>
          </a:prstGeom>
          <a:noFill/>
          <a:ln/>
        </p:spPr>
        <p:txBody>
          <a:bodyPr wrap="square" lIns="0" tIns="0" rIns="0" bIns="0" rtlCol="0" anchor="ctr"/>
          <a:lstStyle/>
          <a:p>
            <a:pPr marL="0" indent="0">
              <a:buNone/>
            </a:pPr>
            <a:r>
              <a:rPr lang="fr-CI" sz="1300" noProof="0" dirty="0">
                <a:solidFill>
                  <a:srgbClr val="1A2E3B"/>
                </a:solidFill>
                <a:latin typeface="Calibri" pitchFamily="34" charset="0"/>
                <a:ea typeface="Calibri" pitchFamily="34" charset="-122"/>
                <a:cs typeface="Calibri" pitchFamily="34" charset="-120"/>
              </a:rPr>
              <a:t>Anémie</a:t>
            </a:r>
            <a:endParaRPr lang="fr-CI" sz="1300" noProof="0" dirty="0"/>
          </a:p>
        </p:txBody>
      </p:sp>
      <p:sp>
        <p:nvSpPr>
          <p:cNvPr id="14" name="Shape 11"/>
          <p:cNvSpPr/>
          <p:nvPr/>
        </p:nvSpPr>
        <p:spPr>
          <a:xfrm>
            <a:off x="5394960" y="4005072"/>
            <a:ext cx="256032" cy="256032"/>
          </a:xfrm>
          <a:prstGeom prst="ellipse">
            <a:avLst/>
          </a:prstGeom>
          <a:solidFill>
            <a:srgbClr val="3D5A6B"/>
          </a:solidFill>
          <a:ln/>
        </p:spPr>
        <p:txBody>
          <a:bodyPr/>
          <a:lstStyle/>
          <a:p>
            <a:endParaRPr lang="fr-CI" noProof="0" dirty="0"/>
          </a:p>
        </p:txBody>
      </p:sp>
      <p:sp>
        <p:nvSpPr>
          <p:cNvPr id="15" name="Text 12"/>
          <p:cNvSpPr/>
          <p:nvPr/>
        </p:nvSpPr>
        <p:spPr>
          <a:xfrm>
            <a:off x="5742432" y="3959352"/>
            <a:ext cx="2926080" cy="347472"/>
          </a:xfrm>
          <a:prstGeom prst="rect">
            <a:avLst/>
          </a:prstGeom>
          <a:noFill/>
          <a:ln/>
        </p:spPr>
        <p:txBody>
          <a:bodyPr wrap="square" lIns="0" tIns="0" rIns="0" bIns="0" rtlCol="0" anchor="ctr"/>
          <a:lstStyle/>
          <a:p>
            <a:pPr marL="0" indent="0">
              <a:buNone/>
            </a:pPr>
            <a:r>
              <a:rPr lang="fr-CI" sz="1300" noProof="0" dirty="0">
                <a:solidFill>
                  <a:srgbClr val="1A2E3B"/>
                </a:solidFill>
                <a:latin typeface="Calibri" pitchFamily="34" charset="0"/>
                <a:ea typeface="Calibri" pitchFamily="34" charset="-122"/>
                <a:cs typeface="Calibri" pitchFamily="34" charset="-120"/>
              </a:rPr>
              <a:t>Malnutrition</a:t>
            </a:r>
            <a:endParaRPr lang="fr-CI" sz="130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2D44"/>
          </a:solidFill>
          <a:ln/>
        </p:spPr>
        <p:txBody>
          <a:bodyPr/>
          <a:lstStyle/>
          <a:p>
            <a:endParaRPr lang="fr-CI" noProof="0" dirty="0"/>
          </a:p>
        </p:txBody>
      </p:sp>
      <p:sp>
        <p:nvSpPr>
          <p:cNvPr id="3" name="Text 1"/>
          <p:cNvSpPr/>
          <p:nvPr/>
        </p:nvSpPr>
        <p:spPr>
          <a:xfrm>
            <a:off x="365760" y="91440"/>
            <a:ext cx="8412480" cy="777240"/>
          </a:xfrm>
          <a:prstGeom prst="rect">
            <a:avLst/>
          </a:prstGeom>
          <a:noFill/>
          <a:ln/>
        </p:spPr>
        <p:txBody>
          <a:bodyPr wrap="square" lIns="0" tIns="0" rIns="0" bIns="0" rtlCol="0" anchor="ctr"/>
          <a:lstStyle/>
          <a:p>
            <a:pPr marL="0" indent="0" algn="l">
              <a:buNone/>
            </a:pPr>
            <a:r>
              <a:rPr lang="fr-CI" sz="2800" b="1" noProof="0" dirty="0">
                <a:solidFill>
                  <a:srgbClr val="00A896"/>
                </a:solidFill>
                <a:latin typeface="Calibri" pitchFamily="34" charset="0"/>
                <a:ea typeface="Calibri" pitchFamily="34" charset="-122"/>
                <a:cs typeface="Calibri" pitchFamily="34" charset="-120"/>
              </a:rPr>
              <a:t>PARTIE I : COMPRENDRE LE PROBLÈME</a:t>
            </a:r>
            <a:endParaRPr lang="fr-CI" sz="2800" noProof="0" dirty="0"/>
          </a:p>
        </p:txBody>
      </p:sp>
      <p:sp>
        <p:nvSpPr>
          <p:cNvPr id="4" name="Text 2"/>
          <p:cNvSpPr/>
          <p:nvPr/>
        </p:nvSpPr>
        <p:spPr>
          <a:xfrm>
            <a:off x="365760" y="1051560"/>
            <a:ext cx="8412480" cy="502920"/>
          </a:xfrm>
          <a:prstGeom prst="rect">
            <a:avLst/>
          </a:prstGeom>
          <a:noFill/>
          <a:ln/>
        </p:spPr>
        <p:txBody>
          <a:bodyPr wrap="square" lIns="0" tIns="0" rIns="0" bIns="0" rtlCol="0" anchor="ctr"/>
          <a:lstStyle/>
          <a:p>
            <a:pPr marL="0" indent="0">
              <a:buNone/>
            </a:pPr>
            <a:r>
              <a:rPr lang="fr-CI" sz="2200" b="1" noProof="0" dirty="0">
                <a:solidFill>
                  <a:srgbClr val="0A2D44"/>
                </a:solidFill>
                <a:latin typeface="Cambria" pitchFamily="34" charset="0"/>
                <a:ea typeface="Cambria" pitchFamily="34" charset="-122"/>
                <a:cs typeface="Cambria" pitchFamily="34" charset="-120"/>
              </a:rPr>
              <a:t>Causes Principales de Mortalité Infantile</a:t>
            </a:r>
            <a:endParaRPr lang="fr-CI" sz="2200" noProof="0" dirty="0"/>
          </a:p>
        </p:txBody>
      </p:sp>
      <p:graphicFrame>
        <p:nvGraphicFramePr>
          <p:cNvPr id="5" name="Chart 0"/>
          <p:cNvGraphicFramePr/>
          <p:nvPr/>
        </p:nvGraphicFramePr>
        <p:xfrm>
          <a:off x="274320" y="1600200"/>
          <a:ext cx="8595360" cy="32004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2D44"/>
          </a:solidFill>
          <a:ln/>
        </p:spPr>
        <p:txBody>
          <a:bodyPr/>
          <a:lstStyle/>
          <a:p>
            <a:endParaRPr lang="fr-CI" noProof="0" dirty="0"/>
          </a:p>
        </p:txBody>
      </p:sp>
      <p:sp>
        <p:nvSpPr>
          <p:cNvPr id="3" name="Text 1"/>
          <p:cNvSpPr/>
          <p:nvPr/>
        </p:nvSpPr>
        <p:spPr>
          <a:xfrm>
            <a:off x="365760" y="91440"/>
            <a:ext cx="8412480" cy="777240"/>
          </a:xfrm>
          <a:prstGeom prst="rect">
            <a:avLst/>
          </a:prstGeom>
          <a:noFill/>
          <a:ln/>
        </p:spPr>
        <p:txBody>
          <a:bodyPr wrap="square" lIns="0" tIns="0" rIns="0" bIns="0" rtlCol="0" anchor="ctr"/>
          <a:lstStyle/>
          <a:p>
            <a:pPr marL="0" indent="0" algn="l">
              <a:buNone/>
            </a:pPr>
            <a:r>
              <a:rPr lang="fr-CI" sz="2800" b="1" noProof="0" dirty="0">
                <a:solidFill>
                  <a:srgbClr val="00A896"/>
                </a:solidFill>
                <a:latin typeface="Calibri" pitchFamily="34" charset="0"/>
                <a:ea typeface="Calibri" pitchFamily="34" charset="-122"/>
                <a:cs typeface="Calibri" pitchFamily="34" charset="-120"/>
              </a:rPr>
              <a:t>PARTIE II : APPLICATIONS DE LA DATA SCIENCE</a:t>
            </a:r>
            <a:endParaRPr lang="fr-CI" sz="2800" noProof="0" dirty="0"/>
          </a:p>
        </p:txBody>
      </p:sp>
      <p:sp>
        <p:nvSpPr>
          <p:cNvPr id="4" name="Text 2"/>
          <p:cNvSpPr/>
          <p:nvPr/>
        </p:nvSpPr>
        <p:spPr>
          <a:xfrm>
            <a:off x="365760" y="1051560"/>
            <a:ext cx="8412480" cy="502920"/>
          </a:xfrm>
          <a:prstGeom prst="rect">
            <a:avLst/>
          </a:prstGeom>
          <a:noFill/>
          <a:ln/>
        </p:spPr>
        <p:txBody>
          <a:bodyPr wrap="square" lIns="0" tIns="0" rIns="0" bIns="0" rtlCol="0" anchor="ctr"/>
          <a:lstStyle/>
          <a:p>
            <a:pPr marL="0" indent="0">
              <a:buNone/>
            </a:pPr>
            <a:r>
              <a:rPr lang="fr-CI" sz="2200" b="1" noProof="0" dirty="0">
                <a:solidFill>
                  <a:srgbClr val="0A2D44"/>
                </a:solidFill>
                <a:latin typeface="Cambria" pitchFamily="34" charset="0"/>
                <a:ea typeface="Cambria" pitchFamily="34" charset="-122"/>
                <a:cs typeface="Cambria" pitchFamily="34" charset="-120"/>
              </a:rPr>
              <a:t>Détection Précoce des Grossesses à Risque</a:t>
            </a:r>
            <a:endParaRPr lang="fr-CI" sz="2200" noProof="0" dirty="0"/>
          </a:p>
        </p:txBody>
      </p:sp>
      <p:sp>
        <p:nvSpPr>
          <p:cNvPr id="5" name="Shape 3"/>
          <p:cNvSpPr/>
          <p:nvPr/>
        </p:nvSpPr>
        <p:spPr>
          <a:xfrm>
            <a:off x="320040" y="1645920"/>
            <a:ext cx="4114800" cy="1554480"/>
          </a:xfrm>
          <a:prstGeom prst="roundRect">
            <a:avLst>
              <a:gd name="adj" fmla="val 7059"/>
            </a:avLst>
          </a:prstGeom>
          <a:solidFill>
            <a:srgbClr val="FFFFFF"/>
          </a:solidFill>
          <a:ln/>
          <a:effectLst>
            <a:outerShdw blurRad="101600" dist="38100" dir="2700000" algn="bl" rotWithShape="0">
              <a:srgbClr val="000000">
                <a:alpha val="12000"/>
              </a:srgbClr>
            </a:outerShdw>
          </a:effectLst>
        </p:spPr>
        <p:txBody>
          <a:bodyPr/>
          <a:lstStyle/>
          <a:p>
            <a:endParaRPr lang="fr-CI" noProof="0" dirty="0"/>
          </a:p>
        </p:txBody>
      </p:sp>
      <p:sp>
        <p:nvSpPr>
          <p:cNvPr id="6" name="Text 4"/>
          <p:cNvSpPr/>
          <p:nvPr/>
        </p:nvSpPr>
        <p:spPr>
          <a:xfrm>
            <a:off x="502920" y="1737360"/>
            <a:ext cx="3749040" cy="347472"/>
          </a:xfrm>
          <a:prstGeom prst="rect">
            <a:avLst/>
          </a:prstGeom>
          <a:noFill/>
          <a:ln/>
        </p:spPr>
        <p:txBody>
          <a:bodyPr wrap="square" lIns="0" tIns="0" rIns="0" bIns="0" rtlCol="0" anchor="ctr"/>
          <a:lstStyle/>
          <a:p>
            <a:pPr marL="0" indent="0">
              <a:buNone/>
            </a:pPr>
            <a:r>
              <a:rPr lang="fr-FR" sz="1300" b="1" noProof="0" dirty="0">
                <a:solidFill>
                  <a:srgbClr val="028090"/>
                </a:solidFill>
                <a:latin typeface="Calibri" pitchFamily="34" charset="0"/>
                <a:ea typeface="Calibri" pitchFamily="34" charset="-122"/>
                <a:cs typeface="Calibri" pitchFamily="34" charset="-120"/>
              </a:rPr>
              <a:t>La science des données peut :</a:t>
            </a:r>
            <a:endParaRPr lang="fr-CI" sz="1300" noProof="0" dirty="0"/>
          </a:p>
        </p:txBody>
      </p:sp>
      <p:sp>
        <p:nvSpPr>
          <p:cNvPr id="7" name="Text 5"/>
          <p:cNvSpPr/>
          <p:nvPr/>
        </p:nvSpPr>
        <p:spPr>
          <a:xfrm>
            <a:off x="502920" y="2148840"/>
            <a:ext cx="3749040" cy="914400"/>
          </a:xfrm>
          <a:prstGeom prst="rect">
            <a:avLst/>
          </a:prstGeom>
          <a:noFill/>
          <a:ln/>
        </p:spPr>
        <p:txBody>
          <a:bodyPr wrap="square" rtlCol="0" anchor="ctr"/>
          <a:lstStyle/>
          <a:p>
            <a:pPr marL="342900" indent="-342900">
              <a:buSzPct val="100000"/>
              <a:buChar char="•"/>
            </a:pPr>
            <a:r>
              <a:rPr lang="fr-CI" sz="1200" noProof="0" dirty="0">
                <a:solidFill>
                  <a:srgbClr val="1A2E3B"/>
                </a:solidFill>
                <a:latin typeface="Calibri" pitchFamily="34" charset="0"/>
                <a:ea typeface="Calibri" pitchFamily="34" charset="-122"/>
                <a:cs typeface="Calibri" pitchFamily="34" charset="-120"/>
              </a:rPr>
              <a:t>Identifier les femmes à risque élevé</a:t>
            </a:r>
            <a:endParaRPr lang="fr-CI" sz="1200" noProof="0" dirty="0"/>
          </a:p>
          <a:p>
            <a:pPr marL="342900" indent="-342900">
              <a:buSzPct val="100000"/>
              <a:buChar char="•"/>
            </a:pPr>
            <a:r>
              <a:rPr lang="fr-CI" sz="1200" noProof="0" dirty="0">
                <a:solidFill>
                  <a:srgbClr val="1A2E3B"/>
                </a:solidFill>
                <a:latin typeface="Calibri" pitchFamily="34" charset="0"/>
                <a:ea typeface="Calibri" pitchFamily="34" charset="-122"/>
                <a:cs typeface="Calibri" pitchFamily="34" charset="-120"/>
              </a:rPr>
              <a:t>Détecter les grossesses compliquées</a:t>
            </a:r>
            <a:endParaRPr lang="fr-CI" sz="1200" noProof="0" dirty="0"/>
          </a:p>
          <a:p>
            <a:pPr marL="342900" indent="-342900">
              <a:buSzPct val="100000"/>
              <a:buChar char="•"/>
            </a:pPr>
            <a:r>
              <a:rPr lang="fr-CI" sz="1200" noProof="0" dirty="0">
                <a:solidFill>
                  <a:srgbClr val="1A2E3B"/>
                </a:solidFill>
                <a:latin typeface="Calibri" pitchFamily="34" charset="0"/>
                <a:ea typeface="Calibri" pitchFamily="34" charset="-122"/>
                <a:cs typeface="Calibri" pitchFamily="34" charset="-120"/>
              </a:rPr>
              <a:t>Renforcer le suivi personnalisé</a:t>
            </a:r>
            <a:endParaRPr lang="fr-CI" sz="1200" noProof="0" dirty="0"/>
          </a:p>
        </p:txBody>
      </p:sp>
      <p:sp>
        <p:nvSpPr>
          <p:cNvPr id="8" name="Shape 6"/>
          <p:cNvSpPr/>
          <p:nvPr/>
        </p:nvSpPr>
        <p:spPr>
          <a:xfrm>
            <a:off x="4709160" y="1645920"/>
            <a:ext cx="4114800" cy="1554480"/>
          </a:xfrm>
          <a:prstGeom prst="roundRect">
            <a:avLst>
              <a:gd name="adj" fmla="val 7059"/>
            </a:avLst>
          </a:prstGeom>
          <a:solidFill>
            <a:srgbClr val="FFFFFF"/>
          </a:solidFill>
          <a:ln/>
          <a:effectLst>
            <a:outerShdw blurRad="101600" dist="38100" dir="2700000" algn="bl" rotWithShape="0">
              <a:srgbClr val="000000">
                <a:alpha val="12000"/>
              </a:srgbClr>
            </a:outerShdw>
          </a:effectLst>
        </p:spPr>
        <p:txBody>
          <a:bodyPr/>
          <a:lstStyle/>
          <a:p>
            <a:endParaRPr lang="fr-CI" noProof="0" dirty="0"/>
          </a:p>
        </p:txBody>
      </p:sp>
      <p:sp>
        <p:nvSpPr>
          <p:cNvPr id="9" name="Text 7"/>
          <p:cNvSpPr/>
          <p:nvPr/>
        </p:nvSpPr>
        <p:spPr>
          <a:xfrm>
            <a:off x="4892040" y="1737360"/>
            <a:ext cx="3749040" cy="347472"/>
          </a:xfrm>
          <a:prstGeom prst="rect">
            <a:avLst/>
          </a:prstGeom>
          <a:noFill/>
          <a:ln/>
        </p:spPr>
        <p:txBody>
          <a:bodyPr wrap="square" lIns="0" tIns="0" rIns="0" bIns="0" rtlCol="0" anchor="ctr"/>
          <a:lstStyle/>
          <a:p>
            <a:pPr marL="0" indent="0">
              <a:buNone/>
            </a:pPr>
            <a:r>
              <a:rPr lang="fr-CI" sz="1300" b="1" noProof="0" dirty="0">
                <a:solidFill>
                  <a:srgbClr val="028090"/>
                </a:solidFill>
                <a:latin typeface="Calibri" pitchFamily="34" charset="0"/>
                <a:ea typeface="Calibri" pitchFamily="34" charset="-122"/>
                <a:cs typeface="Calibri" pitchFamily="34" charset="-120"/>
              </a:rPr>
              <a:t>Variables Analysées</a:t>
            </a:r>
            <a:endParaRPr lang="fr-CI" sz="1300" noProof="0" dirty="0"/>
          </a:p>
        </p:txBody>
      </p:sp>
      <p:sp>
        <p:nvSpPr>
          <p:cNvPr id="10" name="Text 8"/>
          <p:cNvSpPr/>
          <p:nvPr/>
        </p:nvSpPr>
        <p:spPr>
          <a:xfrm>
            <a:off x="4892040" y="2148840"/>
            <a:ext cx="3749040" cy="914400"/>
          </a:xfrm>
          <a:prstGeom prst="rect">
            <a:avLst/>
          </a:prstGeom>
          <a:noFill/>
          <a:ln/>
        </p:spPr>
        <p:txBody>
          <a:bodyPr wrap="square" rtlCol="0" anchor="ctr"/>
          <a:lstStyle/>
          <a:p>
            <a:pPr marL="342900" indent="-342900">
              <a:buSzPct val="100000"/>
              <a:buChar char="•"/>
            </a:pPr>
            <a:r>
              <a:rPr lang="fr-CI" sz="1200" noProof="0" dirty="0">
                <a:solidFill>
                  <a:srgbClr val="1A2E3B"/>
                </a:solidFill>
                <a:latin typeface="Calibri" pitchFamily="34" charset="0"/>
                <a:ea typeface="Calibri" pitchFamily="34" charset="-122"/>
                <a:cs typeface="Calibri" pitchFamily="34" charset="-120"/>
              </a:rPr>
              <a:t>Âge et antécédents obstétricaux</a:t>
            </a:r>
            <a:endParaRPr lang="fr-CI" sz="1200" noProof="0" dirty="0"/>
          </a:p>
          <a:p>
            <a:pPr marL="342900" indent="-342900">
              <a:buSzPct val="100000"/>
              <a:buChar char="•"/>
            </a:pPr>
            <a:r>
              <a:rPr lang="fr-CI" sz="1200" noProof="0" dirty="0">
                <a:solidFill>
                  <a:srgbClr val="1A2E3B"/>
                </a:solidFill>
                <a:latin typeface="Calibri" pitchFamily="34" charset="0"/>
                <a:ea typeface="Calibri" pitchFamily="34" charset="-122"/>
                <a:cs typeface="Calibri" pitchFamily="34" charset="-120"/>
              </a:rPr>
              <a:t>Tension artérielle</a:t>
            </a:r>
            <a:endParaRPr lang="fr-CI" sz="1200" noProof="0" dirty="0"/>
          </a:p>
          <a:p>
            <a:pPr marL="342900" indent="-342900">
              <a:buSzPct val="100000"/>
              <a:buChar char="•"/>
            </a:pPr>
            <a:r>
              <a:rPr lang="fr-CI" sz="1200" noProof="0" dirty="0">
                <a:solidFill>
                  <a:srgbClr val="1A2E3B"/>
                </a:solidFill>
                <a:latin typeface="Calibri" pitchFamily="34" charset="0"/>
                <a:ea typeface="Calibri" pitchFamily="34" charset="-122"/>
                <a:cs typeface="Calibri" pitchFamily="34" charset="-120"/>
              </a:rPr>
              <a:t>Nombre de consultations prénatales</a:t>
            </a:r>
            <a:endParaRPr lang="fr-CI" sz="1200" noProof="0" dirty="0"/>
          </a:p>
        </p:txBody>
      </p:sp>
      <p:sp>
        <p:nvSpPr>
          <p:cNvPr id="11" name="Shape 9"/>
          <p:cNvSpPr/>
          <p:nvPr/>
        </p:nvSpPr>
        <p:spPr>
          <a:xfrm>
            <a:off x="320040" y="3291840"/>
            <a:ext cx="8503920" cy="1508760"/>
          </a:xfrm>
          <a:prstGeom prst="roundRect">
            <a:avLst>
              <a:gd name="adj" fmla="val 7273"/>
            </a:avLst>
          </a:prstGeom>
          <a:solidFill>
            <a:srgbClr val="0A2D44"/>
          </a:solidFill>
          <a:ln/>
          <a:effectLst>
            <a:outerShdw blurRad="101600" dist="38100" dir="2700000" algn="bl" rotWithShape="0">
              <a:srgbClr val="000000">
                <a:alpha val="12000"/>
              </a:srgbClr>
            </a:outerShdw>
          </a:effectLst>
        </p:spPr>
        <p:txBody>
          <a:bodyPr/>
          <a:lstStyle/>
          <a:p>
            <a:endParaRPr lang="fr-CI" noProof="0" dirty="0"/>
          </a:p>
        </p:txBody>
      </p:sp>
      <p:sp>
        <p:nvSpPr>
          <p:cNvPr id="12" name="Text 10"/>
          <p:cNvSpPr/>
          <p:nvPr/>
        </p:nvSpPr>
        <p:spPr>
          <a:xfrm>
            <a:off x="502920" y="3364992"/>
            <a:ext cx="3657600" cy="365760"/>
          </a:xfrm>
          <a:prstGeom prst="rect">
            <a:avLst/>
          </a:prstGeom>
          <a:noFill/>
          <a:ln/>
        </p:spPr>
        <p:txBody>
          <a:bodyPr wrap="square" lIns="0" tIns="0" rIns="0" bIns="0" rtlCol="0" anchor="ctr"/>
          <a:lstStyle/>
          <a:p>
            <a:pPr marL="0" indent="0">
              <a:buNone/>
            </a:pPr>
            <a:r>
              <a:rPr lang="fr-CI" sz="1400" b="1" noProof="0" dirty="0">
                <a:solidFill>
                  <a:srgbClr val="F9A825"/>
                </a:solidFill>
                <a:latin typeface="Calibri" pitchFamily="34" charset="0"/>
                <a:ea typeface="Calibri" pitchFamily="34" charset="-122"/>
                <a:cs typeface="Calibri" pitchFamily="34" charset="-120"/>
              </a:rPr>
              <a:t>💡 Exemple concret</a:t>
            </a:r>
            <a:endParaRPr lang="fr-CI" sz="1400" noProof="0" dirty="0"/>
          </a:p>
        </p:txBody>
      </p:sp>
      <p:sp>
        <p:nvSpPr>
          <p:cNvPr id="13" name="Text 11"/>
          <p:cNvSpPr/>
          <p:nvPr/>
        </p:nvSpPr>
        <p:spPr>
          <a:xfrm>
            <a:off x="502920" y="3749040"/>
            <a:ext cx="8046720" cy="914400"/>
          </a:xfrm>
          <a:prstGeom prst="rect">
            <a:avLst/>
          </a:prstGeom>
          <a:noFill/>
          <a:ln/>
        </p:spPr>
        <p:txBody>
          <a:bodyPr wrap="square" lIns="0" tIns="0" rIns="0" bIns="0" rtlCol="0" anchor="ctr"/>
          <a:lstStyle/>
          <a:p>
            <a:pPr marL="0" indent="0" algn="just">
              <a:buNone/>
            </a:pPr>
            <a:r>
              <a:rPr lang="fr-CI" sz="1600" noProof="0" dirty="0">
                <a:solidFill>
                  <a:srgbClr val="FFFFFF"/>
                </a:solidFill>
                <a:latin typeface="Calibri" pitchFamily="34" charset="0"/>
                <a:ea typeface="Calibri" pitchFamily="34" charset="-122"/>
                <a:cs typeface="Calibri" pitchFamily="34" charset="-120"/>
              </a:rPr>
              <a:t>Une femme présentant plusieurs facteurs de risque combinés (hypertension + antécédent d'hémorragie + faible suivi prénatal) est automatiquement signalée aux équipes de santé pour une prise en charge prioritaire.</a:t>
            </a:r>
            <a:endParaRPr lang="fr-CI" sz="1600" noProof="0" dirty="0"/>
          </a:p>
        </p:txBody>
      </p:sp>
      <p:sp>
        <p:nvSpPr>
          <p:cNvPr id="14" name="Shape 12"/>
          <p:cNvSpPr/>
          <p:nvPr/>
        </p:nvSpPr>
        <p:spPr>
          <a:xfrm>
            <a:off x="4206240" y="1828800"/>
            <a:ext cx="731520" cy="731520"/>
          </a:xfrm>
          <a:prstGeom prst="ellipse">
            <a:avLst/>
          </a:prstGeom>
          <a:solidFill>
            <a:srgbClr val="6D2E46"/>
          </a:solidFill>
          <a:ln/>
          <a:effectLst>
            <a:outerShdw blurRad="101600" dist="38100" dir="2700000" algn="bl" rotWithShape="0">
              <a:srgbClr val="000000">
                <a:alpha val="12000"/>
              </a:srgbClr>
            </a:outerShdw>
          </a:effectLst>
        </p:spPr>
        <p:txBody>
          <a:bodyPr/>
          <a:lstStyle/>
          <a:p>
            <a:endParaRPr lang="fr-CI" noProof="0" dirty="0"/>
          </a:p>
        </p:txBody>
      </p:sp>
      <p:pic>
        <p:nvPicPr>
          <p:cNvPr id="15" name="Image 0" descr="preencoded.png"/>
          <p:cNvPicPr>
            <a:picLocks noChangeAspect="1"/>
          </p:cNvPicPr>
          <p:nvPr/>
        </p:nvPicPr>
        <p:blipFill>
          <a:blip r:embed="rId3"/>
          <a:stretch>
            <a:fillRect/>
          </a:stretch>
        </p:blipFill>
        <p:spPr>
          <a:xfrm>
            <a:off x="4279392" y="1901952"/>
            <a:ext cx="585216" cy="5852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2D44"/>
          </a:solidFill>
          <a:ln/>
        </p:spPr>
        <p:txBody>
          <a:bodyPr/>
          <a:lstStyle/>
          <a:p>
            <a:endParaRPr lang="fr-CI" noProof="0" dirty="0"/>
          </a:p>
        </p:txBody>
      </p:sp>
      <p:sp>
        <p:nvSpPr>
          <p:cNvPr id="3" name="Text 1"/>
          <p:cNvSpPr/>
          <p:nvPr/>
        </p:nvSpPr>
        <p:spPr>
          <a:xfrm>
            <a:off x="365760" y="91440"/>
            <a:ext cx="8412480" cy="777240"/>
          </a:xfrm>
          <a:prstGeom prst="rect">
            <a:avLst/>
          </a:prstGeom>
          <a:noFill/>
          <a:ln/>
        </p:spPr>
        <p:txBody>
          <a:bodyPr wrap="square" lIns="0" tIns="0" rIns="0" bIns="0" rtlCol="0" anchor="ctr"/>
          <a:lstStyle/>
          <a:p>
            <a:pPr marL="0" indent="0" algn="l">
              <a:buNone/>
            </a:pPr>
            <a:r>
              <a:rPr lang="fr-CI" sz="2800" b="1" noProof="0" dirty="0">
                <a:solidFill>
                  <a:srgbClr val="00A896"/>
                </a:solidFill>
                <a:latin typeface="Calibri" pitchFamily="34" charset="0"/>
                <a:ea typeface="Calibri" pitchFamily="34" charset="-122"/>
                <a:cs typeface="Calibri" pitchFamily="34" charset="-120"/>
              </a:rPr>
              <a:t>PARTIE II : APPLICATIONS DE LA DATA SCIENCE</a:t>
            </a:r>
            <a:endParaRPr lang="fr-CI" sz="2800" noProof="0" dirty="0"/>
          </a:p>
        </p:txBody>
      </p:sp>
      <p:sp>
        <p:nvSpPr>
          <p:cNvPr id="4" name="Text 2"/>
          <p:cNvSpPr/>
          <p:nvPr/>
        </p:nvSpPr>
        <p:spPr>
          <a:xfrm>
            <a:off x="365760" y="1051560"/>
            <a:ext cx="8412480" cy="502920"/>
          </a:xfrm>
          <a:prstGeom prst="rect">
            <a:avLst/>
          </a:prstGeom>
          <a:noFill/>
          <a:ln/>
        </p:spPr>
        <p:txBody>
          <a:bodyPr wrap="square" lIns="0" tIns="0" rIns="0" bIns="0" rtlCol="0" anchor="ctr"/>
          <a:lstStyle/>
          <a:p>
            <a:pPr marL="0" indent="0">
              <a:buNone/>
            </a:pPr>
            <a:r>
              <a:rPr lang="fr-CI" sz="2200" b="1" noProof="0" dirty="0">
                <a:solidFill>
                  <a:srgbClr val="0A2D44"/>
                </a:solidFill>
                <a:latin typeface="Cambria" pitchFamily="34" charset="0"/>
                <a:ea typeface="Cambria" pitchFamily="34" charset="-122"/>
                <a:cs typeface="Cambria" pitchFamily="34" charset="-120"/>
              </a:rPr>
              <a:t>Modèles Prédictifs par Intelligence Artificielle</a:t>
            </a:r>
            <a:endParaRPr lang="fr-CI" sz="2200" noProof="0" dirty="0"/>
          </a:p>
        </p:txBody>
      </p:sp>
      <p:sp>
        <p:nvSpPr>
          <p:cNvPr id="5" name="Shape 3"/>
          <p:cNvSpPr/>
          <p:nvPr/>
        </p:nvSpPr>
        <p:spPr>
          <a:xfrm>
            <a:off x="320040" y="1691640"/>
            <a:ext cx="2697480" cy="1920240"/>
          </a:xfrm>
          <a:prstGeom prst="roundRect">
            <a:avLst>
              <a:gd name="adj" fmla="val 5714"/>
            </a:avLst>
          </a:prstGeom>
          <a:solidFill>
            <a:srgbClr val="FFFFFF"/>
          </a:solidFill>
          <a:ln/>
          <a:effectLst>
            <a:outerShdw blurRad="101600" dist="38100" dir="2700000" algn="bl" rotWithShape="0">
              <a:srgbClr val="000000">
                <a:alpha val="12000"/>
              </a:srgbClr>
            </a:outerShdw>
          </a:effectLst>
        </p:spPr>
        <p:txBody>
          <a:bodyPr/>
          <a:lstStyle/>
          <a:p>
            <a:endParaRPr lang="fr-CI" noProof="0" dirty="0"/>
          </a:p>
        </p:txBody>
      </p:sp>
      <p:sp>
        <p:nvSpPr>
          <p:cNvPr id="6" name="Shape 4"/>
          <p:cNvSpPr/>
          <p:nvPr/>
        </p:nvSpPr>
        <p:spPr>
          <a:xfrm>
            <a:off x="1371600" y="1783080"/>
            <a:ext cx="640080" cy="640080"/>
          </a:xfrm>
          <a:prstGeom prst="ellipse">
            <a:avLst/>
          </a:prstGeom>
          <a:solidFill>
            <a:srgbClr val="6D2E46"/>
          </a:solidFill>
          <a:ln/>
          <a:effectLst>
            <a:outerShdw blurRad="101600" dist="38100" dir="2700000" algn="bl" rotWithShape="0">
              <a:srgbClr val="000000">
                <a:alpha val="12000"/>
              </a:srgbClr>
            </a:outerShdw>
          </a:effectLst>
        </p:spPr>
        <p:txBody>
          <a:bodyPr/>
          <a:lstStyle/>
          <a:p>
            <a:endParaRPr lang="fr-CI" noProof="0" dirty="0"/>
          </a:p>
        </p:txBody>
      </p:sp>
      <p:pic>
        <p:nvPicPr>
          <p:cNvPr id="7" name="Image 0" descr="preencoded.png"/>
          <p:cNvPicPr>
            <a:picLocks noChangeAspect="1"/>
          </p:cNvPicPr>
          <p:nvPr/>
        </p:nvPicPr>
        <p:blipFill>
          <a:blip r:embed="rId3"/>
          <a:stretch>
            <a:fillRect/>
          </a:stretch>
        </p:blipFill>
        <p:spPr>
          <a:xfrm>
            <a:off x="1435608" y="1847088"/>
            <a:ext cx="512064" cy="512064"/>
          </a:xfrm>
          <a:prstGeom prst="rect">
            <a:avLst/>
          </a:prstGeom>
        </p:spPr>
      </p:pic>
      <p:sp>
        <p:nvSpPr>
          <p:cNvPr id="8" name="Text 5"/>
          <p:cNvSpPr/>
          <p:nvPr/>
        </p:nvSpPr>
        <p:spPr>
          <a:xfrm>
            <a:off x="320040" y="2542032"/>
            <a:ext cx="2697480" cy="822960"/>
          </a:xfrm>
          <a:prstGeom prst="rect">
            <a:avLst/>
          </a:prstGeom>
          <a:noFill/>
          <a:ln/>
        </p:spPr>
        <p:txBody>
          <a:bodyPr wrap="square" lIns="0" tIns="0" rIns="0" bIns="0" rtlCol="0" anchor="ctr"/>
          <a:lstStyle/>
          <a:p>
            <a:pPr marL="0" indent="0" algn="ctr">
              <a:buNone/>
            </a:pPr>
            <a:r>
              <a:rPr lang="fr-CI" sz="1200" b="1" noProof="0" dirty="0">
                <a:solidFill>
                  <a:srgbClr val="6D2E46"/>
                </a:solidFill>
                <a:latin typeface="Calibri" pitchFamily="34" charset="0"/>
                <a:ea typeface="Calibri" pitchFamily="34" charset="-122"/>
                <a:cs typeface="Calibri" pitchFamily="34" charset="-120"/>
              </a:rPr>
              <a:t>Risque de</a:t>
            </a:r>
            <a:endParaRPr lang="fr-CI" sz="1200" noProof="0" dirty="0"/>
          </a:p>
          <a:p>
            <a:pPr marL="0" indent="0" algn="ctr">
              <a:buNone/>
            </a:pPr>
            <a:r>
              <a:rPr lang="fr-CI" sz="1200" b="1" noProof="0" dirty="0">
                <a:solidFill>
                  <a:srgbClr val="6D2E46"/>
                </a:solidFill>
                <a:latin typeface="Calibri" pitchFamily="34" charset="0"/>
                <a:ea typeface="Calibri" pitchFamily="34" charset="-122"/>
                <a:cs typeface="Calibri" pitchFamily="34" charset="-120"/>
              </a:rPr>
              <a:t>prééclampsie</a:t>
            </a:r>
            <a:endParaRPr lang="fr-CI" sz="1200" noProof="0" dirty="0"/>
          </a:p>
        </p:txBody>
      </p:sp>
      <p:sp>
        <p:nvSpPr>
          <p:cNvPr id="9" name="Shape 6"/>
          <p:cNvSpPr/>
          <p:nvPr/>
        </p:nvSpPr>
        <p:spPr>
          <a:xfrm>
            <a:off x="3264408" y="1691640"/>
            <a:ext cx="2697480" cy="1920240"/>
          </a:xfrm>
          <a:prstGeom prst="roundRect">
            <a:avLst>
              <a:gd name="adj" fmla="val 5714"/>
            </a:avLst>
          </a:prstGeom>
          <a:solidFill>
            <a:srgbClr val="FFFFFF"/>
          </a:solidFill>
          <a:ln/>
          <a:effectLst>
            <a:outerShdw blurRad="101600" dist="38100" dir="2700000" algn="bl" rotWithShape="0">
              <a:srgbClr val="000000">
                <a:alpha val="12000"/>
              </a:srgbClr>
            </a:outerShdw>
          </a:effectLst>
        </p:spPr>
        <p:txBody>
          <a:bodyPr/>
          <a:lstStyle/>
          <a:p>
            <a:endParaRPr lang="fr-CI" noProof="0" dirty="0"/>
          </a:p>
        </p:txBody>
      </p:sp>
      <p:sp>
        <p:nvSpPr>
          <p:cNvPr id="10" name="Shape 7"/>
          <p:cNvSpPr/>
          <p:nvPr/>
        </p:nvSpPr>
        <p:spPr>
          <a:xfrm>
            <a:off x="4315968" y="1783080"/>
            <a:ext cx="640080" cy="640080"/>
          </a:xfrm>
          <a:prstGeom prst="ellipse">
            <a:avLst/>
          </a:prstGeom>
          <a:solidFill>
            <a:srgbClr val="028090"/>
          </a:solidFill>
          <a:ln/>
          <a:effectLst>
            <a:outerShdw blurRad="101600" dist="38100" dir="2700000" algn="bl" rotWithShape="0">
              <a:srgbClr val="000000">
                <a:alpha val="12000"/>
              </a:srgbClr>
            </a:outerShdw>
          </a:effectLst>
        </p:spPr>
        <p:txBody>
          <a:bodyPr/>
          <a:lstStyle/>
          <a:p>
            <a:endParaRPr lang="fr-CI" noProof="0" dirty="0"/>
          </a:p>
        </p:txBody>
      </p:sp>
      <p:pic>
        <p:nvPicPr>
          <p:cNvPr id="11" name="Image 1" descr="preencoded.png"/>
          <p:cNvPicPr>
            <a:picLocks noChangeAspect="1"/>
          </p:cNvPicPr>
          <p:nvPr/>
        </p:nvPicPr>
        <p:blipFill>
          <a:blip r:embed="rId4"/>
          <a:stretch>
            <a:fillRect/>
          </a:stretch>
        </p:blipFill>
        <p:spPr>
          <a:xfrm>
            <a:off x="4379976" y="1847088"/>
            <a:ext cx="512064" cy="512064"/>
          </a:xfrm>
          <a:prstGeom prst="rect">
            <a:avLst/>
          </a:prstGeom>
        </p:spPr>
      </p:pic>
      <p:sp>
        <p:nvSpPr>
          <p:cNvPr id="12" name="Text 8"/>
          <p:cNvSpPr/>
          <p:nvPr/>
        </p:nvSpPr>
        <p:spPr>
          <a:xfrm>
            <a:off x="3264408" y="2542032"/>
            <a:ext cx="2697480" cy="822960"/>
          </a:xfrm>
          <a:prstGeom prst="rect">
            <a:avLst/>
          </a:prstGeom>
          <a:noFill/>
          <a:ln/>
        </p:spPr>
        <p:txBody>
          <a:bodyPr wrap="square" lIns="0" tIns="0" rIns="0" bIns="0" rtlCol="0" anchor="ctr"/>
          <a:lstStyle/>
          <a:p>
            <a:pPr marL="0" indent="0" algn="ctr">
              <a:buNone/>
            </a:pPr>
            <a:r>
              <a:rPr lang="fr-CI" sz="1200" b="1" noProof="0" dirty="0">
                <a:solidFill>
                  <a:srgbClr val="028090"/>
                </a:solidFill>
                <a:latin typeface="Calibri" pitchFamily="34" charset="0"/>
                <a:ea typeface="Calibri" pitchFamily="34" charset="-122"/>
                <a:cs typeface="Calibri" pitchFamily="34" charset="-120"/>
              </a:rPr>
              <a:t>Risque d'accouchement</a:t>
            </a:r>
            <a:endParaRPr lang="fr-CI" sz="1200" noProof="0" dirty="0"/>
          </a:p>
          <a:p>
            <a:pPr marL="0" indent="0" algn="ctr">
              <a:buNone/>
            </a:pPr>
            <a:r>
              <a:rPr lang="fr-CI" sz="1200" b="1" noProof="0" dirty="0">
                <a:solidFill>
                  <a:srgbClr val="028090"/>
                </a:solidFill>
                <a:latin typeface="Calibri" pitchFamily="34" charset="0"/>
                <a:ea typeface="Calibri" pitchFamily="34" charset="-122"/>
                <a:cs typeface="Calibri" pitchFamily="34" charset="-120"/>
              </a:rPr>
              <a:t>prématuré</a:t>
            </a:r>
            <a:endParaRPr lang="fr-CI" sz="1200" noProof="0" dirty="0"/>
          </a:p>
        </p:txBody>
      </p:sp>
      <p:sp>
        <p:nvSpPr>
          <p:cNvPr id="13" name="Shape 9"/>
          <p:cNvSpPr/>
          <p:nvPr/>
        </p:nvSpPr>
        <p:spPr>
          <a:xfrm>
            <a:off x="6208776" y="1691640"/>
            <a:ext cx="2697480" cy="1920240"/>
          </a:xfrm>
          <a:prstGeom prst="roundRect">
            <a:avLst>
              <a:gd name="adj" fmla="val 5714"/>
            </a:avLst>
          </a:prstGeom>
          <a:solidFill>
            <a:srgbClr val="FFFFFF"/>
          </a:solidFill>
          <a:ln/>
          <a:effectLst>
            <a:outerShdw blurRad="101600" dist="38100" dir="2700000" algn="bl" rotWithShape="0">
              <a:srgbClr val="000000">
                <a:alpha val="12000"/>
              </a:srgbClr>
            </a:outerShdw>
          </a:effectLst>
        </p:spPr>
        <p:txBody>
          <a:bodyPr/>
          <a:lstStyle/>
          <a:p>
            <a:endParaRPr lang="fr-CI" noProof="0" dirty="0"/>
          </a:p>
        </p:txBody>
      </p:sp>
      <p:sp>
        <p:nvSpPr>
          <p:cNvPr id="14" name="Shape 10"/>
          <p:cNvSpPr/>
          <p:nvPr/>
        </p:nvSpPr>
        <p:spPr>
          <a:xfrm>
            <a:off x="7260336" y="1783080"/>
            <a:ext cx="640080" cy="640080"/>
          </a:xfrm>
          <a:prstGeom prst="ellipse">
            <a:avLst/>
          </a:prstGeom>
          <a:solidFill>
            <a:srgbClr val="F9A825"/>
          </a:solidFill>
          <a:ln/>
          <a:effectLst>
            <a:outerShdw blurRad="101600" dist="38100" dir="2700000" algn="bl" rotWithShape="0">
              <a:srgbClr val="000000">
                <a:alpha val="12000"/>
              </a:srgbClr>
            </a:outerShdw>
          </a:effectLst>
        </p:spPr>
        <p:txBody>
          <a:bodyPr/>
          <a:lstStyle/>
          <a:p>
            <a:endParaRPr lang="fr-CI" noProof="0" dirty="0"/>
          </a:p>
        </p:txBody>
      </p:sp>
      <p:pic>
        <p:nvPicPr>
          <p:cNvPr id="15" name="Image 2" descr="preencoded.png"/>
          <p:cNvPicPr>
            <a:picLocks noChangeAspect="1"/>
          </p:cNvPicPr>
          <p:nvPr/>
        </p:nvPicPr>
        <p:blipFill>
          <a:blip r:embed="rId5"/>
          <a:stretch>
            <a:fillRect/>
          </a:stretch>
        </p:blipFill>
        <p:spPr>
          <a:xfrm>
            <a:off x="7324344" y="1847088"/>
            <a:ext cx="512064" cy="512064"/>
          </a:xfrm>
          <a:prstGeom prst="rect">
            <a:avLst/>
          </a:prstGeom>
        </p:spPr>
      </p:pic>
      <p:sp>
        <p:nvSpPr>
          <p:cNvPr id="16" name="Text 11"/>
          <p:cNvSpPr/>
          <p:nvPr/>
        </p:nvSpPr>
        <p:spPr>
          <a:xfrm>
            <a:off x="6208776" y="2542032"/>
            <a:ext cx="2697480" cy="822960"/>
          </a:xfrm>
          <a:prstGeom prst="rect">
            <a:avLst/>
          </a:prstGeom>
          <a:noFill/>
          <a:ln/>
        </p:spPr>
        <p:txBody>
          <a:bodyPr wrap="square" lIns="0" tIns="0" rIns="0" bIns="0" rtlCol="0" anchor="ctr"/>
          <a:lstStyle/>
          <a:p>
            <a:pPr marL="0" indent="0" algn="ctr">
              <a:buNone/>
            </a:pPr>
            <a:r>
              <a:rPr lang="fr-CI" sz="1200" b="1" noProof="0" dirty="0">
                <a:solidFill>
                  <a:srgbClr val="F9A825"/>
                </a:solidFill>
                <a:latin typeface="Calibri" pitchFamily="34" charset="0"/>
                <a:ea typeface="Calibri" pitchFamily="34" charset="-122"/>
                <a:cs typeface="Calibri" pitchFamily="34" charset="-120"/>
              </a:rPr>
              <a:t>Risque de décès</a:t>
            </a:r>
            <a:endParaRPr lang="fr-CI" sz="1200" noProof="0" dirty="0"/>
          </a:p>
          <a:p>
            <a:pPr marL="0" indent="0" algn="ctr">
              <a:buNone/>
            </a:pPr>
            <a:r>
              <a:rPr lang="fr-CI" sz="1200" b="1" noProof="0" dirty="0">
                <a:solidFill>
                  <a:srgbClr val="F9A825"/>
                </a:solidFill>
                <a:latin typeface="Calibri" pitchFamily="34" charset="0"/>
                <a:ea typeface="Calibri" pitchFamily="34" charset="-122"/>
                <a:cs typeface="Calibri" pitchFamily="34" charset="-120"/>
              </a:rPr>
              <a:t>maternel</a:t>
            </a:r>
            <a:endParaRPr lang="fr-CI" sz="1200" noProof="0" dirty="0"/>
          </a:p>
        </p:txBody>
      </p:sp>
      <p:sp>
        <p:nvSpPr>
          <p:cNvPr id="17" name="Shape 12"/>
          <p:cNvSpPr/>
          <p:nvPr/>
        </p:nvSpPr>
        <p:spPr>
          <a:xfrm>
            <a:off x="320040" y="3703320"/>
            <a:ext cx="8503920" cy="1143000"/>
          </a:xfrm>
          <a:prstGeom prst="roundRect">
            <a:avLst>
              <a:gd name="adj" fmla="val 9600"/>
            </a:avLst>
          </a:prstGeom>
          <a:solidFill>
            <a:srgbClr val="FFFFFF"/>
          </a:solidFill>
          <a:ln/>
          <a:effectLst>
            <a:outerShdw blurRad="101600" dist="38100" dir="2700000" algn="bl" rotWithShape="0">
              <a:srgbClr val="000000">
                <a:alpha val="12000"/>
              </a:srgbClr>
            </a:outerShdw>
          </a:effectLst>
        </p:spPr>
        <p:txBody>
          <a:bodyPr/>
          <a:lstStyle/>
          <a:p>
            <a:endParaRPr lang="fr-CI" noProof="0" dirty="0"/>
          </a:p>
        </p:txBody>
      </p:sp>
      <p:sp>
        <p:nvSpPr>
          <p:cNvPr id="18" name="Text 13"/>
          <p:cNvSpPr/>
          <p:nvPr/>
        </p:nvSpPr>
        <p:spPr>
          <a:xfrm>
            <a:off x="654998" y="3955983"/>
            <a:ext cx="7449955" cy="576072"/>
          </a:xfrm>
          <a:prstGeom prst="rect">
            <a:avLst/>
          </a:prstGeom>
          <a:noFill/>
          <a:ln/>
        </p:spPr>
        <p:txBody>
          <a:bodyPr wrap="square" lIns="0" tIns="0" rIns="0" bIns="0" rtlCol="0" anchor="ctr"/>
          <a:lstStyle/>
          <a:p>
            <a:pPr algn="just"/>
            <a:r>
              <a:rPr lang="fr-FR" sz="1400" dirty="0">
                <a:solidFill>
                  <a:srgbClr val="1A2E3B"/>
                </a:solidFill>
                <a:latin typeface="Calibri" pitchFamily="34" charset="0"/>
                <a:ea typeface="Calibri" pitchFamily="34" charset="-122"/>
                <a:cs typeface="Calibri" pitchFamily="34" charset="-120"/>
              </a:rPr>
              <a:t>La science des données peut prédire le risque de naissance prématurée en analysant divers facteurs. Cette prédiction permet de mettre en place des mesures préventives et de préparer les équipes médicales pour une prise en charge optimale.</a:t>
            </a:r>
            <a:endParaRPr lang="fr-CI" sz="1400" dirty="0">
              <a:solidFill>
                <a:srgbClr val="1A2E3B"/>
              </a:solidFill>
              <a:latin typeface="Calibri" pitchFamily="34" charset="0"/>
              <a:ea typeface="Calibri" pitchFamily="34" charset="-122"/>
              <a:cs typeface="Calibri" pitchFamily="34" charset="-12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2D44"/>
          </a:solidFill>
          <a:ln/>
        </p:spPr>
        <p:txBody>
          <a:bodyPr/>
          <a:lstStyle/>
          <a:p>
            <a:endParaRPr lang="fr-CI" noProof="0" dirty="0"/>
          </a:p>
        </p:txBody>
      </p:sp>
      <p:sp>
        <p:nvSpPr>
          <p:cNvPr id="3" name="Text 1"/>
          <p:cNvSpPr/>
          <p:nvPr/>
        </p:nvSpPr>
        <p:spPr>
          <a:xfrm>
            <a:off x="365760" y="91440"/>
            <a:ext cx="8412480" cy="777240"/>
          </a:xfrm>
          <a:prstGeom prst="rect">
            <a:avLst/>
          </a:prstGeom>
          <a:noFill/>
          <a:ln/>
        </p:spPr>
        <p:txBody>
          <a:bodyPr wrap="square" lIns="0" tIns="0" rIns="0" bIns="0" rtlCol="0" anchor="ctr"/>
          <a:lstStyle/>
          <a:p>
            <a:pPr marL="0" indent="0" algn="l">
              <a:buNone/>
            </a:pPr>
            <a:r>
              <a:rPr lang="fr-CI" sz="2800" b="1" noProof="0" dirty="0">
                <a:solidFill>
                  <a:srgbClr val="00A896"/>
                </a:solidFill>
                <a:latin typeface="Calibri" pitchFamily="34" charset="0"/>
                <a:ea typeface="Calibri" pitchFamily="34" charset="-122"/>
                <a:cs typeface="Calibri" pitchFamily="34" charset="-120"/>
              </a:rPr>
              <a:t>PARTIE II : APPLICATIONS DE LA DATA SCIENCE</a:t>
            </a:r>
            <a:endParaRPr lang="fr-CI" sz="2800" noProof="0" dirty="0"/>
          </a:p>
        </p:txBody>
      </p:sp>
      <p:sp>
        <p:nvSpPr>
          <p:cNvPr id="4" name="Text 2"/>
          <p:cNvSpPr/>
          <p:nvPr/>
        </p:nvSpPr>
        <p:spPr>
          <a:xfrm>
            <a:off x="365760" y="1051560"/>
            <a:ext cx="8412480" cy="502920"/>
          </a:xfrm>
          <a:prstGeom prst="rect">
            <a:avLst/>
          </a:prstGeom>
          <a:noFill/>
          <a:ln/>
        </p:spPr>
        <p:txBody>
          <a:bodyPr wrap="square" lIns="0" tIns="0" rIns="0" bIns="0" rtlCol="0" anchor="ctr"/>
          <a:lstStyle/>
          <a:p>
            <a:pPr marL="0" indent="0">
              <a:buNone/>
            </a:pPr>
            <a:r>
              <a:rPr lang="fr-CI" sz="2200" b="1" noProof="0" dirty="0">
                <a:solidFill>
                  <a:srgbClr val="0A2D44"/>
                </a:solidFill>
                <a:latin typeface="Cambria" pitchFamily="34" charset="0"/>
                <a:ea typeface="Cambria" pitchFamily="34" charset="-122"/>
                <a:cs typeface="Cambria" pitchFamily="34" charset="-120"/>
              </a:rPr>
              <a:t>Cartographie des Zones à Risque</a:t>
            </a:r>
            <a:endParaRPr lang="fr-CI" sz="2200" noProof="0" dirty="0"/>
          </a:p>
        </p:txBody>
      </p:sp>
      <p:sp>
        <p:nvSpPr>
          <p:cNvPr id="5" name="Shape 3"/>
          <p:cNvSpPr/>
          <p:nvPr/>
        </p:nvSpPr>
        <p:spPr>
          <a:xfrm>
            <a:off x="320040" y="1691640"/>
            <a:ext cx="4114800" cy="3108960"/>
          </a:xfrm>
          <a:prstGeom prst="roundRect">
            <a:avLst>
              <a:gd name="adj" fmla="val 3529"/>
            </a:avLst>
          </a:prstGeom>
          <a:solidFill>
            <a:srgbClr val="FFFFFF"/>
          </a:solidFill>
          <a:ln/>
          <a:effectLst>
            <a:outerShdw blurRad="101600" dist="38100" dir="2700000" algn="bl" rotWithShape="0">
              <a:srgbClr val="000000">
                <a:alpha val="12000"/>
              </a:srgbClr>
            </a:outerShdw>
          </a:effectLst>
        </p:spPr>
        <p:txBody>
          <a:bodyPr/>
          <a:lstStyle/>
          <a:p>
            <a:endParaRPr lang="fr-CI" noProof="0" dirty="0"/>
          </a:p>
        </p:txBody>
      </p:sp>
      <p:sp>
        <p:nvSpPr>
          <p:cNvPr id="6" name="Text 4"/>
          <p:cNvSpPr/>
          <p:nvPr/>
        </p:nvSpPr>
        <p:spPr>
          <a:xfrm>
            <a:off x="502920" y="1783080"/>
            <a:ext cx="3749040" cy="384048"/>
          </a:xfrm>
          <a:prstGeom prst="rect">
            <a:avLst/>
          </a:prstGeom>
          <a:noFill/>
          <a:ln/>
        </p:spPr>
        <p:txBody>
          <a:bodyPr wrap="square" lIns="0" tIns="0" rIns="0" bIns="0" rtlCol="0" anchor="ctr"/>
          <a:lstStyle/>
          <a:p>
            <a:pPr marL="0" indent="0">
              <a:buNone/>
            </a:pPr>
            <a:r>
              <a:rPr lang="fr-CI" sz="1300" b="1" noProof="0" dirty="0">
                <a:solidFill>
                  <a:srgbClr val="028090"/>
                </a:solidFill>
                <a:latin typeface="Calibri" pitchFamily="34" charset="0"/>
                <a:ea typeface="Calibri" pitchFamily="34" charset="-122"/>
                <a:cs typeface="Calibri" pitchFamily="34" charset="-120"/>
              </a:rPr>
              <a:t>Science des Données + SIG</a:t>
            </a:r>
            <a:endParaRPr lang="fr-CI" sz="1300" noProof="0" dirty="0"/>
          </a:p>
        </p:txBody>
      </p:sp>
      <p:sp>
        <p:nvSpPr>
          <p:cNvPr id="7" name="Text 5"/>
          <p:cNvSpPr/>
          <p:nvPr/>
        </p:nvSpPr>
        <p:spPr>
          <a:xfrm>
            <a:off x="502920" y="2240280"/>
            <a:ext cx="3749040" cy="640080"/>
          </a:xfrm>
          <a:prstGeom prst="rect">
            <a:avLst/>
          </a:prstGeom>
          <a:noFill/>
          <a:ln/>
        </p:spPr>
        <p:txBody>
          <a:bodyPr wrap="square" lIns="0" tIns="0" rIns="0" bIns="0" rtlCol="0" anchor="ctr"/>
          <a:lstStyle/>
          <a:p>
            <a:pPr marL="0" indent="0">
              <a:buNone/>
            </a:pPr>
            <a:r>
              <a:rPr lang="fr-CI" sz="1400" noProof="0" dirty="0">
                <a:solidFill>
                  <a:srgbClr val="3D5A6B"/>
                </a:solidFill>
                <a:latin typeface="Calibri" pitchFamily="34" charset="0"/>
                <a:ea typeface="Calibri" pitchFamily="34" charset="-122"/>
                <a:cs typeface="Calibri" pitchFamily="34" charset="-120"/>
              </a:rPr>
              <a:t>Les Systèmes d'Information Géographique (SIG) combinés à la data science permettent d'identifier :</a:t>
            </a:r>
            <a:endParaRPr lang="fr-CI" sz="1400" noProof="0" dirty="0"/>
          </a:p>
        </p:txBody>
      </p:sp>
      <p:sp>
        <p:nvSpPr>
          <p:cNvPr id="8" name="Text 6"/>
          <p:cNvSpPr/>
          <p:nvPr/>
        </p:nvSpPr>
        <p:spPr>
          <a:xfrm>
            <a:off x="475488" y="2790725"/>
            <a:ext cx="3959352" cy="1348740"/>
          </a:xfrm>
          <a:prstGeom prst="rect">
            <a:avLst/>
          </a:prstGeom>
          <a:noFill/>
          <a:ln/>
        </p:spPr>
        <p:txBody>
          <a:bodyPr wrap="square" rtlCol="0" anchor="ctr"/>
          <a:lstStyle/>
          <a:p>
            <a:pPr marL="342900" indent="-342900">
              <a:buSzPct val="100000"/>
              <a:buChar char="•"/>
            </a:pPr>
            <a:r>
              <a:rPr lang="fr-CI" sz="1400" noProof="0" dirty="0">
                <a:solidFill>
                  <a:srgbClr val="1A2E3B"/>
                </a:solidFill>
                <a:latin typeface="Calibri" pitchFamily="34" charset="0"/>
                <a:ea typeface="Calibri" pitchFamily="34" charset="-122"/>
                <a:cs typeface="Calibri" pitchFamily="34" charset="-120"/>
              </a:rPr>
              <a:t>Districts à forte mortalité maternelle/infantile</a:t>
            </a:r>
            <a:endParaRPr lang="fr-CI" sz="1400" noProof="0" dirty="0"/>
          </a:p>
          <a:p>
            <a:pPr marL="342900" indent="-342900">
              <a:buSzPct val="100000"/>
              <a:buChar char="•"/>
            </a:pPr>
            <a:r>
              <a:rPr lang="fr-CI" sz="1400" noProof="0" dirty="0">
                <a:solidFill>
                  <a:srgbClr val="1A2E3B"/>
                </a:solidFill>
                <a:latin typeface="Calibri" pitchFamily="34" charset="0"/>
                <a:ea typeface="Calibri" pitchFamily="34" charset="-122"/>
                <a:cs typeface="Calibri" pitchFamily="34" charset="-120"/>
              </a:rPr>
              <a:t>Zones à faible couverture sanitaire</a:t>
            </a:r>
            <a:endParaRPr lang="fr-CI" sz="1400" noProof="0" dirty="0"/>
          </a:p>
          <a:p>
            <a:pPr marL="342900" indent="-342900">
              <a:buSzPct val="100000"/>
              <a:buChar char="•"/>
            </a:pPr>
            <a:r>
              <a:rPr lang="fr-CI" sz="1400" noProof="0" dirty="0">
                <a:solidFill>
                  <a:srgbClr val="1A2E3B"/>
                </a:solidFill>
                <a:latin typeface="Calibri" pitchFamily="34" charset="0"/>
                <a:ea typeface="Calibri" pitchFamily="34" charset="-122"/>
                <a:cs typeface="Calibri" pitchFamily="34" charset="-120"/>
              </a:rPr>
              <a:t>Régions éloignées des structures de santé</a:t>
            </a:r>
            <a:endParaRPr lang="fr-CI" sz="1400" noProof="0" dirty="0"/>
          </a:p>
        </p:txBody>
      </p:sp>
      <p:sp>
        <p:nvSpPr>
          <p:cNvPr id="51" name="Shape 49"/>
          <p:cNvSpPr/>
          <p:nvPr/>
        </p:nvSpPr>
        <p:spPr>
          <a:xfrm>
            <a:off x="347472" y="4206240"/>
            <a:ext cx="685800" cy="685800"/>
          </a:xfrm>
          <a:prstGeom prst="ellipse">
            <a:avLst/>
          </a:prstGeom>
          <a:solidFill>
            <a:srgbClr val="028090"/>
          </a:solidFill>
          <a:ln/>
          <a:effectLst>
            <a:outerShdw blurRad="101600" dist="38100" dir="2700000" algn="bl" rotWithShape="0">
              <a:srgbClr val="000000">
                <a:alpha val="12000"/>
              </a:srgbClr>
            </a:outerShdw>
          </a:effectLst>
        </p:spPr>
        <p:txBody>
          <a:bodyPr/>
          <a:lstStyle/>
          <a:p>
            <a:endParaRPr lang="fr-CI" noProof="0" dirty="0"/>
          </a:p>
        </p:txBody>
      </p:sp>
      <p:pic>
        <p:nvPicPr>
          <p:cNvPr id="52" name="Image 0" descr="preencoded.png"/>
          <p:cNvPicPr>
            <a:picLocks noChangeAspect="1"/>
          </p:cNvPicPr>
          <p:nvPr/>
        </p:nvPicPr>
        <p:blipFill>
          <a:blip r:embed="rId3"/>
          <a:stretch>
            <a:fillRect/>
          </a:stretch>
        </p:blipFill>
        <p:spPr>
          <a:xfrm>
            <a:off x="416052" y="4274820"/>
            <a:ext cx="548640" cy="548640"/>
          </a:xfrm>
          <a:prstGeom prst="rect">
            <a:avLst/>
          </a:prstGeom>
        </p:spPr>
      </p:pic>
      <p:pic>
        <p:nvPicPr>
          <p:cNvPr id="54" name="Image 53">
            <a:extLst>
              <a:ext uri="{FF2B5EF4-FFF2-40B4-BE49-F238E27FC236}">
                <a16:creationId xmlns:a16="http://schemas.microsoft.com/office/drawing/2014/main" id="{CDCF11EB-4FF3-BC86-EADE-A09FE5E28E90}"/>
              </a:ext>
            </a:extLst>
          </p:cNvPr>
          <p:cNvPicPr>
            <a:picLocks noChangeAspect="1"/>
          </p:cNvPicPr>
          <p:nvPr/>
        </p:nvPicPr>
        <p:blipFill>
          <a:blip r:embed="rId4"/>
          <a:stretch>
            <a:fillRect/>
          </a:stretch>
        </p:blipFill>
        <p:spPr>
          <a:xfrm>
            <a:off x="4848384" y="1512970"/>
            <a:ext cx="4085304" cy="328762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2D44"/>
          </a:solidFill>
          <a:ln/>
        </p:spPr>
        <p:txBody>
          <a:bodyPr/>
          <a:lstStyle/>
          <a:p>
            <a:endParaRPr lang="fr-CI" noProof="0" dirty="0"/>
          </a:p>
        </p:txBody>
      </p:sp>
      <p:sp>
        <p:nvSpPr>
          <p:cNvPr id="3" name="Text 1"/>
          <p:cNvSpPr/>
          <p:nvPr/>
        </p:nvSpPr>
        <p:spPr>
          <a:xfrm>
            <a:off x="365760" y="91440"/>
            <a:ext cx="8412480" cy="777240"/>
          </a:xfrm>
          <a:prstGeom prst="rect">
            <a:avLst/>
          </a:prstGeom>
          <a:noFill/>
          <a:ln/>
        </p:spPr>
        <p:txBody>
          <a:bodyPr wrap="square" lIns="0" tIns="0" rIns="0" bIns="0" rtlCol="0" anchor="ctr"/>
          <a:lstStyle/>
          <a:p>
            <a:pPr marL="0" indent="0" algn="l">
              <a:buNone/>
            </a:pPr>
            <a:r>
              <a:rPr lang="fr-CI" sz="2800" b="1" noProof="0" dirty="0">
                <a:solidFill>
                  <a:srgbClr val="00A896"/>
                </a:solidFill>
                <a:latin typeface="Calibri" pitchFamily="34" charset="0"/>
                <a:ea typeface="Calibri" pitchFamily="34" charset="-122"/>
                <a:cs typeface="Calibri" pitchFamily="34" charset="-120"/>
              </a:rPr>
              <a:t>PARTIE II : APPLICATIONS DE LA DATA SCIENCE</a:t>
            </a:r>
            <a:endParaRPr lang="fr-CI" sz="2800" noProof="0" dirty="0"/>
          </a:p>
        </p:txBody>
      </p:sp>
      <p:sp>
        <p:nvSpPr>
          <p:cNvPr id="4" name="Text 2"/>
          <p:cNvSpPr/>
          <p:nvPr/>
        </p:nvSpPr>
        <p:spPr>
          <a:xfrm>
            <a:off x="365760" y="1051560"/>
            <a:ext cx="8412480" cy="502920"/>
          </a:xfrm>
          <a:prstGeom prst="rect">
            <a:avLst/>
          </a:prstGeom>
          <a:noFill/>
          <a:ln/>
        </p:spPr>
        <p:txBody>
          <a:bodyPr wrap="square" lIns="0" tIns="0" rIns="0" bIns="0" rtlCol="0" anchor="ctr"/>
          <a:lstStyle/>
          <a:p>
            <a:pPr marL="0" indent="0">
              <a:buNone/>
            </a:pPr>
            <a:r>
              <a:rPr lang="fr-CI" sz="2200" b="1" noProof="0" dirty="0">
                <a:solidFill>
                  <a:srgbClr val="0A2D44"/>
                </a:solidFill>
                <a:latin typeface="Cambria" pitchFamily="34" charset="0"/>
                <a:ea typeface="Cambria" pitchFamily="34" charset="-122"/>
                <a:cs typeface="Cambria" pitchFamily="34" charset="-120"/>
              </a:rPr>
              <a:t>Amélioration du Suivi Prénatal</a:t>
            </a:r>
            <a:endParaRPr lang="fr-CI" sz="2200" noProof="0" dirty="0"/>
          </a:p>
        </p:txBody>
      </p:sp>
      <p:sp>
        <p:nvSpPr>
          <p:cNvPr id="5" name="Shape 3"/>
          <p:cNvSpPr/>
          <p:nvPr/>
        </p:nvSpPr>
        <p:spPr>
          <a:xfrm>
            <a:off x="274320" y="1691640"/>
            <a:ext cx="1965960" cy="2560320"/>
          </a:xfrm>
          <a:prstGeom prst="roundRect">
            <a:avLst>
              <a:gd name="adj" fmla="val 5581"/>
            </a:avLst>
          </a:prstGeom>
          <a:solidFill>
            <a:srgbClr val="FFFFFF"/>
          </a:solidFill>
          <a:ln/>
          <a:effectLst>
            <a:outerShdw blurRad="101600" dist="38100" dir="2700000" algn="bl" rotWithShape="0">
              <a:srgbClr val="000000">
                <a:alpha val="12000"/>
              </a:srgbClr>
            </a:outerShdw>
          </a:effectLst>
        </p:spPr>
        <p:txBody>
          <a:bodyPr/>
          <a:lstStyle/>
          <a:p>
            <a:endParaRPr lang="fr-CI" noProof="0" dirty="0"/>
          </a:p>
        </p:txBody>
      </p:sp>
      <p:sp>
        <p:nvSpPr>
          <p:cNvPr id="6" name="Shape 4"/>
          <p:cNvSpPr/>
          <p:nvPr/>
        </p:nvSpPr>
        <p:spPr>
          <a:xfrm>
            <a:off x="941832" y="1828800"/>
            <a:ext cx="640080" cy="640080"/>
          </a:xfrm>
          <a:prstGeom prst="ellipse">
            <a:avLst/>
          </a:prstGeom>
          <a:solidFill>
            <a:srgbClr val="028090"/>
          </a:solidFill>
          <a:ln/>
        </p:spPr>
        <p:txBody>
          <a:bodyPr/>
          <a:lstStyle/>
          <a:p>
            <a:endParaRPr lang="fr-CI" noProof="0" dirty="0"/>
          </a:p>
        </p:txBody>
      </p:sp>
      <p:sp>
        <p:nvSpPr>
          <p:cNvPr id="7" name="Text 5"/>
          <p:cNvSpPr/>
          <p:nvPr/>
        </p:nvSpPr>
        <p:spPr>
          <a:xfrm>
            <a:off x="941832" y="1828800"/>
            <a:ext cx="640080" cy="640080"/>
          </a:xfrm>
          <a:prstGeom prst="rect">
            <a:avLst/>
          </a:prstGeom>
          <a:noFill/>
          <a:ln/>
        </p:spPr>
        <p:txBody>
          <a:bodyPr wrap="square" lIns="0" tIns="0" rIns="0" bIns="0" rtlCol="0" anchor="ctr"/>
          <a:lstStyle/>
          <a:p>
            <a:pPr marL="0" indent="0" algn="ctr">
              <a:buNone/>
            </a:pPr>
            <a:r>
              <a:rPr lang="fr-CI" sz="1800" b="1" noProof="0" dirty="0">
                <a:solidFill>
                  <a:srgbClr val="FFFFFF"/>
                </a:solidFill>
                <a:latin typeface="Cambria" pitchFamily="34" charset="0"/>
                <a:ea typeface="Cambria" pitchFamily="34" charset="-122"/>
                <a:cs typeface="Cambria" pitchFamily="34" charset="-120"/>
              </a:rPr>
              <a:t>1</a:t>
            </a:r>
            <a:endParaRPr lang="fr-CI" sz="1800" noProof="0" dirty="0"/>
          </a:p>
        </p:txBody>
      </p:sp>
      <p:sp>
        <p:nvSpPr>
          <p:cNvPr id="8" name="Text 6"/>
          <p:cNvSpPr/>
          <p:nvPr/>
        </p:nvSpPr>
        <p:spPr>
          <a:xfrm>
            <a:off x="274320" y="2606040"/>
            <a:ext cx="1965960" cy="411480"/>
          </a:xfrm>
          <a:prstGeom prst="rect">
            <a:avLst/>
          </a:prstGeom>
          <a:noFill/>
          <a:ln/>
        </p:spPr>
        <p:txBody>
          <a:bodyPr wrap="square" lIns="0" tIns="0" rIns="0" bIns="0" rtlCol="0" anchor="ctr"/>
          <a:lstStyle/>
          <a:p>
            <a:pPr marL="0" indent="0" algn="ctr">
              <a:buNone/>
            </a:pPr>
            <a:r>
              <a:rPr lang="fr-CI" sz="1300" b="1" noProof="0" dirty="0">
                <a:solidFill>
                  <a:srgbClr val="028090"/>
                </a:solidFill>
                <a:latin typeface="Calibri" pitchFamily="34" charset="0"/>
                <a:ea typeface="Calibri" pitchFamily="34" charset="-122"/>
                <a:cs typeface="Calibri" pitchFamily="34" charset="-120"/>
              </a:rPr>
              <a:t>Collecte</a:t>
            </a:r>
            <a:endParaRPr lang="fr-CI" sz="1300" noProof="0" dirty="0"/>
          </a:p>
        </p:txBody>
      </p:sp>
      <p:sp>
        <p:nvSpPr>
          <p:cNvPr id="9" name="Text 7"/>
          <p:cNvSpPr/>
          <p:nvPr/>
        </p:nvSpPr>
        <p:spPr>
          <a:xfrm>
            <a:off x="365760" y="3063240"/>
            <a:ext cx="1783080" cy="914400"/>
          </a:xfrm>
          <a:prstGeom prst="rect">
            <a:avLst/>
          </a:prstGeom>
          <a:noFill/>
          <a:ln/>
        </p:spPr>
        <p:txBody>
          <a:bodyPr wrap="square" lIns="0" tIns="0" rIns="0" bIns="0" rtlCol="0" anchor="ctr"/>
          <a:lstStyle/>
          <a:p>
            <a:pPr marL="0" indent="0" algn="ctr">
              <a:buNone/>
            </a:pPr>
            <a:r>
              <a:rPr lang="fr-CI" sz="1100" noProof="0" dirty="0">
                <a:solidFill>
                  <a:srgbClr val="3D5A6B"/>
                </a:solidFill>
                <a:latin typeface="Calibri" pitchFamily="34" charset="0"/>
                <a:ea typeface="Calibri" pitchFamily="34" charset="-122"/>
                <a:cs typeface="Calibri" pitchFamily="34" charset="-120"/>
              </a:rPr>
              <a:t>Données de consultation enregistrées</a:t>
            </a:r>
            <a:endParaRPr lang="fr-CI" sz="1100" noProof="0" dirty="0"/>
          </a:p>
        </p:txBody>
      </p:sp>
      <p:sp>
        <p:nvSpPr>
          <p:cNvPr id="10" name="Shape 8"/>
          <p:cNvSpPr/>
          <p:nvPr/>
        </p:nvSpPr>
        <p:spPr>
          <a:xfrm>
            <a:off x="2286000" y="2834640"/>
            <a:ext cx="164592" cy="0"/>
          </a:xfrm>
          <a:prstGeom prst="line">
            <a:avLst/>
          </a:prstGeom>
          <a:noFill/>
          <a:ln w="25400">
            <a:solidFill>
              <a:srgbClr val="028090"/>
            </a:solidFill>
            <a:prstDash val="solid"/>
          </a:ln>
        </p:spPr>
        <p:txBody>
          <a:bodyPr/>
          <a:lstStyle/>
          <a:p>
            <a:endParaRPr lang="fr-CI" noProof="0" dirty="0"/>
          </a:p>
        </p:txBody>
      </p:sp>
      <p:sp>
        <p:nvSpPr>
          <p:cNvPr id="11" name="Text 9"/>
          <p:cNvSpPr/>
          <p:nvPr/>
        </p:nvSpPr>
        <p:spPr>
          <a:xfrm>
            <a:off x="2212848" y="2651760"/>
            <a:ext cx="274320" cy="320040"/>
          </a:xfrm>
          <a:prstGeom prst="rect">
            <a:avLst/>
          </a:prstGeom>
          <a:noFill/>
          <a:ln/>
        </p:spPr>
        <p:txBody>
          <a:bodyPr wrap="square" lIns="0" tIns="0" rIns="0" bIns="0" rtlCol="0" anchor="ctr"/>
          <a:lstStyle/>
          <a:p>
            <a:pPr marL="0" indent="0" algn="ctr">
              <a:buNone/>
            </a:pPr>
            <a:r>
              <a:rPr lang="fr-CI" sz="1800" noProof="0" dirty="0">
                <a:solidFill>
                  <a:srgbClr val="028090"/>
                </a:solidFill>
              </a:rPr>
              <a:t>→</a:t>
            </a:r>
            <a:endParaRPr lang="fr-CI" sz="1800" noProof="0" dirty="0"/>
          </a:p>
        </p:txBody>
      </p:sp>
      <p:sp>
        <p:nvSpPr>
          <p:cNvPr id="12" name="Shape 10"/>
          <p:cNvSpPr/>
          <p:nvPr/>
        </p:nvSpPr>
        <p:spPr>
          <a:xfrm>
            <a:off x="2450592" y="1691640"/>
            <a:ext cx="1965960" cy="2560320"/>
          </a:xfrm>
          <a:prstGeom prst="roundRect">
            <a:avLst>
              <a:gd name="adj" fmla="val 5581"/>
            </a:avLst>
          </a:prstGeom>
          <a:solidFill>
            <a:srgbClr val="FFFFFF"/>
          </a:solidFill>
          <a:ln/>
          <a:effectLst>
            <a:outerShdw blurRad="101600" dist="38100" dir="2700000" algn="bl" rotWithShape="0">
              <a:srgbClr val="000000">
                <a:alpha val="12000"/>
              </a:srgbClr>
            </a:outerShdw>
          </a:effectLst>
        </p:spPr>
        <p:txBody>
          <a:bodyPr/>
          <a:lstStyle/>
          <a:p>
            <a:endParaRPr lang="fr-CI" noProof="0" dirty="0"/>
          </a:p>
        </p:txBody>
      </p:sp>
      <p:sp>
        <p:nvSpPr>
          <p:cNvPr id="13" name="Shape 11"/>
          <p:cNvSpPr/>
          <p:nvPr/>
        </p:nvSpPr>
        <p:spPr>
          <a:xfrm>
            <a:off x="3118104" y="1828800"/>
            <a:ext cx="640080" cy="640080"/>
          </a:xfrm>
          <a:prstGeom prst="ellipse">
            <a:avLst/>
          </a:prstGeom>
          <a:solidFill>
            <a:srgbClr val="00A896"/>
          </a:solidFill>
          <a:ln/>
        </p:spPr>
        <p:txBody>
          <a:bodyPr/>
          <a:lstStyle/>
          <a:p>
            <a:endParaRPr lang="fr-CI" noProof="0" dirty="0"/>
          </a:p>
        </p:txBody>
      </p:sp>
      <p:sp>
        <p:nvSpPr>
          <p:cNvPr id="14" name="Text 12"/>
          <p:cNvSpPr/>
          <p:nvPr/>
        </p:nvSpPr>
        <p:spPr>
          <a:xfrm>
            <a:off x="3118104" y="1828800"/>
            <a:ext cx="640080" cy="640080"/>
          </a:xfrm>
          <a:prstGeom prst="rect">
            <a:avLst/>
          </a:prstGeom>
          <a:noFill/>
          <a:ln/>
        </p:spPr>
        <p:txBody>
          <a:bodyPr wrap="square" lIns="0" tIns="0" rIns="0" bIns="0" rtlCol="0" anchor="ctr"/>
          <a:lstStyle/>
          <a:p>
            <a:pPr marL="0" indent="0" algn="ctr">
              <a:buNone/>
            </a:pPr>
            <a:r>
              <a:rPr lang="fr-CI" sz="1800" b="1" noProof="0" dirty="0">
                <a:solidFill>
                  <a:srgbClr val="FFFFFF"/>
                </a:solidFill>
                <a:latin typeface="Cambria" pitchFamily="34" charset="0"/>
                <a:ea typeface="Cambria" pitchFamily="34" charset="-122"/>
                <a:cs typeface="Cambria" pitchFamily="34" charset="-120"/>
              </a:rPr>
              <a:t>2</a:t>
            </a:r>
            <a:endParaRPr lang="fr-CI" sz="1800" noProof="0" dirty="0"/>
          </a:p>
        </p:txBody>
      </p:sp>
      <p:sp>
        <p:nvSpPr>
          <p:cNvPr id="15" name="Text 13"/>
          <p:cNvSpPr/>
          <p:nvPr/>
        </p:nvSpPr>
        <p:spPr>
          <a:xfrm>
            <a:off x="2450592" y="2606040"/>
            <a:ext cx="1965960" cy="411480"/>
          </a:xfrm>
          <a:prstGeom prst="rect">
            <a:avLst/>
          </a:prstGeom>
          <a:noFill/>
          <a:ln/>
        </p:spPr>
        <p:txBody>
          <a:bodyPr wrap="square" lIns="0" tIns="0" rIns="0" bIns="0" rtlCol="0" anchor="ctr"/>
          <a:lstStyle/>
          <a:p>
            <a:pPr marL="0" indent="0" algn="ctr">
              <a:buNone/>
            </a:pPr>
            <a:r>
              <a:rPr lang="fr-CI" sz="1300" b="1" noProof="0" dirty="0">
                <a:solidFill>
                  <a:srgbClr val="00A896"/>
                </a:solidFill>
                <a:latin typeface="Calibri" pitchFamily="34" charset="0"/>
                <a:ea typeface="Calibri" pitchFamily="34" charset="-122"/>
                <a:cs typeface="Calibri" pitchFamily="34" charset="-120"/>
              </a:rPr>
              <a:t>Analyse</a:t>
            </a:r>
            <a:endParaRPr lang="fr-CI" sz="1300" noProof="0" dirty="0"/>
          </a:p>
        </p:txBody>
      </p:sp>
      <p:sp>
        <p:nvSpPr>
          <p:cNvPr id="16" name="Text 14"/>
          <p:cNvSpPr/>
          <p:nvPr/>
        </p:nvSpPr>
        <p:spPr>
          <a:xfrm>
            <a:off x="2542032" y="3063240"/>
            <a:ext cx="1783080" cy="914400"/>
          </a:xfrm>
          <a:prstGeom prst="rect">
            <a:avLst/>
          </a:prstGeom>
          <a:noFill/>
          <a:ln/>
        </p:spPr>
        <p:txBody>
          <a:bodyPr wrap="square" lIns="0" tIns="0" rIns="0" bIns="0" rtlCol="0" anchor="ctr"/>
          <a:lstStyle/>
          <a:p>
            <a:pPr marL="0" indent="0" algn="ctr">
              <a:buNone/>
            </a:pPr>
            <a:r>
              <a:rPr lang="fr-CI" sz="1100" noProof="0" dirty="0">
                <a:solidFill>
                  <a:srgbClr val="3D5A6B"/>
                </a:solidFill>
                <a:latin typeface="Calibri" pitchFamily="34" charset="0"/>
                <a:ea typeface="Calibri" pitchFamily="34" charset="-122"/>
                <a:cs typeface="Calibri" pitchFamily="34" charset="-120"/>
              </a:rPr>
              <a:t>Identification des femmes perdues de vue</a:t>
            </a:r>
            <a:endParaRPr lang="fr-CI" sz="1100" noProof="0" dirty="0"/>
          </a:p>
        </p:txBody>
      </p:sp>
      <p:sp>
        <p:nvSpPr>
          <p:cNvPr id="17" name="Shape 15"/>
          <p:cNvSpPr/>
          <p:nvPr/>
        </p:nvSpPr>
        <p:spPr>
          <a:xfrm>
            <a:off x="4462272" y="2834640"/>
            <a:ext cx="164592" cy="0"/>
          </a:xfrm>
          <a:prstGeom prst="line">
            <a:avLst/>
          </a:prstGeom>
          <a:noFill/>
          <a:ln w="25400">
            <a:solidFill>
              <a:srgbClr val="028090"/>
            </a:solidFill>
            <a:prstDash val="solid"/>
          </a:ln>
        </p:spPr>
        <p:txBody>
          <a:bodyPr/>
          <a:lstStyle/>
          <a:p>
            <a:endParaRPr lang="fr-CI" noProof="0" dirty="0"/>
          </a:p>
        </p:txBody>
      </p:sp>
      <p:sp>
        <p:nvSpPr>
          <p:cNvPr id="18" name="Text 16"/>
          <p:cNvSpPr/>
          <p:nvPr/>
        </p:nvSpPr>
        <p:spPr>
          <a:xfrm>
            <a:off x="4389120" y="2651760"/>
            <a:ext cx="274320" cy="320040"/>
          </a:xfrm>
          <a:prstGeom prst="rect">
            <a:avLst/>
          </a:prstGeom>
          <a:noFill/>
          <a:ln/>
        </p:spPr>
        <p:txBody>
          <a:bodyPr wrap="square" lIns="0" tIns="0" rIns="0" bIns="0" rtlCol="0" anchor="ctr"/>
          <a:lstStyle/>
          <a:p>
            <a:pPr marL="0" indent="0" algn="ctr">
              <a:buNone/>
            </a:pPr>
            <a:r>
              <a:rPr lang="fr-CI" sz="1800" noProof="0" dirty="0">
                <a:solidFill>
                  <a:srgbClr val="028090"/>
                </a:solidFill>
              </a:rPr>
              <a:t>→</a:t>
            </a:r>
            <a:endParaRPr lang="fr-CI" sz="1800" noProof="0" dirty="0"/>
          </a:p>
        </p:txBody>
      </p:sp>
      <p:sp>
        <p:nvSpPr>
          <p:cNvPr id="19" name="Shape 17"/>
          <p:cNvSpPr/>
          <p:nvPr/>
        </p:nvSpPr>
        <p:spPr>
          <a:xfrm>
            <a:off x="4626864" y="1691640"/>
            <a:ext cx="1965960" cy="2560320"/>
          </a:xfrm>
          <a:prstGeom prst="roundRect">
            <a:avLst>
              <a:gd name="adj" fmla="val 5581"/>
            </a:avLst>
          </a:prstGeom>
          <a:solidFill>
            <a:srgbClr val="FFFFFF"/>
          </a:solidFill>
          <a:ln/>
          <a:effectLst>
            <a:outerShdw blurRad="101600" dist="38100" dir="2700000" algn="bl" rotWithShape="0">
              <a:srgbClr val="000000">
                <a:alpha val="12000"/>
              </a:srgbClr>
            </a:outerShdw>
          </a:effectLst>
        </p:spPr>
        <p:txBody>
          <a:bodyPr/>
          <a:lstStyle/>
          <a:p>
            <a:endParaRPr lang="fr-CI" noProof="0" dirty="0"/>
          </a:p>
        </p:txBody>
      </p:sp>
      <p:sp>
        <p:nvSpPr>
          <p:cNvPr id="20" name="Shape 18"/>
          <p:cNvSpPr/>
          <p:nvPr/>
        </p:nvSpPr>
        <p:spPr>
          <a:xfrm>
            <a:off x="5294376" y="1828800"/>
            <a:ext cx="640080" cy="640080"/>
          </a:xfrm>
          <a:prstGeom prst="ellipse">
            <a:avLst/>
          </a:prstGeom>
          <a:solidFill>
            <a:srgbClr val="02C39A"/>
          </a:solidFill>
          <a:ln/>
        </p:spPr>
        <p:txBody>
          <a:bodyPr/>
          <a:lstStyle/>
          <a:p>
            <a:endParaRPr lang="fr-CI" noProof="0" dirty="0"/>
          </a:p>
        </p:txBody>
      </p:sp>
      <p:sp>
        <p:nvSpPr>
          <p:cNvPr id="21" name="Text 19"/>
          <p:cNvSpPr/>
          <p:nvPr/>
        </p:nvSpPr>
        <p:spPr>
          <a:xfrm>
            <a:off x="5294376" y="1828800"/>
            <a:ext cx="640080" cy="640080"/>
          </a:xfrm>
          <a:prstGeom prst="rect">
            <a:avLst/>
          </a:prstGeom>
          <a:noFill/>
          <a:ln/>
        </p:spPr>
        <p:txBody>
          <a:bodyPr wrap="square" lIns="0" tIns="0" rIns="0" bIns="0" rtlCol="0" anchor="ctr"/>
          <a:lstStyle/>
          <a:p>
            <a:pPr marL="0" indent="0" algn="ctr">
              <a:buNone/>
            </a:pPr>
            <a:r>
              <a:rPr lang="fr-CI" sz="1800" b="1" noProof="0" dirty="0">
                <a:solidFill>
                  <a:srgbClr val="FFFFFF"/>
                </a:solidFill>
                <a:latin typeface="Cambria" pitchFamily="34" charset="0"/>
                <a:ea typeface="Cambria" pitchFamily="34" charset="-122"/>
                <a:cs typeface="Cambria" pitchFamily="34" charset="-120"/>
              </a:rPr>
              <a:t>3</a:t>
            </a:r>
            <a:endParaRPr lang="fr-CI" sz="1800" noProof="0" dirty="0"/>
          </a:p>
        </p:txBody>
      </p:sp>
      <p:sp>
        <p:nvSpPr>
          <p:cNvPr id="22" name="Text 20"/>
          <p:cNvSpPr/>
          <p:nvPr/>
        </p:nvSpPr>
        <p:spPr>
          <a:xfrm>
            <a:off x="4626864" y="2606040"/>
            <a:ext cx="1965960" cy="411480"/>
          </a:xfrm>
          <a:prstGeom prst="rect">
            <a:avLst/>
          </a:prstGeom>
          <a:noFill/>
          <a:ln/>
        </p:spPr>
        <p:txBody>
          <a:bodyPr wrap="square" lIns="0" tIns="0" rIns="0" bIns="0" rtlCol="0" anchor="ctr"/>
          <a:lstStyle/>
          <a:p>
            <a:pPr marL="0" indent="0" algn="ctr">
              <a:buNone/>
            </a:pPr>
            <a:r>
              <a:rPr lang="fr-CI" sz="1300" b="1" noProof="0" dirty="0">
                <a:solidFill>
                  <a:srgbClr val="02C39A"/>
                </a:solidFill>
                <a:latin typeface="Calibri" pitchFamily="34" charset="0"/>
                <a:ea typeface="Calibri" pitchFamily="34" charset="-122"/>
                <a:cs typeface="Calibri" pitchFamily="34" charset="-120"/>
              </a:rPr>
              <a:t>Alerte</a:t>
            </a:r>
            <a:endParaRPr lang="fr-CI" sz="1300" noProof="0" dirty="0"/>
          </a:p>
        </p:txBody>
      </p:sp>
      <p:sp>
        <p:nvSpPr>
          <p:cNvPr id="23" name="Text 21"/>
          <p:cNvSpPr/>
          <p:nvPr/>
        </p:nvSpPr>
        <p:spPr>
          <a:xfrm>
            <a:off x="4718304" y="3063240"/>
            <a:ext cx="1783080" cy="914400"/>
          </a:xfrm>
          <a:prstGeom prst="rect">
            <a:avLst/>
          </a:prstGeom>
          <a:noFill/>
          <a:ln/>
        </p:spPr>
        <p:txBody>
          <a:bodyPr wrap="square" lIns="0" tIns="0" rIns="0" bIns="0" rtlCol="0" anchor="ctr"/>
          <a:lstStyle/>
          <a:p>
            <a:pPr marL="0" indent="0" algn="ctr">
              <a:buNone/>
            </a:pPr>
            <a:r>
              <a:rPr lang="fr-CI" sz="1100" noProof="0" dirty="0">
                <a:solidFill>
                  <a:srgbClr val="3D5A6B"/>
                </a:solidFill>
                <a:latin typeface="Calibri" pitchFamily="34" charset="0"/>
                <a:ea typeface="Calibri" pitchFamily="34" charset="-122"/>
                <a:cs typeface="Calibri" pitchFamily="34" charset="-120"/>
              </a:rPr>
              <a:t>Envoi de rappels automatiques</a:t>
            </a:r>
            <a:endParaRPr lang="fr-CI" sz="1100" noProof="0" dirty="0"/>
          </a:p>
        </p:txBody>
      </p:sp>
      <p:sp>
        <p:nvSpPr>
          <p:cNvPr id="24" name="Shape 22"/>
          <p:cNvSpPr/>
          <p:nvPr/>
        </p:nvSpPr>
        <p:spPr>
          <a:xfrm>
            <a:off x="6638544" y="2834640"/>
            <a:ext cx="164592" cy="0"/>
          </a:xfrm>
          <a:prstGeom prst="line">
            <a:avLst/>
          </a:prstGeom>
          <a:noFill/>
          <a:ln w="25400">
            <a:solidFill>
              <a:srgbClr val="028090"/>
            </a:solidFill>
            <a:prstDash val="solid"/>
          </a:ln>
        </p:spPr>
        <p:txBody>
          <a:bodyPr/>
          <a:lstStyle/>
          <a:p>
            <a:endParaRPr lang="fr-CI" noProof="0" dirty="0"/>
          </a:p>
        </p:txBody>
      </p:sp>
      <p:sp>
        <p:nvSpPr>
          <p:cNvPr id="25" name="Text 23"/>
          <p:cNvSpPr/>
          <p:nvPr/>
        </p:nvSpPr>
        <p:spPr>
          <a:xfrm>
            <a:off x="6565392" y="2651760"/>
            <a:ext cx="274320" cy="320040"/>
          </a:xfrm>
          <a:prstGeom prst="rect">
            <a:avLst/>
          </a:prstGeom>
          <a:noFill/>
          <a:ln/>
        </p:spPr>
        <p:txBody>
          <a:bodyPr wrap="square" lIns="0" tIns="0" rIns="0" bIns="0" rtlCol="0" anchor="ctr"/>
          <a:lstStyle/>
          <a:p>
            <a:pPr marL="0" indent="0" algn="ctr">
              <a:buNone/>
            </a:pPr>
            <a:r>
              <a:rPr lang="fr-CI" sz="1800" noProof="0" dirty="0">
                <a:solidFill>
                  <a:srgbClr val="028090"/>
                </a:solidFill>
              </a:rPr>
              <a:t>→</a:t>
            </a:r>
            <a:endParaRPr lang="fr-CI" sz="1800" noProof="0" dirty="0"/>
          </a:p>
        </p:txBody>
      </p:sp>
      <p:sp>
        <p:nvSpPr>
          <p:cNvPr id="26" name="Shape 24"/>
          <p:cNvSpPr/>
          <p:nvPr/>
        </p:nvSpPr>
        <p:spPr>
          <a:xfrm>
            <a:off x="6803136" y="1691640"/>
            <a:ext cx="1965960" cy="2560320"/>
          </a:xfrm>
          <a:prstGeom prst="roundRect">
            <a:avLst>
              <a:gd name="adj" fmla="val 5581"/>
            </a:avLst>
          </a:prstGeom>
          <a:solidFill>
            <a:srgbClr val="FFFFFF"/>
          </a:solidFill>
          <a:ln/>
          <a:effectLst>
            <a:outerShdw blurRad="101600" dist="38100" dir="2700000" algn="bl" rotWithShape="0">
              <a:srgbClr val="000000">
                <a:alpha val="12000"/>
              </a:srgbClr>
            </a:outerShdw>
          </a:effectLst>
        </p:spPr>
        <p:txBody>
          <a:bodyPr/>
          <a:lstStyle/>
          <a:p>
            <a:endParaRPr lang="fr-CI" noProof="0" dirty="0"/>
          </a:p>
        </p:txBody>
      </p:sp>
      <p:sp>
        <p:nvSpPr>
          <p:cNvPr id="27" name="Shape 25"/>
          <p:cNvSpPr/>
          <p:nvPr/>
        </p:nvSpPr>
        <p:spPr>
          <a:xfrm>
            <a:off x="7470648" y="1828800"/>
            <a:ext cx="640080" cy="640080"/>
          </a:xfrm>
          <a:prstGeom prst="ellipse">
            <a:avLst/>
          </a:prstGeom>
          <a:solidFill>
            <a:srgbClr val="F9A825"/>
          </a:solidFill>
          <a:ln/>
        </p:spPr>
        <p:txBody>
          <a:bodyPr/>
          <a:lstStyle/>
          <a:p>
            <a:endParaRPr lang="fr-CI" noProof="0" dirty="0"/>
          </a:p>
        </p:txBody>
      </p:sp>
      <p:sp>
        <p:nvSpPr>
          <p:cNvPr id="28" name="Text 26"/>
          <p:cNvSpPr/>
          <p:nvPr/>
        </p:nvSpPr>
        <p:spPr>
          <a:xfrm>
            <a:off x="7470648" y="1828800"/>
            <a:ext cx="640080" cy="640080"/>
          </a:xfrm>
          <a:prstGeom prst="rect">
            <a:avLst/>
          </a:prstGeom>
          <a:noFill/>
          <a:ln/>
        </p:spPr>
        <p:txBody>
          <a:bodyPr wrap="square" lIns="0" tIns="0" rIns="0" bIns="0" rtlCol="0" anchor="ctr"/>
          <a:lstStyle/>
          <a:p>
            <a:pPr marL="0" indent="0" algn="ctr">
              <a:buNone/>
            </a:pPr>
            <a:r>
              <a:rPr lang="fr-CI" sz="1800" b="1" noProof="0" dirty="0">
                <a:solidFill>
                  <a:srgbClr val="FFFFFF"/>
                </a:solidFill>
                <a:latin typeface="Cambria" pitchFamily="34" charset="0"/>
                <a:ea typeface="Cambria" pitchFamily="34" charset="-122"/>
                <a:cs typeface="Cambria" pitchFamily="34" charset="-120"/>
              </a:rPr>
              <a:t>4</a:t>
            </a:r>
            <a:endParaRPr lang="fr-CI" sz="1800" noProof="0" dirty="0"/>
          </a:p>
        </p:txBody>
      </p:sp>
      <p:sp>
        <p:nvSpPr>
          <p:cNvPr id="29" name="Text 27"/>
          <p:cNvSpPr/>
          <p:nvPr/>
        </p:nvSpPr>
        <p:spPr>
          <a:xfrm>
            <a:off x="6803136" y="2606040"/>
            <a:ext cx="1965960" cy="411480"/>
          </a:xfrm>
          <a:prstGeom prst="rect">
            <a:avLst/>
          </a:prstGeom>
          <a:noFill/>
          <a:ln/>
        </p:spPr>
        <p:txBody>
          <a:bodyPr wrap="square" lIns="0" tIns="0" rIns="0" bIns="0" rtlCol="0" anchor="ctr"/>
          <a:lstStyle/>
          <a:p>
            <a:pPr marL="0" indent="0" algn="ctr">
              <a:buNone/>
            </a:pPr>
            <a:r>
              <a:rPr lang="fr-CI" sz="1300" b="1" noProof="0" dirty="0">
                <a:solidFill>
                  <a:srgbClr val="F9A825"/>
                </a:solidFill>
                <a:latin typeface="Calibri" pitchFamily="34" charset="0"/>
                <a:ea typeface="Calibri" pitchFamily="34" charset="-122"/>
                <a:cs typeface="Calibri" pitchFamily="34" charset="-120"/>
              </a:rPr>
              <a:t>Résultat</a:t>
            </a:r>
            <a:endParaRPr lang="fr-CI" sz="1300" noProof="0" dirty="0"/>
          </a:p>
        </p:txBody>
      </p:sp>
      <p:sp>
        <p:nvSpPr>
          <p:cNvPr id="30" name="Text 28"/>
          <p:cNvSpPr/>
          <p:nvPr/>
        </p:nvSpPr>
        <p:spPr>
          <a:xfrm>
            <a:off x="6894576" y="3063240"/>
            <a:ext cx="1783080" cy="914400"/>
          </a:xfrm>
          <a:prstGeom prst="rect">
            <a:avLst/>
          </a:prstGeom>
          <a:noFill/>
          <a:ln/>
        </p:spPr>
        <p:txBody>
          <a:bodyPr wrap="square" lIns="0" tIns="0" rIns="0" bIns="0" rtlCol="0" anchor="ctr"/>
          <a:lstStyle/>
          <a:p>
            <a:pPr marL="0" indent="0" algn="ctr">
              <a:buNone/>
            </a:pPr>
            <a:r>
              <a:rPr lang="fr-CI" sz="1100" noProof="0" dirty="0">
                <a:solidFill>
                  <a:srgbClr val="3D5A6B"/>
                </a:solidFill>
                <a:latin typeface="Calibri" pitchFamily="34" charset="0"/>
                <a:ea typeface="Calibri" pitchFamily="34" charset="-122"/>
                <a:cs typeface="Calibri" pitchFamily="34" charset="-120"/>
              </a:rPr>
              <a:t>Suivi communautaire renforcé</a:t>
            </a:r>
            <a:endParaRPr lang="fr-CI" sz="1100" noProof="0" dirty="0"/>
          </a:p>
        </p:txBody>
      </p:sp>
      <p:sp>
        <p:nvSpPr>
          <p:cNvPr id="31" name="Shape 29"/>
          <p:cNvSpPr/>
          <p:nvPr/>
        </p:nvSpPr>
        <p:spPr>
          <a:xfrm>
            <a:off x="274320" y="4389120"/>
            <a:ext cx="8595360" cy="548640"/>
          </a:xfrm>
          <a:prstGeom prst="roundRect">
            <a:avLst>
              <a:gd name="adj" fmla="val 20000"/>
            </a:avLst>
          </a:prstGeom>
          <a:solidFill>
            <a:srgbClr val="0A2D44"/>
          </a:solidFill>
          <a:ln/>
          <a:effectLst>
            <a:outerShdw blurRad="101600" dist="38100" dir="2700000" algn="bl" rotWithShape="0">
              <a:srgbClr val="000000">
                <a:alpha val="12000"/>
              </a:srgbClr>
            </a:outerShdw>
          </a:effectLst>
        </p:spPr>
        <p:txBody>
          <a:bodyPr/>
          <a:lstStyle/>
          <a:p>
            <a:endParaRPr lang="fr-CI" noProof="0" dirty="0"/>
          </a:p>
        </p:txBody>
      </p:sp>
      <p:sp>
        <p:nvSpPr>
          <p:cNvPr id="32" name="Text 30"/>
          <p:cNvSpPr/>
          <p:nvPr/>
        </p:nvSpPr>
        <p:spPr>
          <a:xfrm>
            <a:off x="457200" y="4434840"/>
            <a:ext cx="8321040" cy="438912"/>
          </a:xfrm>
          <a:prstGeom prst="rect">
            <a:avLst/>
          </a:prstGeom>
          <a:noFill/>
          <a:ln/>
        </p:spPr>
        <p:txBody>
          <a:bodyPr wrap="square" lIns="0" tIns="0" rIns="0" bIns="0" rtlCol="0" anchor="ctr"/>
          <a:lstStyle/>
          <a:p>
            <a:pPr marL="0" indent="0">
              <a:buNone/>
            </a:pPr>
            <a:r>
              <a:rPr lang="fr-CI" sz="1200" noProof="0" dirty="0">
                <a:solidFill>
                  <a:srgbClr val="02C39A"/>
                </a:solidFill>
                <a:latin typeface="Calibri" pitchFamily="34" charset="0"/>
                <a:ea typeface="Calibri" pitchFamily="34" charset="-122"/>
                <a:cs typeface="Calibri" pitchFamily="34" charset="-120"/>
              </a:rPr>
              <a:t>✓  Résultat : Augmentation significative du nombre de consultations prénatales complètes et réduction de la mortalité</a:t>
            </a:r>
            <a:endParaRPr lang="fr-CI" sz="1200" noProof="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0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2D44"/>
          </a:solidFill>
          <a:ln/>
        </p:spPr>
        <p:txBody>
          <a:bodyPr/>
          <a:lstStyle/>
          <a:p>
            <a:endParaRPr lang="fr-CI" noProof="0" dirty="0"/>
          </a:p>
        </p:txBody>
      </p:sp>
      <p:sp>
        <p:nvSpPr>
          <p:cNvPr id="3" name="Text 1"/>
          <p:cNvSpPr/>
          <p:nvPr/>
        </p:nvSpPr>
        <p:spPr>
          <a:xfrm>
            <a:off x="365760" y="91440"/>
            <a:ext cx="8412480" cy="777240"/>
          </a:xfrm>
          <a:prstGeom prst="rect">
            <a:avLst/>
          </a:prstGeom>
          <a:noFill/>
          <a:ln/>
        </p:spPr>
        <p:txBody>
          <a:bodyPr wrap="square" lIns="0" tIns="0" rIns="0" bIns="0" rtlCol="0" anchor="ctr"/>
          <a:lstStyle/>
          <a:p>
            <a:pPr marL="0" indent="0" algn="l">
              <a:buNone/>
            </a:pPr>
            <a:r>
              <a:rPr lang="fr-CI" sz="2800" b="1" noProof="0" dirty="0">
                <a:solidFill>
                  <a:srgbClr val="00A896"/>
                </a:solidFill>
                <a:latin typeface="Calibri" pitchFamily="34" charset="0"/>
                <a:ea typeface="Calibri" pitchFamily="34" charset="-122"/>
                <a:cs typeface="Calibri" pitchFamily="34" charset="-120"/>
              </a:rPr>
              <a:t>PARTIE IV : DÉFIS</a:t>
            </a:r>
            <a:endParaRPr lang="fr-CI" sz="2800" noProof="0" dirty="0"/>
          </a:p>
        </p:txBody>
      </p:sp>
      <p:sp>
        <p:nvSpPr>
          <p:cNvPr id="4" name="Text 2"/>
          <p:cNvSpPr/>
          <p:nvPr/>
        </p:nvSpPr>
        <p:spPr>
          <a:xfrm>
            <a:off x="365760" y="1051560"/>
            <a:ext cx="8412480" cy="502920"/>
          </a:xfrm>
          <a:prstGeom prst="rect">
            <a:avLst/>
          </a:prstGeom>
          <a:noFill/>
          <a:ln/>
        </p:spPr>
        <p:txBody>
          <a:bodyPr wrap="square" lIns="0" tIns="0" rIns="0" bIns="0" rtlCol="0" anchor="ctr"/>
          <a:lstStyle/>
          <a:p>
            <a:pPr marL="0" indent="0">
              <a:buNone/>
            </a:pPr>
            <a:r>
              <a:rPr lang="fr-CI" sz="2200" b="1" noProof="0" dirty="0">
                <a:solidFill>
                  <a:srgbClr val="0A2D44"/>
                </a:solidFill>
                <a:latin typeface="Cambria" pitchFamily="34" charset="0"/>
                <a:ea typeface="Cambria" pitchFamily="34" charset="-122"/>
                <a:cs typeface="Cambria" pitchFamily="34" charset="-120"/>
              </a:rPr>
              <a:t>Défis de Mise en Œuvre</a:t>
            </a:r>
            <a:endParaRPr lang="fr-CI" sz="2200" noProof="0" dirty="0"/>
          </a:p>
        </p:txBody>
      </p:sp>
      <p:sp>
        <p:nvSpPr>
          <p:cNvPr id="5" name="Shape 3"/>
          <p:cNvSpPr/>
          <p:nvPr/>
        </p:nvSpPr>
        <p:spPr>
          <a:xfrm>
            <a:off x="320040" y="1691640"/>
            <a:ext cx="2697480" cy="3200400"/>
          </a:xfrm>
          <a:prstGeom prst="roundRect">
            <a:avLst>
              <a:gd name="adj" fmla="val 4068"/>
            </a:avLst>
          </a:prstGeom>
          <a:solidFill>
            <a:srgbClr val="FFFFFF"/>
          </a:solidFill>
          <a:ln/>
          <a:effectLst>
            <a:outerShdw blurRad="101600" dist="38100" dir="2700000" algn="bl" rotWithShape="0">
              <a:srgbClr val="000000">
                <a:alpha val="12000"/>
              </a:srgbClr>
            </a:outerShdw>
          </a:effectLst>
        </p:spPr>
        <p:txBody>
          <a:bodyPr/>
          <a:lstStyle/>
          <a:p>
            <a:endParaRPr lang="fr-CI" noProof="0" dirty="0"/>
          </a:p>
        </p:txBody>
      </p:sp>
      <p:sp>
        <p:nvSpPr>
          <p:cNvPr id="6" name="Shape 4"/>
          <p:cNvSpPr/>
          <p:nvPr/>
        </p:nvSpPr>
        <p:spPr>
          <a:xfrm>
            <a:off x="1371600" y="1783080"/>
            <a:ext cx="640080" cy="640080"/>
          </a:xfrm>
          <a:prstGeom prst="ellipse">
            <a:avLst/>
          </a:prstGeom>
          <a:solidFill>
            <a:srgbClr val="028090"/>
          </a:solidFill>
          <a:ln/>
          <a:effectLst>
            <a:outerShdw blurRad="101600" dist="38100" dir="2700000" algn="bl" rotWithShape="0">
              <a:srgbClr val="000000">
                <a:alpha val="12000"/>
              </a:srgbClr>
            </a:outerShdw>
          </a:effectLst>
        </p:spPr>
        <p:txBody>
          <a:bodyPr/>
          <a:lstStyle/>
          <a:p>
            <a:endParaRPr lang="fr-CI" noProof="0" dirty="0"/>
          </a:p>
        </p:txBody>
      </p:sp>
      <p:pic>
        <p:nvPicPr>
          <p:cNvPr id="7" name="Image 0" descr="preencoded.png"/>
          <p:cNvPicPr>
            <a:picLocks noChangeAspect="1"/>
          </p:cNvPicPr>
          <p:nvPr/>
        </p:nvPicPr>
        <p:blipFill>
          <a:blip r:embed="rId3"/>
          <a:stretch>
            <a:fillRect/>
          </a:stretch>
        </p:blipFill>
        <p:spPr>
          <a:xfrm>
            <a:off x="1435608" y="1847088"/>
            <a:ext cx="512064" cy="512064"/>
          </a:xfrm>
          <a:prstGeom prst="rect">
            <a:avLst/>
          </a:prstGeom>
        </p:spPr>
      </p:pic>
      <p:sp>
        <p:nvSpPr>
          <p:cNvPr id="8" name="Text 5"/>
          <p:cNvSpPr/>
          <p:nvPr/>
        </p:nvSpPr>
        <p:spPr>
          <a:xfrm>
            <a:off x="320040" y="2560320"/>
            <a:ext cx="2697480" cy="411480"/>
          </a:xfrm>
          <a:prstGeom prst="rect">
            <a:avLst/>
          </a:prstGeom>
          <a:noFill/>
          <a:ln/>
        </p:spPr>
        <p:txBody>
          <a:bodyPr wrap="square" lIns="0" tIns="0" rIns="0" bIns="0" rtlCol="0" anchor="ctr"/>
          <a:lstStyle/>
          <a:p>
            <a:pPr marL="0" indent="0" algn="ctr">
              <a:buNone/>
            </a:pPr>
            <a:r>
              <a:rPr lang="fr-CI" sz="1200" b="1" noProof="0" dirty="0">
                <a:solidFill>
                  <a:srgbClr val="028090"/>
                </a:solidFill>
                <a:latin typeface="Calibri" pitchFamily="34" charset="0"/>
                <a:ea typeface="Calibri" pitchFamily="34" charset="-122"/>
                <a:cs typeface="Calibri" pitchFamily="34" charset="-120"/>
              </a:rPr>
              <a:t>Défis Techniques</a:t>
            </a:r>
            <a:endParaRPr lang="fr-CI" sz="1200" noProof="0" dirty="0"/>
          </a:p>
        </p:txBody>
      </p:sp>
      <p:sp>
        <p:nvSpPr>
          <p:cNvPr id="9" name="Text 6"/>
          <p:cNvSpPr/>
          <p:nvPr/>
        </p:nvSpPr>
        <p:spPr>
          <a:xfrm>
            <a:off x="457200" y="3035808"/>
            <a:ext cx="2423160" cy="1600200"/>
          </a:xfrm>
          <a:prstGeom prst="rect">
            <a:avLst/>
          </a:prstGeom>
          <a:noFill/>
          <a:ln/>
        </p:spPr>
        <p:txBody>
          <a:bodyPr wrap="square" rtlCol="0" anchor="ctr"/>
          <a:lstStyle/>
          <a:p>
            <a:pPr marL="342900" indent="-342900">
              <a:buSzPct val="100000"/>
              <a:buChar char="•"/>
            </a:pPr>
            <a:r>
              <a:rPr lang="fr-CI" sz="1100" noProof="0" dirty="0">
                <a:solidFill>
                  <a:srgbClr val="1A2E3B"/>
                </a:solidFill>
                <a:latin typeface="Calibri" pitchFamily="34" charset="0"/>
                <a:ea typeface="Calibri" pitchFamily="34" charset="-122"/>
                <a:cs typeface="Calibri" pitchFamily="34" charset="-120"/>
              </a:rPr>
              <a:t>Qualité et exhaustivité des données</a:t>
            </a:r>
            <a:endParaRPr lang="fr-CI" sz="1100" noProof="0" dirty="0"/>
          </a:p>
          <a:p>
            <a:pPr marL="342900" indent="-342900">
              <a:buSzPct val="100000"/>
              <a:buChar char="•"/>
            </a:pPr>
            <a:r>
              <a:rPr lang="fr-CI" sz="1100" noProof="0" dirty="0">
                <a:solidFill>
                  <a:srgbClr val="1A2E3B"/>
                </a:solidFill>
                <a:latin typeface="Calibri" pitchFamily="34" charset="0"/>
                <a:ea typeface="Calibri" pitchFamily="34" charset="-122"/>
                <a:cs typeface="Calibri" pitchFamily="34" charset="-120"/>
              </a:rPr>
              <a:t>Complétude des rapports sanitaires</a:t>
            </a:r>
            <a:endParaRPr lang="fr-CI" sz="1100" noProof="0" dirty="0"/>
          </a:p>
          <a:p>
            <a:pPr marL="342900" indent="-342900">
              <a:buSzPct val="100000"/>
              <a:buChar char="•"/>
            </a:pPr>
            <a:r>
              <a:rPr lang="fr-CI" sz="1100" noProof="0" dirty="0">
                <a:solidFill>
                  <a:srgbClr val="1A2E3B"/>
                </a:solidFill>
                <a:latin typeface="Calibri" pitchFamily="34" charset="0"/>
                <a:ea typeface="Calibri" pitchFamily="34" charset="-122"/>
                <a:cs typeface="Calibri" pitchFamily="34" charset="-120"/>
              </a:rPr>
              <a:t>Connectivité Internet limitée</a:t>
            </a:r>
            <a:endParaRPr lang="fr-CI" sz="1100" noProof="0" dirty="0"/>
          </a:p>
        </p:txBody>
      </p:sp>
      <p:sp>
        <p:nvSpPr>
          <p:cNvPr id="10" name="Shape 7"/>
          <p:cNvSpPr/>
          <p:nvPr/>
        </p:nvSpPr>
        <p:spPr>
          <a:xfrm>
            <a:off x="3264408" y="1691640"/>
            <a:ext cx="2697480" cy="3200400"/>
          </a:xfrm>
          <a:prstGeom prst="roundRect">
            <a:avLst>
              <a:gd name="adj" fmla="val 4068"/>
            </a:avLst>
          </a:prstGeom>
          <a:solidFill>
            <a:srgbClr val="FFFFFF"/>
          </a:solidFill>
          <a:ln/>
          <a:effectLst>
            <a:outerShdw blurRad="101600" dist="38100" dir="2700000" algn="bl" rotWithShape="0">
              <a:srgbClr val="000000">
                <a:alpha val="12000"/>
              </a:srgbClr>
            </a:outerShdw>
          </a:effectLst>
        </p:spPr>
        <p:txBody>
          <a:bodyPr/>
          <a:lstStyle/>
          <a:p>
            <a:endParaRPr lang="fr-CI" noProof="0" dirty="0"/>
          </a:p>
        </p:txBody>
      </p:sp>
      <p:sp>
        <p:nvSpPr>
          <p:cNvPr id="11" name="Shape 8"/>
          <p:cNvSpPr/>
          <p:nvPr/>
        </p:nvSpPr>
        <p:spPr>
          <a:xfrm>
            <a:off x="4315968" y="1783080"/>
            <a:ext cx="640080" cy="640080"/>
          </a:xfrm>
          <a:prstGeom prst="ellipse">
            <a:avLst/>
          </a:prstGeom>
          <a:solidFill>
            <a:srgbClr val="6D2E46"/>
          </a:solidFill>
          <a:ln/>
          <a:effectLst>
            <a:outerShdw blurRad="101600" dist="38100" dir="2700000" algn="bl" rotWithShape="0">
              <a:srgbClr val="000000">
                <a:alpha val="12000"/>
              </a:srgbClr>
            </a:outerShdw>
          </a:effectLst>
        </p:spPr>
        <p:txBody>
          <a:bodyPr/>
          <a:lstStyle/>
          <a:p>
            <a:endParaRPr lang="fr-CI" noProof="0" dirty="0"/>
          </a:p>
        </p:txBody>
      </p:sp>
      <p:pic>
        <p:nvPicPr>
          <p:cNvPr id="12" name="Image 1" descr="preencoded.png"/>
          <p:cNvPicPr>
            <a:picLocks noChangeAspect="1"/>
          </p:cNvPicPr>
          <p:nvPr/>
        </p:nvPicPr>
        <p:blipFill>
          <a:blip r:embed="rId4"/>
          <a:stretch>
            <a:fillRect/>
          </a:stretch>
        </p:blipFill>
        <p:spPr>
          <a:xfrm>
            <a:off x="4379976" y="1847088"/>
            <a:ext cx="512064" cy="512064"/>
          </a:xfrm>
          <a:prstGeom prst="rect">
            <a:avLst/>
          </a:prstGeom>
        </p:spPr>
      </p:pic>
      <p:sp>
        <p:nvSpPr>
          <p:cNvPr id="13" name="Text 9"/>
          <p:cNvSpPr/>
          <p:nvPr/>
        </p:nvSpPr>
        <p:spPr>
          <a:xfrm>
            <a:off x="3264408" y="2560320"/>
            <a:ext cx="2697480" cy="411480"/>
          </a:xfrm>
          <a:prstGeom prst="rect">
            <a:avLst/>
          </a:prstGeom>
          <a:noFill/>
          <a:ln/>
        </p:spPr>
        <p:txBody>
          <a:bodyPr wrap="square" lIns="0" tIns="0" rIns="0" bIns="0" rtlCol="0" anchor="ctr"/>
          <a:lstStyle/>
          <a:p>
            <a:pPr marL="0" indent="0" algn="ctr">
              <a:buNone/>
            </a:pPr>
            <a:r>
              <a:rPr lang="fr-CI" sz="1200" b="1" noProof="0" dirty="0">
                <a:solidFill>
                  <a:srgbClr val="6D2E46"/>
                </a:solidFill>
                <a:latin typeface="Calibri" pitchFamily="34" charset="0"/>
                <a:ea typeface="Calibri" pitchFamily="34" charset="-122"/>
                <a:cs typeface="Calibri" pitchFamily="34" charset="-120"/>
              </a:rPr>
              <a:t>Défis Humains</a:t>
            </a:r>
            <a:endParaRPr lang="fr-CI" sz="1200" noProof="0" dirty="0"/>
          </a:p>
        </p:txBody>
      </p:sp>
      <p:sp>
        <p:nvSpPr>
          <p:cNvPr id="14" name="Text 10"/>
          <p:cNvSpPr/>
          <p:nvPr/>
        </p:nvSpPr>
        <p:spPr>
          <a:xfrm>
            <a:off x="3401568" y="3035808"/>
            <a:ext cx="2423160" cy="1600200"/>
          </a:xfrm>
          <a:prstGeom prst="rect">
            <a:avLst/>
          </a:prstGeom>
          <a:noFill/>
          <a:ln/>
        </p:spPr>
        <p:txBody>
          <a:bodyPr wrap="square" rtlCol="0" anchor="ctr"/>
          <a:lstStyle/>
          <a:p>
            <a:pPr marL="342900" indent="-342900">
              <a:buSzPct val="100000"/>
              <a:buChar char="•"/>
            </a:pPr>
            <a:r>
              <a:rPr lang="fr-CI" sz="1100" noProof="0" dirty="0">
                <a:solidFill>
                  <a:srgbClr val="1A2E3B"/>
                </a:solidFill>
                <a:latin typeface="Calibri" pitchFamily="34" charset="0"/>
                <a:ea typeface="Calibri" pitchFamily="34" charset="-122"/>
                <a:cs typeface="Calibri" pitchFamily="34" charset="-120"/>
              </a:rPr>
              <a:t>Compétences analytiques limitées</a:t>
            </a:r>
            <a:endParaRPr lang="fr-CI" sz="1100" noProof="0" dirty="0"/>
          </a:p>
          <a:p>
            <a:pPr marL="342900" indent="-342900">
              <a:buSzPct val="100000"/>
              <a:buChar char="•"/>
            </a:pPr>
            <a:r>
              <a:rPr lang="fr-CI" sz="1100" noProof="0" dirty="0">
                <a:solidFill>
                  <a:srgbClr val="1A2E3B"/>
                </a:solidFill>
                <a:latin typeface="Calibri" pitchFamily="34" charset="0"/>
                <a:ea typeface="Calibri" pitchFamily="34" charset="-122"/>
                <a:cs typeface="Calibri" pitchFamily="34" charset="-120"/>
              </a:rPr>
              <a:t>Résistance au changement</a:t>
            </a:r>
            <a:endParaRPr lang="fr-CI" sz="1100" noProof="0" dirty="0"/>
          </a:p>
          <a:p>
            <a:pPr marL="342900" indent="-342900">
              <a:buSzPct val="100000"/>
              <a:buChar char="•"/>
            </a:pPr>
            <a:r>
              <a:rPr lang="fr-CI" sz="1100" noProof="0" dirty="0">
                <a:solidFill>
                  <a:srgbClr val="1A2E3B"/>
                </a:solidFill>
                <a:latin typeface="Calibri" pitchFamily="34" charset="0"/>
                <a:ea typeface="Calibri" pitchFamily="34" charset="-122"/>
                <a:cs typeface="Calibri" pitchFamily="34" charset="-120"/>
              </a:rPr>
              <a:t>Formation insuffisante</a:t>
            </a:r>
            <a:endParaRPr lang="fr-CI" sz="1100" noProof="0" dirty="0"/>
          </a:p>
        </p:txBody>
      </p:sp>
      <p:sp>
        <p:nvSpPr>
          <p:cNvPr id="15" name="Shape 11"/>
          <p:cNvSpPr/>
          <p:nvPr/>
        </p:nvSpPr>
        <p:spPr>
          <a:xfrm>
            <a:off x="6208776" y="1691640"/>
            <a:ext cx="2697480" cy="3200400"/>
          </a:xfrm>
          <a:prstGeom prst="roundRect">
            <a:avLst>
              <a:gd name="adj" fmla="val 4068"/>
            </a:avLst>
          </a:prstGeom>
          <a:solidFill>
            <a:srgbClr val="FFFFFF"/>
          </a:solidFill>
          <a:ln/>
          <a:effectLst>
            <a:outerShdw blurRad="101600" dist="38100" dir="2700000" algn="bl" rotWithShape="0">
              <a:srgbClr val="000000">
                <a:alpha val="12000"/>
              </a:srgbClr>
            </a:outerShdw>
          </a:effectLst>
        </p:spPr>
        <p:txBody>
          <a:bodyPr/>
          <a:lstStyle/>
          <a:p>
            <a:endParaRPr lang="fr-CI" noProof="0" dirty="0"/>
          </a:p>
        </p:txBody>
      </p:sp>
      <p:sp>
        <p:nvSpPr>
          <p:cNvPr id="16" name="Shape 12"/>
          <p:cNvSpPr/>
          <p:nvPr/>
        </p:nvSpPr>
        <p:spPr>
          <a:xfrm>
            <a:off x="7260336" y="1783080"/>
            <a:ext cx="640080" cy="640080"/>
          </a:xfrm>
          <a:prstGeom prst="ellipse">
            <a:avLst/>
          </a:prstGeom>
          <a:solidFill>
            <a:srgbClr val="F9A825"/>
          </a:solidFill>
          <a:ln/>
          <a:effectLst>
            <a:outerShdw blurRad="101600" dist="38100" dir="2700000" algn="bl" rotWithShape="0">
              <a:srgbClr val="000000">
                <a:alpha val="12000"/>
              </a:srgbClr>
            </a:outerShdw>
          </a:effectLst>
        </p:spPr>
        <p:txBody>
          <a:bodyPr/>
          <a:lstStyle/>
          <a:p>
            <a:endParaRPr lang="fr-CI" noProof="0" dirty="0"/>
          </a:p>
        </p:txBody>
      </p:sp>
      <p:pic>
        <p:nvPicPr>
          <p:cNvPr id="17" name="Image 2" descr="preencoded.png"/>
          <p:cNvPicPr>
            <a:picLocks noChangeAspect="1"/>
          </p:cNvPicPr>
          <p:nvPr/>
        </p:nvPicPr>
        <p:blipFill>
          <a:blip r:embed="rId5"/>
          <a:stretch>
            <a:fillRect/>
          </a:stretch>
        </p:blipFill>
        <p:spPr>
          <a:xfrm>
            <a:off x="7324344" y="1847088"/>
            <a:ext cx="512064" cy="512064"/>
          </a:xfrm>
          <a:prstGeom prst="rect">
            <a:avLst/>
          </a:prstGeom>
        </p:spPr>
      </p:pic>
      <p:sp>
        <p:nvSpPr>
          <p:cNvPr id="18" name="Text 13"/>
          <p:cNvSpPr/>
          <p:nvPr/>
        </p:nvSpPr>
        <p:spPr>
          <a:xfrm>
            <a:off x="6208776" y="2560320"/>
            <a:ext cx="2697480" cy="411480"/>
          </a:xfrm>
          <a:prstGeom prst="rect">
            <a:avLst/>
          </a:prstGeom>
          <a:noFill/>
          <a:ln/>
        </p:spPr>
        <p:txBody>
          <a:bodyPr wrap="square" lIns="0" tIns="0" rIns="0" bIns="0" rtlCol="0" anchor="ctr"/>
          <a:lstStyle/>
          <a:p>
            <a:pPr marL="0" indent="0" algn="ctr">
              <a:buNone/>
            </a:pPr>
            <a:r>
              <a:rPr lang="fr-CI" sz="1200" b="1" noProof="0" dirty="0">
                <a:solidFill>
                  <a:srgbClr val="F9A825"/>
                </a:solidFill>
                <a:latin typeface="Calibri" pitchFamily="34" charset="0"/>
                <a:ea typeface="Calibri" pitchFamily="34" charset="-122"/>
                <a:cs typeface="Calibri" pitchFamily="34" charset="-120"/>
              </a:rPr>
              <a:t>Défis Éthiques</a:t>
            </a:r>
            <a:endParaRPr lang="fr-CI" sz="1200" noProof="0" dirty="0"/>
          </a:p>
        </p:txBody>
      </p:sp>
      <p:sp>
        <p:nvSpPr>
          <p:cNvPr id="19" name="Text 14"/>
          <p:cNvSpPr/>
          <p:nvPr/>
        </p:nvSpPr>
        <p:spPr>
          <a:xfrm>
            <a:off x="6345936" y="3035808"/>
            <a:ext cx="2423160" cy="1600200"/>
          </a:xfrm>
          <a:prstGeom prst="rect">
            <a:avLst/>
          </a:prstGeom>
          <a:noFill/>
          <a:ln/>
        </p:spPr>
        <p:txBody>
          <a:bodyPr wrap="square" rtlCol="0" anchor="ctr"/>
          <a:lstStyle/>
          <a:p>
            <a:pPr marL="342900" indent="-342900">
              <a:buSzPct val="100000"/>
              <a:buChar char="•"/>
            </a:pPr>
            <a:r>
              <a:rPr lang="fr-CI" sz="1100" noProof="0" dirty="0">
                <a:solidFill>
                  <a:srgbClr val="1A2E3B"/>
                </a:solidFill>
                <a:latin typeface="Calibri" pitchFamily="34" charset="0"/>
                <a:ea typeface="Calibri" pitchFamily="34" charset="-122"/>
                <a:cs typeface="Calibri" pitchFamily="34" charset="-120"/>
              </a:rPr>
              <a:t>Confidentialité des données patients</a:t>
            </a:r>
            <a:endParaRPr lang="fr-CI" sz="1100" noProof="0" dirty="0"/>
          </a:p>
          <a:p>
            <a:pPr marL="342900" indent="-342900">
              <a:buSzPct val="100000"/>
              <a:buChar char="•"/>
            </a:pPr>
            <a:r>
              <a:rPr lang="fr-CI" sz="1100" noProof="0" dirty="0">
                <a:solidFill>
                  <a:srgbClr val="1A2E3B"/>
                </a:solidFill>
                <a:latin typeface="Calibri" pitchFamily="34" charset="0"/>
                <a:ea typeface="Calibri" pitchFamily="34" charset="-122"/>
                <a:cs typeface="Calibri" pitchFamily="34" charset="-120"/>
              </a:rPr>
              <a:t>Protection des données personnelles</a:t>
            </a:r>
            <a:endParaRPr lang="fr-CI" sz="1100" noProof="0" dirty="0"/>
          </a:p>
          <a:p>
            <a:pPr marL="342900" indent="-342900">
              <a:buSzPct val="100000"/>
              <a:buChar char="•"/>
            </a:pPr>
            <a:r>
              <a:rPr lang="fr-CI" sz="1100" noProof="0" dirty="0">
                <a:solidFill>
                  <a:srgbClr val="1A2E3B"/>
                </a:solidFill>
                <a:latin typeface="Calibri" pitchFamily="34" charset="0"/>
                <a:ea typeface="Calibri" pitchFamily="34" charset="-122"/>
                <a:cs typeface="Calibri" pitchFamily="34" charset="-120"/>
              </a:rPr>
              <a:t>Consentement éclairé</a:t>
            </a:r>
            <a:endParaRPr lang="fr-CI" sz="110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0A2D44"/>
        </a:solidFill>
        <a:effectLst/>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028090">
              <a:alpha val="18000"/>
            </a:srgbClr>
          </a:solidFill>
          <a:ln/>
        </p:spPr>
        <p:txBody>
          <a:bodyPr/>
          <a:lstStyle/>
          <a:p>
            <a:endParaRPr lang="fr-CI" noProof="0" dirty="0"/>
          </a:p>
        </p:txBody>
      </p:sp>
      <p:sp>
        <p:nvSpPr>
          <p:cNvPr id="3" name="Shape 1"/>
          <p:cNvSpPr/>
          <p:nvPr/>
        </p:nvSpPr>
        <p:spPr>
          <a:xfrm>
            <a:off x="6858000" y="3200400"/>
            <a:ext cx="4572000" cy="4572000"/>
          </a:xfrm>
          <a:prstGeom prst="ellipse">
            <a:avLst/>
          </a:prstGeom>
          <a:solidFill>
            <a:srgbClr val="00A896">
              <a:alpha val="12000"/>
            </a:srgbClr>
          </a:solidFill>
          <a:ln/>
        </p:spPr>
        <p:txBody>
          <a:bodyPr/>
          <a:lstStyle/>
          <a:p>
            <a:endParaRPr lang="fr-CI" noProof="0" dirty="0"/>
          </a:p>
        </p:txBody>
      </p:sp>
      <p:sp>
        <p:nvSpPr>
          <p:cNvPr id="4" name="Text 2"/>
          <p:cNvSpPr/>
          <p:nvPr/>
        </p:nvSpPr>
        <p:spPr>
          <a:xfrm>
            <a:off x="457200" y="320040"/>
            <a:ext cx="4572000" cy="365760"/>
          </a:xfrm>
          <a:prstGeom prst="rect">
            <a:avLst/>
          </a:prstGeom>
          <a:noFill/>
          <a:ln/>
        </p:spPr>
        <p:txBody>
          <a:bodyPr wrap="square" lIns="0" tIns="0" rIns="0" bIns="0" rtlCol="0" anchor="ctr"/>
          <a:lstStyle/>
          <a:p>
            <a:pPr marL="0" indent="0">
              <a:buNone/>
            </a:pPr>
            <a:r>
              <a:rPr lang="fr-CI" sz="2800" b="1" kern="0" spc="400" noProof="0" dirty="0">
                <a:solidFill>
                  <a:srgbClr val="00A896"/>
                </a:solidFill>
                <a:latin typeface="Calibri" pitchFamily="34" charset="0"/>
                <a:ea typeface="Calibri" pitchFamily="34" charset="-122"/>
                <a:cs typeface="Calibri" pitchFamily="34" charset="-120"/>
              </a:rPr>
              <a:t>CONCLUSION</a:t>
            </a:r>
            <a:endParaRPr lang="fr-CI" sz="2800" noProof="0" dirty="0"/>
          </a:p>
        </p:txBody>
      </p:sp>
      <p:sp>
        <p:nvSpPr>
          <p:cNvPr id="6" name="Text 4"/>
          <p:cNvSpPr/>
          <p:nvPr/>
        </p:nvSpPr>
        <p:spPr>
          <a:xfrm>
            <a:off x="457200" y="1136744"/>
            <a:ext cx="8229600" cy="1091504"/>
          </a:xfrm>
          <a:prstGeom prst="rect">
            <a:avLst/>
          </a:prstGeom>
          <a:noFill/>
          <a:ln/>
        </p:spPr>
        <p:txBody>
          <a:bodyPr wrap="square" lIns="0" tIns="0" rIns="0" bIns="0" rtlCol="0" anchor="ctr"/>
          <a:lstStyle/>
          <a:p>
            <a:pPr marL="0" indent="0">
              <a:buNone/>
            </a:pPr>
            <a:r>
              <a:rPr lang="fr-FR" sz="1600" i="1" noProof="0" dirty="0">
                <a:solidFill>
                  <a:schemeClr val="bg1">
                    <a:lumMod val="95000"/>
                  </a:schemeClr>
                </a:solidFill>
                <a:latin typeface="Calibri" pitchFamily="34" charset="0"/>
                <a:ea typeface="Calibri" pitchFamily="34" charset="-122"/>
                <a:cs typeface="Calibri" pitchFamily="34" charset="-120"/>
              </a:rPr>
              <a:t>La Science des Données offre une opportunité unique de transformer les systèmes de santé. En exploitant efficacement les données collectées dans les établissements de santé, les communautés et les systèmes d'information sanitaire, il devient possible de :</a:t>
            </a:r>
            <a:endParaRPr lang="fr-CI" sz="1600" noProof="0" dirty="0">
              <a:solidFill>
                <a:schemeClr val="bg1">
                  <a:lumMod val="95000"/>
                </a:schemeClr>
              </a:solidFill>
            </a:endParaRPr>
          </a:p>
        </p:txBody>
      </p:sp>
      <p:sp>
        <p:nvSpPr>
          <p:cNvPr id="7" name="Shape 5"/>
          <p:cNvSpPr/>
          <p:nvPr/>
        </p:nvSpPr>
        <p:spPr>
          <a:xfrm>
            <a:off x="457200" y="2420272"/>
            <a:ext cx="292608" cy="292608"/>
          </a:xfrm>
          <a:prstGeom prst="ellipse">
            <a:avLst/>
          </a:prstGeom>
          <a:solidFill>
            <a:srgbClr val="00A896"/>
          </a:solidFill>
          <a:ln/>
        </p:spPr>
        <p:txBody>
          <a:bodyPr/>
          <a:lstStyle/>
          <a:p>
            <a:endParaRPr lang="fr-CI" noProof="0" dirty="0"/>
          </a:p>
        </p:txBody>
      </p:sp>
      <p:sp>
        <p:nvSpPr>
          <p:cNvPr id="8" name="Text 6"/>
          <p:cNvSpPr/>
          <p:nvPr/>
        </p:nvSpPr>
        <p:spPr>
          <a:xfrm>
            <a:off x="457200" y="2420272"/>
            <a:ext cx="292608" cy="292608"/>
          </a:xfrm>
          <a:prstGeom prst="rect">
            <a:avLst/>
          </a:prstGeom>
          <a:noFill/>
          <a:ln/>
        </p:spPr>
        <p:txBody>
          <a:bodyPr wrap="square" lIns="0" tIns="0" rIns="0" bIns="0" rtlCol="0" anchor="ctr"/>
          <a:lstStyle/>
          <a:p>
            <a:pPr marL="0" indent="0" algn="ctr">
              <a:buNone/>
            </a:pPr>
            <a:r>
              <a:rPr lang="fr-CI" sz="1100" noProof="0" dirty="0">
                <a:solidFill>
                  <a:srgbClr val="FFFFFF"/>
                </a:solidFill>
                <a:latin typeface="Calibri" pitchFamily="34" charset="0"/>
                <a:ea typeface="Calibri" pitchFamily="34" charset="-122"/>
                <a:cs typeface="Calibri" pitchFamily="34" charset="-120"/>
              </a:rPr>
              <a:t>✓</a:t>
            </a:r>
            <a:endParaRPr lang="fr-CI" sz="1100" noProof="0" dirty="0"/>
          </a:p>
        </p:txBody>
      </p:sp>
      <p:sp>
        <p:nvSpPr>
          <p:cNvPr id="9" name="Text 7"/>
          <p:cNvSpPr/>
          <p:nvPr/>
        </p:nvSpPr>
        <p:spPr>
          <a:xfrm>
            <a:off x="841248" y="2365408"/>
            <a:ext cx="4114800" cy="384048"/>
          </a:xfrm>
          <a:prstGeom prst="rect">
            <a:avLst/>
          </a:prstGeom>
          <a:noFill/>
          <a:ln/>
        </p:spPr>
        <p:txBody>
          <a:bodyPr wrap="square" lIns="0" tIns="0" rIns="0" bIns="0" rtlCol="0" anchor="ctr"/>
          <a:lstStyle/>
          <a:p>
            <a:pPr marL="0" indent="0">
              <a:buNone/>
            </a:pPr>
            <a:r>
              <a:rPr lang="fr-CI" sz="1300" noProof="0" dirty="0">
                <a:solidFill>
                  <a:srgbClr val="FFFFFF"/>
                </a:solidFill>
                <a:latin typeface="Calibri" pitchFamily="34" charset="0"/>
                <a:ea typeface="Calibri" pitchFamily="34" charset="-122"/>
                <a:cs typeface="Calibri" pitchFamily="34" charset="-120"/>
              </a:rPr>
              <a:t>D'identifier précocement les risques</a:t>
            </a:r>
            <a:endParaRPr lang="fr-CI" sz="1300" noProof="0" dirty="0"/>
          </a:p>
        </p:txBody>
      </p:sp>
      <p:sp>
        <p:nvSpPr>
          <p:cNvPr id="10" name="Shape 8"/>
          <p:cNvSpPr/>
          <p:nvPr/>
        </p:nvSpPr>
        <p:spPr>
          <a:xfrm>
            <a:off x="457200" y="3087784"/>
            <a:ext cx="292608" cy="292608"/>
          </a:xfrm>
          <a:prstGeom prst="ellipse">
            <a:avLst/>
          </a:prstGeom>
          <a:solidFill>
            <a:srgbClr val="02C39A"/>
          </a:solidFill>
          <a:ln/>
        </p:spPr>
        <p:txBody>
          <a:bodyPr/>
          <a:lstStyle/>
          <a:p>
            <a:endParaRPr lang="fr-CI" noProof="0" dirty="0"/>
          </a:p>
        </p:txBody>
      </p:sp>
      <p:sp>
        <p:nvSpPr>
          <p:cNvPr id="11" name="Text 9"/>
          <p:cNvSpPr/>
          <p:nvPr/>
        </p:nvSpPr>
        <p:spPr>
          <a:xfrm>
            <a:off x="457200" y="3087784"/>
            <a:ext cx="292608" cy="292608"/>
          </a:xfrm>
          <a:prstGeom prst="rect">
            <a:avLst/>
          </a:prstGeom>
          <a:noFill/>
          <a:ln/>
        </p:spPr>
        <p:txBody>
          <a:bodyPr wrap="square" lIns="0" tIns="0" rIns="0" bIns="0" rtlCol="0" anchor="ctr"/>
          <a:lstStyle/>
          <a:p>
            <a:pPr marL="0" indent="0" algn="ctr">
              <a:buNone/>
            </a:pPr>
            <a:r>
              <a:rPr lang="fr-CI" sz="1100" noProof="0" dirty="0">
                <a:solidFill>
                  <a:srgbClr val="FFFFFF"/>
                </a:solidFill>
                <a:latin typeface="Calibri" pitchFamily="34" charset="0"/>
                <a:ea typeface="Calibri" pitchFamily="34" charset="-122"/>
                <a:cs typeface="Calibri" pitchFamily="34" charset="-120"/>
              </a:rPr>
              <a:t>✓</a:t>
            </a:r>
            <a:endParaRPr lang="fr-CI" sz="1100" noProof="0" dirty="0"/>
          </a:p>
        </p:txBody>
      </p:sp>
      <p:sp>
        <p:nvSpPr>
          <p:cNvPr id="12" name="Text 10"/>
          <p:cNvSpPr/>
          <p:nvPr/>
        </p:nvSpPr>
        <p:spPr>
          <a:xfrm>
            <a:off x="841248" y="3032920"/>
            <a:ext cx="4114800" cy="384048"/>
          </a:xfrm>
          <a:prstGeom prst="rect">
            <a:avLst/>
          </a:prstGeom>
          <a:noFill/>
          <a:ln/>
        </p:spPr>
        <p:txBody>
          <a:bodyPr wrap="square" lIns="0" tIns="0" rIns="0" bIns="0" rtlCol="0" anchor="ctr"/>
          <a:lstStyle/>
          <a:p>
            <a:pPr marL="0" indent="0">
              <a:buNone/>
            </a:pPr>
            <a:r>
              <a:rPr lang="fr-FR" sz="1300" noProof="0" dirty="0">
                <a:solidFill>
                  <a:srgbClr val="FFFFFF"/>
                </a:solidFill>
                <a:latin typeface="Calibri" pitchFamily="34" charset="0"/>
                <a:ea typeface="Calibri" pitchFamily="34" charset="-122"/>
                <a:cs typeface="Calibri" pitchFamily="34" charset="-120"/>
              </a:rPr>
              <a:t>D'améliorer le suivi des mères et des enfants</a:t>
            </a:r>
            <a:endParaRPr lang="fr-CI" sz="1300" noProof="0" dirty="0"/>
          </a:p>
        </p:txBody>
      </p:sp>
      <p:sp>
        <p:nvSpPr>
          <p:cNvPr id="13" name="Shape 11"/>
          <p:cNvSpPr/>
          <p:nvPr/>
        </p:nvSpPr>
        <p:spPr>
          <a:xfrm>
            <a:off x="457200" y="3755296"/>
            <a:ext cx="292608" cy="292608"/>
          </a:xfrm>
          <a:prstGeom prst="ellipse">
            <a:avLst/>
          </a:prstGeom>
          <a:solidFill>
            <a:srgbClr val="00A896"/>
          </a:solidFill>
          <a:ln/>
        </p:spPr>
        <p:txBody>
          <a:bodyPr/>
          <a:lstStyle/>
          <a:p>
            <a:endParaRPr lang="fr-CI" noProof="0" dirty="0"/>
          </a:p>
        </p:txBody>
      </p:sp>
      <p:sp>
        <p:nvSpPr>
          <p:cNvPr id="14" name="Text 12"/>
          <p:cNvSpPr/>
          <p:nvPr/>
        </p:nvSpPr>
        <p:spPr>
          <a:xfrm>
            <a:off x="457200" y="3755296"/>
            <a:ext cx="292608" cy="292608"/>
          </a:xfrm>
          <a:prstGeom prst="rect">
            <a:avLst/>
          </a:prstGeom>
          <a:noFill/>
          <a:ln/>
        </p:spPr>
        <p:txBody>
          <a:bodyPr wrap="square" lIns="0" tIns="0" rIns="0" bIns="0" rtlCol="0" anchor="ctr"/>
          <a:lstStyle/>
          <a:p>
            <a:pPr marL="0" indent="0" algn="ctr">
              <a:buNone/>
            </a:pPr>
            <a:r>
              <a:rPr lang="fr-CI" sz="1100" noProof="0" dirty="0">
                <a:solidFill>
                  <a:srgbClr val="FFFFFF"/>
                </a:solidFill>
                <a:latin typeface="Calibri" pitchFamily="34" charset="0"/>
                <a:ea typeface="Calibri" pitchFamily="34" charset="-122"/>
                <a:cs typeface="Calibri" pitchFamily="34" charset="-120"/>
              </a:rPr>
              <a:t>✓</a:t>
            </a:r>
            <a:endParaRPr lang="fr-CI" sz="1100" noProof="0" dirty="0"/>
          </a:p>
        </p:txBody>
      </p:sp>
      <p:sp>
        <p:nvSpPr>
          <p:cNvPr id="15" name="Text 13"/>
          <p:cNvSpPr/>
          <p:nvPr/>
        </p:nvSpPr>
        <p:spPr>
          <a:xfrm>
            <a:off x="841248" y="3700432"/>
            <a:ext cx="4114800" cy="384048"/>
          </a:xfrm>
          <a:prstGeom prst="rect">
            <a:avLst/>
          </a:prstGeom>
          <a:noFill/>
          <a:ln/>
        </p:spPr>
        <p:txBody>
          <a:bodyPr wrap="square" lIns="0" tIns="0" rIns="0" bIns="0" rtlCol="0" anchor="ctr"/>
          <a:lstStyle/>
          <a:p>
            <a:pPr marL="0" indent="0">
              <a:buNone/>
            </a:pPr>
            <a:r>
              <a:rPr lang="fr-CI" sz="1300" noProof="0" dirty="0">
                <a:solidFill>
                  <a:srgbClr val="FFFFFF"/>
                </a:solidFill>
                <a:latin typeface="Calibri" pitchFamily="34" charset="0"/>
                <a:ea typeface="Calibri" pitchFamily="34" charset="-122"/>
                <a:cs typeface="Calibri" pitchFamily="34" charset="-120"/>
              </a:rPr>
              <a:t>D'optimiser les ressources sanitaires</a:t>
            </a:r>
            <a:endParaRPr lang="fr-CI" sz="1300" noProof="0" dirty="0"/>
          </a:p>
        </p:txBody>
      </p:sp>
      <p:sp>
        <p:nvSpPr>
          <p:cNvPr id="16" name="Shape 14"/>
          <p:cNvSpPr/>
          <p:nvPr/>
        </p:nvSpPr>
        <p:spPr>
          <a:xfrm>
            <a:off x="4754880" y="2420272"/>
            <a:ext cx="292608" cy="292608"/>
          </a:xfrm>
          <a:prstGeom prst="ellipse">
            <a:avLst/>
          </a:prstGeom>
          <a:solidFill>
            <a:srgbClr val="02C39A"/>
          </a:solidFill>
          <a:ln/>
        </p:spPr>
        <p:txBody>
          <a:bodyPr/>
          <a:lstStyle/>
          <a:p>
            <a:endParaRPr lang="fr-CI" noProof="0" dirty="0"/>
          </a:p>
        </p:txBody>
      </p:sp>
      <p:sp>
        <p:nvSpPr>
          <p:cNvPr id="17" name="Text 15"/>
          <p:cNvSpPr/>
          <p:nvPr/>
        </p:nvSpPr>
        <p:spPr>
          <a:xfrm>
            <a:off x="4754880" y="2420272"/>
            <a:ext cx="292608" cy="292608"/>
          </a:xfrm>
          <a:prstGeom prst="rect">
            <a:avLst/>
          </a:prstGeom>
          <a:noFill/>
          <a:ln/>
        </p:spPr>
        <p:txBody>
          <a:bodyPr wrap="square" lIns="0" tIns="0" rIns="0" bIns="0" rtlCol="0" anchor="ctr"/>
          <a:lstStyle/>
          <a:p>
            <a:pPr marL="0" indent="0" algn="ctr">
              <a:buNone/>
            </a:pPr>
            <a:r>
              <a:rPr lang="fr-CI" sz="1100" noProof="0" dirty="0">
                <a:solidFill>
                  <a:srgbClr val="FFFFFF"/>
                </a:solidFill>
                <a:latin typeface="Calibri" pitchFamily="34" charset="0"/>
                <a:ea typeface="Calibri" pitchFamily="34" charset="-122"/>
                <a:cs typeface="Calibri" pitchFamily="34" charset="-120"/>
              </a:rPr>
              <a:t>✓</a:t>
            </a:r>
            <a:endParaRPr lang="fr-CI" sz="1100" noProof="0" dirty="0"/>
          </a:p>
        </p:txBody>
      </p:sp>
      <p:sp>
        <p:nvSpPr>
          <p:cNvPr id="18" name="Text 16"/>
          <p:cNvSpPr/>
          <p:nvPr/>
        </p:nvSpPr>
        <p:spPr>
          <a:xfrm>
            <a:off x="5138928" y="2365408"/>
            <a:ext cx="4114800" cy="384048"/>
          </a:xfrm>
          <a:prstGeom prst="rect">
            <a:avLst/>
          </a:prstGeom>
          <a:noFill/>
          <a:ln/>
        </p:spPr>
        <p:txBody>
          <a:bodyPr wrap="square" lIns="0" tIns="0" rIns="0" bIns="0" rtlCol="0" anchor="ctr"/>
          <a:lstStyle/>
          <a:p>
            <a:r>
              <a:rPr lang="fr-CI" sz="1300" dirty="0">
                <a:solidFill>
                  <a:srgbClr val="FFFFFF"/>
                </a:solidFill>
                <a:latin typeface="Calibri" pitchFamily="34" charset="0"/>
                <a:ea typeface="Calibri" pitchFamily="34" charset="-122"/>
                <a:cs typeface="Calibri" pitchFamily="34" charset="-120"/>
              </a:rPr>
              <a:t>De prendre de meilleure </a:t>
            </a:r>
            <a:r>
              <a:rPr lang="fr-CI" sz="1300" noProof="0" dirty="0">
                <a:solidFill>
                  <a:srgbClr val="FFFFFF"/>
                </a:solidFill>
                <a:latin typeface="Calibri" pitchFamily="34" charset="0"/>
                <a:ea typeface="Calibri" pitchFamily="34" charset="-122"/>
                <a:cs typeface="Calibri" pitchFamily="34" charset="-120"/>
              </a:rPr>
              <a:t>décision basée sur les données</a:t>
            </a:r>
            <a:endParaRPr lang="fr-CI" sz="1300" noProof="0" dirty="0"/>
          </a:p>
        </p:txBody>
      </p:sp>
      <p:sp>
        <p:nvSpPr>
          <p:cNvPr id="19" name="Shape 17"/>
          <p:cNvSpPr/>
          <p:nvPr/>
        </p:nvSpPr>
        <p:spPr>
          <a:xfrm>
            <a:off x="4754880" y="3087784"/>
            <a:ext cx="292608" cy="292608"/>
          </a:xfrm>
          <a:prstGeom prst="ellipse">
            <a:avLst/>
          </a:prstGeom>
          <a:solidFill>
            <a:srgbClr val="F9A825"/>
          </a:solidFill>
          <a:ln/>
        </p:spPr>
        <p:txBody>
          <a:bodyPr/>
          <a:lstStyle/>
          <a:p>
            <a:endParaRPr lang="fr-CI" noProof="0" dirty="0"/>
          </a:p>
        </p:txBody>
      </p:sp>
      <p:sp>
        <p:nvSpPr>
          <p:cNvPr id="20" name="Text 18"/>
          <p:cNvSpPr/>
          <p:nvPr/>
        </p:nvSpPr>
        <p:spPr>
          <a:xfrm>
            <a:off x="4754880" y="3087784"/>
            <a:ext cx="292608" cy="292608"/>
          </a:xfrm>
          <a:prstGeom prst="rect">
            <a:avLst/>
          </a:prstGeom>
          <a:noFill/>
          <a:ln/>
        </p:spPr>
        <p:txBody>
          <a:bodyPr wrap="square" lIns="0" tIns="0" rIns="0" bIns="0" rtlCol="0" anchor="ctr"/>
          <a:lstStyle/>
          <a:p>
            <a:pPr marL="0" indent="0" algn="ctr">
              <a:buNone/>
            </a:pPr>
            <a:r>
              <a:rPr lang="fr-CI" sz="1100" noProof="0" dirty="0">
                <a:solidFill>
                  <a:srgbClr val="FFFFFF"/>
                </a:solidFill>
                <a:latin typeface="Calibri" pitchFamily="34" charset="0"/>
                <a:ea typeface="Calibri" pitchFamily="34" charset="-122"/>
                <a:cs typeface="Calibri" pitchFamily="34" charset="-120"/>
              </a:rPr>
              <a:t>✓</a:t>
            </a:r>
            <a:endParaRPr lang="fr-CI" sz="1100" noProof="0" dirty="0"/>
          </a:p>
        </p:txBody>
      </p:sp>
      <p:sp>
        <p:nvSpPr>
          <p:cNvPr id="21" name="Text 19"/>
          <p:cNvSpPr/>
          <p:nvPr/>
        </p:nvSpPr>
        <p:spPr>
          <a:xfrm>
            <a:off x="5138928" y="3032920"/>
            <a:ext cx="4114800" cy="384048"/>
          </a:xfrm>
          <a:prstGeom prst="rect">
            <a:avLst/>
          </a:prstGeom>
          <a:noFill/>
          <a:ln/>
        </p:spPr>
        <p:txBody>
          <a:bodyPr wrap="square" lIns="0" tIns="0" rIns="0" bIns="0" rtlCol="0" anchor="ctr"/>
          <a:lstStyle/>
          <a:p>
            <a:pPr marL="0" indent="0">
              <a:buNone/>
            </a:pPr>
            <a:r>
              <a:rPr lang="fr-CI" sz="1300" noProof="0" dirty="0">
                <a:solidFill>
                  <a:srgbClr val="FFFFFF"/>
                </a:solidFill>
                <a:latin typeface="Calibri" pitchFamily="34" charset="0"/>
                <a:ea typeface="Calibri" pitchFamily="34" charset="-122"/>
                <a:cs typeface="Calibri" pitchFamily="34" charset="-120"/>
              </a:rPr>
              <a:t>De sauver d’avantage de vies</a:t>
            </a:r>
            <a:endParaRPr lang="fr-CI" sz="13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0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2D44"/>
          </a:solidFill>
          <a:ln/>
        </p:spPr>
        <p:txBody>
          <a:bodyPr/>
          <a:lstStyle/>
          <a:p>
            <a:endParaRPr lang="fr-CI" noProof="0" dirty="0"/>
          </a:p>
        </p:txBody>
      </p:sp>
      <p:sp>
        <p:nvSpPr>
          <p:cNvPr id="3" name="Text 1"/>
          <p:cNvSpPr/>
          <p:nvPr/>
        </p:nvSpPr>
        <p:spPr>
          <a:xfrm>
            <a:off x="365760" y="91440"/>
            <a:ext cx="8412480" cy="777240"/>
          </a:xfrm>
          <a:prstGeom prst="rect">
            <a:avLst/>
          </a:prstGeom>
          <a:noFill/>
          <a:ln/>
        </p:spPr>
        <p:txBody>
          <a:bodyPr wrap="square" lIns="0" tIns="0" rIns="0" bIns="0" rtlCol="0" anchor="ctr"/>
          <a:lstStyle/>
          <a:p>
            <a:pPr marL="0" indent="0" algn="l">
              <a:buNone/>
            </a:pPr>
            <a:r>
              <a:rPr lang="fr-CI" sz="2800" b="1" noProof="0" dirty="0">
                <a:solidFill>
                  <a:srgbClr val="00A896"/>
                </a:solidFill>
                <a:latin typeface="Calibri" pitchFamily="34" charset="0"/>
                <a:ea typeface="Calibri" pitchFamily="34" charset="-122"/>
                <a:cs typeface="Calibri" pitchFamily="34" charset="-120"/>
              </a:rPr>
              <a:t>Recommandations</a:t>
            </a:r>
            <a:endParaRPr lang="fr-CI" sz="2800" noProof="0" dirty="0"/>
          </a:p>
        </p:txBody>
      </p:sp>
      <p:sp>
        <p:nvSpPr>
          <p:cNvPr id="5" name="Shape 3"/>
          <p:cNvSpPr/>
          <p:nvPr/>
        </p:nvSpPr>
        <p:spPr>
          <a:xfrm>
            <a:off x="182880" y="1348740"/>
            <a:ext cx="4206240" cy="1508760"/>
          </a:xfrm>
          <a:prstGeom prst="roundRect">
            <a:avLst>
              <a:gd name="adj" fmla="val 7273"/>
            </a:avLst>
          </a:prstGeom>
          <a:solidFill>
            <a:srgbClr val="FFFFFF"/>
          </a:solidFill>
          <a:ln/>
          <a:effectLst>
            <a:outerShdw blurRad="101600" dist="38100" dir="2700000" algn="bl" rotWithShape="0">
              <a:srgbClr val="000000">
                <a:alpha val="12000"/>
              </a:srgbClr>
            </a:outerShdw>
          </a:effectLst>
        </p:spPr>
        <p:txBody>
          <a:bodyPr/>
          <a:lstStyle/>
          <a:p>
            <a:endParaRPr lang="fr-CI" noProof="0" dirty="0"/>
          </a:p>
        </p:txBody>
      </p:sp>
      <p:sp>
        <p:nvSpPr>
          <p:cNvPr id="6" name="Shape 4"/>
          <p:cNvSpPr/>
          <p:nvPr/>
        </p:nvSpPr>
        <p:spPr>
          <a:xfrm>
            <a:off x="320040" y="1760220"/>
            <a:ext cx="566928" cy="566928"/>
          </a:xfrm>
          <a:prstGeom prst="ellipse">
            <a:avLst/>
          </a:prstGeom>
          <a:solidFill>
            <a:srgbClr val="028090"/>
          </a:solidFill>
          <a:ln/>
        </p:spPr>
        <p:txBody>
          <a:bodyPr/>
          <a:lstStyle/>
          <a:p>
            <a:endParaRPr lang="fr-CI" noProof="0" dirty="0"/>
          </a:p>
        </p:txBody>
      </p:sp>
      <p:sp>
        <p:nvSpPr>
          <p:cNvPr id="7" name="Text 5"/>
          <p:cNvSpPr/>
          <p:nvPr/>
        </p:nvSpPr>
        <p:spPr>
          <a:xfrm>
            <a:off x="320040" y="1760220"/>
            <a:ext cx="566928" cy="566928"/>
          </a:xfrm>
          <a:prstGeom prst="rect">
            <a:avLst/>
          </a:prstGeom>
          <a:noFill/>
          <a:ln/>
        </p:spPr>
        <p:txBody>
          <a:bodyPr wrap="square" lIns="0" tIns="0" rIns="0" bIns="0" rtlCol="0" anchor="ctr"/>
          <a:lstStyle/>
          <a:p>
            <a:pPr marL="0" indent="0" algn="ctr">
              <a:buNone/>
            </a:pPr>
            <a:r>
              <a:rPr lang="fr-CI" sz="1400" b="1" noProof="0" dirty="0">
                <a:solidFill>
                  <a:srgbClr val="FFFFFF"/>
                </a:solidFill>
                <a:latin typeface="Cambria" pitchFamily="34" charset="0"/>
                <a:ea typeface="Cambria" pitchFamily="34" charset="-122"/>
                <a:cs typeface="Cambria" pitchFamily="34" charset="-120"/>
              </a:rPr>
              <a:t>01</a:t>
            </a:r>
            <a:endParaRPr lang="fr-CI" sz="1400" noProof="0" dirty="0"/>
          </a:p>
        </p:txBody>
      </p:sp>
      <p:sp>
        <p:nvSpPr>
          <p:cNvPr id="8" name="Text 6"/>
          <p:cNvSpPr/>
          <p:nvPr/>
        </p:nvSpPr>
        <p:spPr>
          <a:xfrm>
            <a:off x="1005840" y="1531620"/>
            <a:ext cx="3246120" cy="384048"/>
          </a:xfrm>
          <a:prstGeom prst="rect">
            <a:avLst/>
          </a:prstGeom>
          <a:noFill/>
          <a:ln/>
        </p:spPr>
        <p:txBody>
          <a:bodyPr wrap="square" lIns="0" tIns="0" rIns="0" bIns="0" rtlCol="0" anchor="ctr"/>
          <a:lstStyle/>
          <a:p>
            <a:pPr marL="0" indent="0">
              <a:buNone/>
            </a:pPr>
            <a:r>
              <a:rPr lang="fr-CI" sz="1300" b="1" noProof="0" dirty="0">
                <a:solidFill>
                  <a:srgbClr val="028090"/>
                </a:solidFill>
                <a:latin typeface="Calibri" pitchFamily="34" charset="0"/>
                <a:ea typeface="Calibri" pitchFamily="34" charset="-122"/>
                <a:cs typeface="Calibri" pitchFamily="34" charset="-120"/>
              </a:rPr>
              <a:t>Culture de la donnée</a:t>
            </a:r>
            <a:endParaRPr lang="fr-CI" sz="1300" noProof="0" dirty="0"/>
          </a:p>
        </p:txBody>
      </p:sp>
      <p:sp>
        <p:nvSpPr>
          <p:cNvPr id="9" name="Text 7"/>
          <p:cNvSpPr/>
          <p:nvPr/>
        </p:nvSpPr>
        <p:spPr>
          <a:xfrm>
            <a:off x="1005840" y="1943100"/>
            <a:ext cx="3246120" cy="731520"/>
          </a:xfrm>
          <a:prstGeom prst="rect">
            <a:avLst/>
          </a:prstGeom>
          <a:noFill/>
          <a:ln/>
        </p:spPr>
        <p:txBody>
          <a:bodyPr wrap="square" lIns="0" tIns="0" rIns="0" bIns="0" rtlCol="0" anchor="ctr"/>
          <a:lstStyle/>
          <a:p>
            <a:pPr marL="0" indent="0">
              <a:buNone/>
            </a:pPr>
            <a:r>
              <a:rPr lang="fr-CI" sz="1150" noProof="0" dirty="0">
                <a:solidFill>
                  <a:srgbClr val="3D5A6B"/>
                </a:solidFill>
                <a:latin typeface="Calibri" pitchFamily="34" charset="0"/>
                <a:ea typeface="Calibri" pitchFamily="34" charset="-122"/>
                <a:cs typeface="Calibri" pitchFamily="34" charset="-120"/>
              </a:rPr>
              <a:t>Renforcer l'utilisation systématique des données dans les systèmes de santé</a:t>
            </a:r>
            <a:endParaRPr lang="fr-CI" sz="1150" noProof="0" dirty="0"/>
          </a:p>
        </p:txBody>
      </p:sp>
      <p:sp>
        <p:nvSpPr>
          <p:cNvPr id="10" name="Shape 8"/>
          <p:cNvSpPr/>
          <p:nvPr/>
        </p:nvSpPr>
        <p:spPr>
          <a:xfrm>
            <a:off x="4617720" y="1348740"/>
            <a:ext cx="4206240" cy="1508760"/>
          </a:xfrm>
          <a:prstGeom prst="roundRect">
            <a:avLst>
              <a:gd name="adj" fmla="val 7273"/>
            </a:avLst>
          </a:prstGeom>
          <a:solidFill>
            <a:srgbClr val="FFFFFF"/>
          </a:solidFill>
          <a:ln/>
          <a:effectLst>
            <a:outerShdw blurRad="101600" dist="38100" dir="2700000" algn="bl" rotWithShape="0">
              <a:srgbClr val="000000">
                <a:alpha val="12000"/>
              </a:srgbClr>
            </a:outerShdw>
          </a:effectLst>
        </p:spPr>
        <p:txBody>
          <a:bodyPr/>
          <a:lstStyle/>
          <a:p>
            <a:endParaRPr lang="fr-CI" noProof="0" dirty="0"/>
          </a:p>
        </p:txBody>
      </p:sp>
      <p:sp>
        <p:nvSpPr>
          <p:cNvPr id="11" name="Shape 9"/>
          <p:cNvSpPr/>
          <p:nvPr/>
        </p:nvSpPr>
        <p:spPr>
          <a:xfrm>
            <a:off x="4754880" y="1760220"/>
            <a:ext cx="566928" cy="566928"/>
          </a:xfrm>
          <a:prstGeom prst="ellipse">
            <a:avLst/>
          </a:prstGeom>
          <a:solidFill>
            <a:srgbClr val="00A896"/>
          </a:solidFill>
          <a:ln/>
        </p:spPr>
        <p:txBody>
          <a:bodyPr/>
          <a:lstStyle/>
          <a:p>
            <a:endParaRPr lang="fr-CI" noProof="0" dirty="0"/>
          </a:p>
        </p:txBody>
      </p:sp>
      <p:sp>
        <p:nvSpPr>
          <p:cNvPr id="12" name="Text 10"/>
          <p:cNvSpPr/>
          <p:nvPr/>
        </p:nvSpPr>
        <p:spPr>
          <a:xfrm>
            <a:off x="4754880" y="1760220"/>
            <a:ext cx="566928" cy="566928"/>
          </a:xfrm>
          <a:prstGeom prst="rect">
            <a:avLst/>
          </a:prstGeom>
          <a:noFill/>
          <a:ln/>
        </p:spPr>
        <p:txBody>
          <a:bodyPr wrap="square" lIns="0" tIns="0" rIns="0" bIns="0" rtlCol="0" anchor="ctr"/>
          <a:lstStyle/>
          <a:p>
            <a:pPr marL="0" indent="0" algn="ctr">
              <a:buNone/>
            </a:pPr>
            <a:r>
              <a:rPr lang="fr-CI" sz="1400" b="1" noProof="0" dirty="0">
                <a:solidFill>
                  <a:srgbClr val="FFFFFF"/>
                </a:solidFill>
                <a:latin typeface="Cambria" pitchFamily="34" charset="0"/>
                <a:ea typeface="Cambria" pitchFamily="34" charset="-122"/>
                <a:cs typeface="Cambria" pitchFamily="34" charset="-120"/>
              </a:rPr>
              <a:t>02</a:t>
            </a:r>
            <a:endParaRPr lang="fr-CI" sz="1400" noProof="0" dirty="0"/>
          </a:p>
        </p:txBody>
      </p:sp>
      <p:sp>
        <p:nvSpPr>
          <p:cNvPr id="13" name="Text 11"/>
          <p:cNvSpPr/>
          <p:nvPr/>
        </p:nvSpPr>
        <p:spPr>
          <a:xfrm>
            <a:off x="5440680" y="1531620"/>
            <a:ext cx="3246120" cy="384048"/>
          </a:xfrm>
          <a:prstGeom prst="rect">
            <a:avLst/>
          </a:prstGeom>
          <a:noFill/>
          <a:ln/>
        </p:spPr>
        <p:txBody>
          <a:bodyPr wrap="square" lIns="0" tIns="0" rIns="0" bIns="0" rtlCol="0" anchor="ctr"/>
          <a:lstStyle/>
          <a:p>
            <a:pPr marL="0" indent="0">
              <a:buNone/>
            </a:pPr>
            <a:r>
              <a:rPr lang="fr-CI" sz="1300" b="1" noProof="0" dirty="0">
                <a:solidFill>
                  <a:srgbClr val="00A896"/>
                </a:solidFill>
                <a:latin typeface="Calibri" pitchFamily="34" charset="0"/>
                <a:ea typeface="Calibri" pitchFamily="34" charset="-122"/>
                <a:cs typeface="Calibri" pitchFamily="34" charset="-120"/>
              </a:rPr>
              <a:t>Plateformes numériques</a:t>
            </a:r>
            <a:endParaRPr lang="fr-CI" sz="1300" noProof="0" dirty="0"/>
          </a:p>
        </p:txBody>
      </p:sp>
      <p:sp>
        <p:nvSpPr>
          <p:cNvPr id="14" name="Text 12"/>
          <p:cNvSpPr/>
          <p:nvPr/>
        </p:nvSpPr>
        <p:spPr>
          <a:xfrm>
            <a:off x="5440680" y="1943100"/>
            <a:ext cx="3246120" cy="731520"/>
          </a:xfrm>
          <a:prstGeom prst="rect">
            <a:avLst/>
          </a:prstGeom>
          <a:noFill/>
          <a:ln/>
        </p:spPr>
        <p:txBody>
          <a:bodyPr wrap="square" lIns="0" tIns="0" rIns="0" bIns="0" rtlCol="0" anchor="ctr"/>
          <a:lstStyle/>
          <a:p>
            <a:pPr marL="0" indent="0">
              <a:buNone/>
            </a:pPr>
            <a:r>
              <a:rPr lang="fr-CI" sz="1150" noProof="0" dirty="0">
                <a:solidFill>
                  <a:srgbClr val="3D5A6B"/>
                </a:solidFill>
                <a:latin typeface="Calibri" pitchFamily="34" charset="0"/>
                <a:ea typeface="Calibri" pitchFamily="34" charset="-122"/>
                <a:cs typeface="Calibri" pitchFamily="34" charset="-120"/>
              </a:rPr>
              <a:t>Investir dans des plateformes performantes et interopérables</a:t>
            </a:r>
            <a:endParaRPr lang="fr-CI" sz="1150" noProof="0" dirty="0"/>
          </a:p>
        </p:txBody>
      </p:sp>
      <p:sp>
        <p:nvSpPr>
          <p:cNvPr id="15" name="Shape 13"/>
          <p:cNvSpPr/>
          <p:nvPr/>
        </p:nvSpPr>
        <p:spPr>
          <a:xfrm>
            <a:off x="182880" y="3040380"/>
            <a:ext cx="4206240" cy="1508760"/>
          </a:xfrm>
          <a:prstGeom prst="roundRect">
            <a:avLst>
              <a:gd name="adj" fmla="val 7273"/>
            </a:avLst>
          </a:prstGeom>
          <a:solidFill>
            <a:srgbClr val="FFFFFF"/>
          </a:solidFill>
          <a:ln/>
          <a:effectLst>
            <a:outerShdw blurRad="101600" dist="38100" dir="2700000" algn="bl" rotWithShape="0">
              <a:srgbClr val="000000">
                <a:alpha val="12000"/>
              </a:srgbClr>
            </a:outerShdw>
          </a:effectLst>
        </p:spPr>
        <p:txBody>
          <a:bodyPr/>
          <a:lstStyle/>
          <a:p>
            <a:endParaRPr lang="fr-CI" noProof="0" dirty="0"/>
          </a:p>
        </p:txBody>
      </p:sp>
      <p:sp>
        <p:nvSpPr>
          <p:cNvPr id="16" name="Shape 14"/>
          <p:cNvSpPr/>
          <p:nvPr/>
        </p:nvSpPr>
        <p:spPr>
          <a:xfrm>
            <a:off x="320040" y="3451860"/>
            <a:ext cx="566928" cy="566928"/>
          </a:xfrm>
          <a:prstGeom prst="ellipse">
            <a:avLst/>
          </a:prstGeom>
          <a:solidFill>
            <a:srgbClr val="6D2E46"/>
          </a:solidFill>
          <a:ln/>
        </p:spPr>
        <p:txBody>
          <a:bodyPr/>
          <a:lstStyle/>
          <a:p>
            <a:endParaRPr lang="fr-CI" noProof="0" dirty="0"/>
          </a:p>
        </p:txBody>
      </p:sp>
      <p:sp>
        <p:nvSpPr>
          <p:cNvPr id="17" name="Text 15"/>
          <p:cNvSpPr/>
          <p:nvPr/>
        </p:nvSpPr>
        <p:spPr>
          <a:xfrm>
            <a:off x="320040" y="3451860"/>
            <a:ext cx="566928" cy="566928"/>
          </a:xfrm>
          <a:prstGeom prst="rect">
            <a:avLst/>
          </a:prstGeom>
          <a:noFill/>
          <a:ln/>
        </p:spPr>
        <p:txBody>
          <a:bodyPr wrap="square" lIns="0" tIns="0" rIns="0" bIns="0" rtlCol="0" anchor="ctr"/>
          <a:lstStyle/>
          <a:p>
            <a:pPr marL="0" indent="0" algn="ctr">
              <a:buNone/>
            </a:pPr>
            <a:r>
              <a:rPr lang="fr-CI" sz="1400" b="1" noProof="0" dirty="0">
                <a:solidFill>
                  <a:srgbClr val="FFFFFF"/>
                </a:solidFill>
                <a:latin typeface="Cambria" pitchFamily="34" charset="0"/>
                <a:ea typeface="Cambria" pitchFamily="34" charset="-122"/>
                <a:cs typeface="Cambria" pitchFamily="34" charset="-120"/>
              </a:rPr>
              <a:t>03</a:t>
            </a:r>
            <a:endParaRPr lang="fr-CI" sz="1400" noProof="0" dirty="0"/>
          </a:p>
        </p:txBody>
      </p:sp>
      <p:sp>
        <p:nvSpPr>
          <p:cNvPr id="18" name="Text 16"/>
          <p:cNvSpPr/>
          <p:nvPr/>
        </p:nvSpPr>
        <p:spPr>
          <a:xfrm>
            <a:off x="1005840" y="3223260"/>
            <a:ext cx="3246120" cy="384048"/>
          </a:xfrm>
          <a:prstGeom prst="rect">
            <a:avLst/>
          </a:prstGeom>
          <a:noFill/>
          <a:ln/>
        </p:spPr>
        <p:txBody>
          <a:bodyPr wrap="square" lIns="0" tIns="0" rIns="0" bIns="0" rtlCol="0" anchor="ctr"/>
          <a:lstStyle/>
          <a:p>
            <a:pPr marL="0" indent="0">
              <a:buNone/>
            </a:pPr>
            <a:r>
              <a:rPr lang="fr-CI" sz="1300" b="1" noProof="0" dirty="0">
                <a:solidFill>
                  <a:srgbClr val="6D2E46"/>
                </a:solidFill>
                <a:latin typeface="Calibri" pitchFamily="34" charset="0"/>
                <a:ea typeface="Calibri" pitchFamily="34" charset="-122"/>
                <a:cs typeface="Calibri" pitchFamily="34" charset="-120"/>
              </a:rPr>
              <a:t>Compétences en Data Science</a:t>
            </a:r>
            <a:endParaRPr lang="fr-CI" sz="1300" noProof="0" dirty="0"/>
          </a:p>
        </p:txBody>
      </p:sp>
      <p:sp>
        <p:nvSpPr>
          <p:cNvPr id="19" name="Text 17"/>
          <p:cNvSpPr/>
          <p:nvPr/>
        </p:nvSpPr>
        <p:spPr>
          <a:xfrm>
            <a:off x="1005840" y="3634740"/>
            <a:ext cx="3246120" cy="731520"/>
          </a:xfrm>
          <a:prstGeom prst="rect">
            <a:avLst/>
          </a:prstGeom>
          <a:noFill/>
          <a:ln/>
        </p:spPr>
        <p:txBody>
          <a:bodyPr wrap="square" lIns="0" tIns="0" rIns="0" bIns="0" rtlCol="0" anchor="ctr"/>
          <a:lstStyle/>
          <a:p>
            <a:pPr marL="0" indent="0">
              <a:buNone/>
            </a:pPr>
            <a:r>
              <a:rPr lang="fr-CI" sz="1150" noProof="0" dirty="0">
                <a:solidFill>
                  <a:srgbClr val="3D5A6B"/>
                </a:solidFill>
                <a:latin typeface="Calibri" pitchFamily="34" charset="0"/>
                <a:ea typeface="Calibri" pitchFamily="34" charset="-122"/>
                <a:cs typeface="Calibri" pitchFamily="34" charset="-120"/>
              </a:rPr>
              <a:t>Former les professionnels de santé à l'analyse des données</a:t>
            </a:r>
            <a:endParaRPr lang="fr-CI" sz="1150" noProof="0" dirty="0"/>
          </a:p>
        </p:txBody>
      </p:sp>
      <p:sp>
        <p:nvSpPr>
          <p:cNvPr id="20" name="Shape 18"/>
          <p:cNvSpPr/>
          <p:nvPr/>
        </p:nvSpPr>
        <p:spPr>
          <a:xfrm>
            <a:off x="4617720" y="3040380"/>
            <a:ext cx="4206240" cy="1508760"/>
          </a:xfrm>
          <a:prstGeom prst="roundRect">
            <a:avLst>
              <a:gd name="adj" fmla="val 7273"/>
            </a:avLst>
          </a:prstGeom>
          <a:solidFill>
            <a:srgbClr val="FFFFFF"/>
          </a:solidFill>
          <a:ln/>
          <a:effectLst>
            <a:outerShdw blurRad="101600" dist="38100" dir="2700000" algn="bl" rotWithShape="0">
              <a:srgbClr val="000000">
                <a:alpha val="12000"/>
              </a:srgbClr>
            </a:outerShdw>
          </a:effectLst>
        </p:spPr>
        <p:txBody>
          <a:bodyPr/>
          <a:lstStyle/>
          <a:p>
            <a:endParaRPr lang="fr-CI" noProof="0" dirty="0"/>
          </a:p>
        </p:txBody>
      </p:sp>
      <p:sp>
        <p:nvSpPr>
          <p:cNvPr id="21" name="Shape 19"/>
          <p:cNvSpPr/>
          <p:nvPr/>
        </p:nvSpPr>
        <p:spPr>
          <a:xfrm>
            <a:off x="4754880" y="3451860"/>
            <a:ext cx="566928" cy="566928"/>
          </a:xfrm>
          <a:prstGeom prst="ellipse">
            <a:avLst/>
          </a:prstGeom>
          <a:solidFill>
            <a:srgbClr val="F9A825"/>
          </a:solidFill>
          <a:ln/>
        </p:spPr>
        <p:txBody>
          <a:bodyPr/>
          <a:lstStyle/>
          <a:p>
            <a:endParaRPr lang="fr-CI" noProof="0" dirty="0"/>
          </a:p>
        </p:txBody>
      </p:sp>
      <p:sp>
        <p:nvSpPr>
          <p:cNvPr id="22" name="Text 20"/>
          <p:cNvSpPr/>
          <p:nvPr/>
        </p:nvSpPr>
        <p:spPr>
          <a:xfrm>
            <a:off x="4754880" y="3451860"/>
            <a:ext cx="566928" cy="566928"/>
          </a:xfrm>
          <a:prstGeom prst="rect">
            <a:avLst/>
          </a:prstGeom>
          <a:noFill/>
          <a:ln/>
        </p:spPr>
        <p:txBody>
          <a:bodyPr wrap="square" lIns="0" tIns="0" rIns="0" bIns="0" rtlCol="0" anchor="ctr"/>
          <a:lstStyle/>
          <a:p>
            <a:pPr marL="0" indent="0" algn="ctr">
              <a:buNone/>
            </a:pPr>
            <a:r>
              <a:rPr lang="fr-CI" sz="1400" b="1" noProof="0" dirty="0">
                <a:solidFill>
                  <a:srgbClr val="FFFFFF"/>
                </a:solidFill>
                <a:latin typeface="Cambria" pitchFamily="34" charset="0"/>
                <a:ea typeface="Cambria" pitchFamily="34" charset="-122"/>
                <a:cs typeface="Cambria" pitchFamily="34" charset="-120"/>
              </a:rPr>
              <a:t>04</a:t>
            </a:r>
            <a:endParaRPr lang="fr-CI" sz="1400" noProof="0" dirty="0"/>
          </a:p>
        </p:txBody>
      </p:sp>
      <p:sp>
        <p:nvSpPr>
          <p:cNvPr id="23" name="Text 21"/>
          <p:cNvSpPr/>
          <p:nvPr/>
        </p:nvSpPr>
        <p:spPr>
          <a:xfrm>
            <a:off x="5440680" y="3223260"/>
            <a:ext cx="3246120" cy="384048"/>
          </a:xfrm>
          <a:prstGeom prst="rect">
            <a:avLst/>
          </a:prstGeom>
          <a:noFill/>
          <a:ln/>
        </p:spPr>
        <p:txBody>
          <a:bodyPr wrap="square" lIns="0" tIns="0" rIns="0" bIns="0" rtlCol="0" anchor="ctr"/>
          <a:lstStyle/>
          <a:p>
            <a:pPr marL="0" indent="0">
              <a:buNone/>
            </a:pPr>
            <a:r>
              <a:rPr lang="fr-CI" sz="1300" b="1" noProof="0" dirty="0">
                <a:solidFill>
                  <a:srgbClr val="F9A825"/>
                </a:solidFill>
                <a:latin typeface="Calibri" pitchFamily="34" charset="0"/>
                <a:ea typeface="Calibri" pitchFamily="34" charset="-122"/>
                <a:cs typeface="Calibri" pitchFamily="34" charset="-120"/>
              </a:rPr>
              <a:t>IA et Modèles Prédictifs</a:t>
            </a:r>
            <a:endParaRPr lang="fr-CI" sz="1300" noProof="0" dirty="0"/>
          </a:p>
        </p:txBody>
      </p:sp>
      <p:sp>
        <p:nvSpPr>
          <p:cNvPr id="24" name="Text 22"/>
          <p:cNvSpPr/>
          <p:nvPr/>
        </p:nvSpPr>
        <p:spPr>
          <a:xfrm>
            <a:off x="5440680" y="3634740"/>
            <a:ext cx="3246120" cy="731520"/>
          </a:xfrm>
          <a:prstGeom prst="rect">
            <a:avLst/>
          </a:prstGeom>
          <a:noFill/>
          <a:ln/>
        </p:spPr>
        <p:txBody>
          <a:bodyPr wrap="square" lIns="0" tIns="0" rIns="0" bIns="0" rtlCol="0" anchor="ctr"/>
          <a:lstStyle/>
          <a:p>
            <a:pPr marL="0" indent="0">
              <a:buNone/>
            </a:pPr>
            <a:r>
              <a:rPr lang="fr-CI" sz="1150" noProof="0" dirty="0">
                <a:solidFill>
                  <a:srgbClr val="3D5A6B"/>
                </a:solidFill>
                <a:latin typeface="Calibri" pitchFamily="34" charset="0"/>
                <a:ea typeface="Calibri" pitchFamily="34" charset="-122"/>
                <a:cs typeface="Calibri" pitchFamily="34" charset="-120"/>
              </a:rPr>
              <a:t>Encourager l'utilisation de l'IA dans les programmes de santé</a:t>
            </a:r>
            <a:endParaRPr lang="fr-CI" sz="1150"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0A2D44"/>
        </a:solidFill>
        <a:effectLst/>
      </p:bgPr>
    </p:bg>
    <p:spTree>
      <p:nvGrpSpPr>
        <p:cNvPr id="1" name=""/>
        <p:cNvGrpSpPr/>
        <p:nvPr/>
      </p:nvGrpSpPr>
      <p:grpSpPr>
        <a:xfrm>
          <a:off x="0" y="0"/>
          <a:ext cx="0" cy="0"/>
          <a:chOff x="0" y="0"/>
          <a:chExt cx="0" cy="0"/>
        </a:xfrm>
      </p:grpSpPr>
      <p:sp>
        <p:nvSpPr>
          <p:cNvPr id="2" name="Shape 0"/>
          <p:cNvSpPr/>
          <p:nvPr/>
        </p:nvSpPr>
        <p:spPr>
          <a:xfrm>
            <a:off x="6400800" y="2743200"/>
            <a:ext cx="4572000" cy="4572000"/>
          </a:xfrm>
          <a:prstGeom prst="ellipse">
            <a:avLst/>
          </a:prstGeom>
          <a:solidFill>
            <a:srgbClr val="028090">
              <a:alpha val="12000"/>
            </a:srgbClr>
          </a:solidFill>
          <a:ln/>
        </p:spPr>
        <p:txBody>
          <a:bodyPr/>
          <a:lstStyle/>
          <a:p>
            <a:endParaRPr lang="fr-CI" noProof="0" dirty="0"/>
          </a:p>
        </p:txBody>
      </p:sp>
      <p:sp>
        <p:nvSpPr>
          <p:cNvPr id="3" name="Text 1"/>
          <p:cNvSpPr/>
          <p:nvPr/>
        </p:nvSpPr>
        <p:spPr>
          <a:xfrm>
            <a:off x="457200" y="457200"/>
            <a:ext cx="8229600" cy="548640"/>
          </a:xfrm>
          <a:prstGeom prst="rect">
            <a:avLst/>
          </a:prstGeom>
          <a:noFill/>
          <a:ln/>
        </p:spPr>
        <p:txBody>
          <a:bodyPr wrap="square" lIns="0" tIns="0" rIns="0" bIns="0" rtlCol="0" anchor="ctr"/>
          <a:lstStyle/>
          <a:p>
            <a:pPr marL="0" indent="0">
              <a:buNone/>
            </a:pPr>
            <a:r>
              <a:rPr lang="fr-CI" sz="2600" b="1" noProof="0" dirty="0">
                <a:solidFill>
                  <a:srgbClr val="FFFFFF"/>
                </a:solidFill>
                <a:latin typeface="Cambria" pitchFamily="34" charset="0"/>
                <a:ea typeface="Cambria" pitchFamily="34" charset="-122"/>
                <a:cs typeface="Cambria" pitchFamily="34" charset="-120"/>
              </a:rPr>
              <a:t>Références Bibliographiques</a:t>
            </a:r>
            <a:endParaRPr lang="fr-CI" sz="2600" noProof="0" dirty="0"/>
          </a:p>
        </p:txBody>
      </p:sp>
      <p:sp>
        <p:nvSpPr>
          <p:cNvPr id="4" name="Shape 2"/>
          <p:cNvSpPr/>
          <p:nvPr/>
        </p:nvSpPr>
        <p:spPr>
          <a:xfrm>
            <a:off x="457200" y="1371600"/>
            <a:ext cx="292608" cy="292608"/>
          </a:xfrm>
          <a:prstGeom prst="ellipse">
            <a:avLst/>
          </a:prstGeom>
          <a:solidFill>
            <a:srgbClr val="00A896"/>
          </a:solidFill>
          <a:ln/>
        </p:spPr>
        <p:txBody>
          <a:bodyPr/>
          <a:lstStyle/>
          <a:p>
            <a:endParaRPr lang="fr-CI" noProof="0" dirty="0"/>
          </a:p>
        </p:txBody>
      </p:sp>
      <p:sp>
        <p:nvSpPr>
          <p:cNvPr id="5" name="Text 3"/>
          <p:cNvSpPr/>
          <p:nvPr/>
        </p:nvSpPr>
        <p:spPr>
          <a:xfrm>
            <a:off x="457200" y="1371600"/>
            <a:ext cx="292608" cy="292608"/>
          </a:xfrm>
          <a:prstGeom prst="rect">
            <a:avLst/>
          </a:prstGeom>
          <a:noFill/>
          <a:ln/>
        </p:spPr>
        <p:txBody>
          <a:bodyPr wrap="square" lIns="0" tIns="0" rIns="0" bIns="0" rtlCol="0" anchor="ctr"/>
          <a:lstStyle/>
          <a:p>
            <a:pPr marL="0" indent="0" algn="ctr">
              <a:buNone/>
            </a:pPr>
            <a:r>
              <a:rPr lang="fr-CI" sz="1000" b="1" noProof="0" dirty="0">
                <a:solidFill>
                  <a:srgbClr val="FFFFFF"/>
                </a:solidFill>
                <a:latin typeface="Calibri" pitchFamily="34" charset="0"/>
                <a:ea typeface="Calibri" pitchFamily="34" charset="-122"/>
                <a:cs typeface="Calibri" pitchFamily="34" charset="-120"/>
              </a:rPr>
              <a:t>1</a:t>
            </a:r>
            <a:endParaRPr lang="fr-CI" sz="1000" noProof="0" dirty="0"/>
          </a:p>
        </p:txBody>
      </p:sp>
      <p:sp>
        <p:nvSpPr>
          <p:cNvPr id="6" name="Text 4"/>
          <p:cNvSpPr/>
          <p:nvPr/>
        </p:nvSpPr>
        <p:spPr>
          <a:xfrm>
            <a:off x="914400" y="1234440"/>
            <a:ext cx="7772400" cy="347472"/>
          </a:xfrm>
          <a:prstGeom prst="rect">
            <a:avLst/>
          </a:prstGeom>
          <a:noFill/>
          <a:ln/>
        </p:spPr>
        <p:txBody>
          <a:bodyPr wrap="square" lIns="0" tIns="0" rIns="0" bIns="0" rtlCol="0" anchor="ctr"/>
          <a:lstStyle/>
          <a:p>
            <a:pPr marL="0" indent="0">
              <a:buNone/>
            </a:pPr>
            <a:r>
              <a:rPr lang="fr-CI" sz="1200" b="1" noProof="0" dirty="0">
                <a:solidFill>
                  <a:srgbClr val="00A896"/>
                </a:solidFill>
                <a:latin typeface="Calibri" pitchFamily="34" charset="0"/>
                <a:ea typeface="Calibri" pitchFamily="34" charset="-122"/>
                <a:cs typeface="Calibri" pitchFamily="34" charset="-120"/>
              </a:rPr>
              <a:t>Organisation Mondiale de la Santé (2025)</a:t>
            </a:r>
            <a:endParaRPr lang="fr-CI" sz="1200" noProof="0" dirty="0"/>
          </a:p>
        </p:txBody>
      </p:sp>
      <p:sp>
        <p:nvSpPr>
          <p:cNvPr id="7" name="Text 5"/>
          <p:cNvSpPr/>
          <p:nvPr/>
        </p:nvSpPr>
        <p:spPr>
          <a:xfrm>
            <a:off x="914400" y="1581912"/>
            <a:ext cx="7772400" cy="347472"/>
          </a:xfrm>
          <a:prstGeom prst="rect">
            <a:avLst/>
          </a:prstGeom>
          <a:noFill/>
          <a:ln/>
        </p:spPr>
        <p:txBody>
          <a:bodyPr wrap="square" lIns="0" tIns="0" rIns="0" bIns="0" rtlCol="0" anchor="ctr"/>
          <a:lstStyle/>
          <a:p>
            <a:pPr marL="0" indent="0">
              <a:buNone/>
            </a:pPr>
            <a:r>
              <a:rPr lang="fr-CI" sz="1100" noProof="0" dirty="0">
                <a:solidFill>
                  <a:srgbClr val="FFFFFF"/>
                </a:solidFill>
                <a:latin typeface="Calibri" pitchFamily="34" charset="0"/>
                <a:ea typeface="Calibri" pitchFamily="34" charset="-122"/>
                <a:cs typeface="Calibri" pitchFamily="34" charset="-120"/>
              </a:rPr>
              <a:t>Trends in </a:t>
            </a:r>
            <a:r>
              <a:rPr lang="fr-CI" sz="1100" noProof="0" dirty="0" err="1">
                <a:solidFill>
                  <a:srgbClr val="FFFFFF"/>
                </a:solidFill>
                <a:latin typeface="Calibri" pitchFamily="34" charset="0"/>
                <a:ea typeface="Calibri" pitchFamily="34" charset="-122"/>
                <a:cs typeface="Calibri" pitchFamily="34" charset="-120"/>
              </a:rPr>
              <a:t>Maternal</a:t>
            </a:r>
            <a:r>
              <a:rPr lang="fr-CI" sz="1100" noProof="0" dirty="0">
                <a:solidFill>
                  <a:srgbClr val="FFFFFF"/>
                </a:solidFill>
                <a:latin typeface="Calibri" pitchFamily="34" charset="0"/>
                <a:ea typeface="Calibri" pitchFamily="34" charset="-122"/>
                <a:cs typeface="Calibri" pitchFamily="34" charset="-120"/>
              </a:rPr>
              <a:t> </a:t>
            </a:r>
            <a:r>
              <a:rPr lang="fr-CI" sz="1100" noProof="0" dirty="0" err="1">
                <a:solidFill>
                  <a:srgbClr val="FFFFFF"/>
                </a:solidFill>
                <a:latin typeface="Calibri" pitchFamily="34" charset="0"/>
                <a:ea typeface="Calibri" pitchFamily="34" charset="-122"/>
                <a:cs typeface="Calibri" pitchFamily="34" charset="-120"/>
              </a:rPr>
              <a:t>Mortality</a:t>
            </a:r>
            <a:r>
              <a:rPr lang="fr-CI" sz="1100" noProof="0" dirty="0">
                <a:solidFill>
                  <a:srgbClr val="FFFFFF"/>
                </a:solidFill>
                <a:latin typeface="Calibri" pitchFamily="34" charset="0"/>
                <a:ea typeface="Calibri" pitchFamily="34" charset="-122"/>
                <a:cs typeface="Calibri" pitchFamily="34" charset="-120"/>
              </a:rPr>
              <a:t> 2000–2023</a:t>
            </a:r>
            <a:endParaRPr lang="fr-CI" sz="1100" noProof="0" dirty="0"/>
          </a:p>
        </p:txBody>
      </p:sp>
      <p:sp>
        <p:nvSpPr>
          <p:cNvPr id="8" name="Text 6"/>
          <p:cNvSpPr/>
          <p:nvPr/>
        </p:nvSpPr>
        <p:spPr>
          <a:xfrm>
            <a:off x="914400" y="1920240"/>
            <a:ext cx="7772400" cy="274320"/>
          </a:xfrm>
          <a:prstGeom prst="rect">
            <a:avLst/>
          </a:prstGeom>
          <a:noFill/>
          <a:ln/>
        </p:spPr>
        <p:txBody>
          <a:bodyPr wrap="square" lIns="0" tIns="0" rIns="0" bIns="0" rtlCol="0" anchor="ctr"/>
          <a:lstStyle/>
          <a:p>
            <a:pPr marL="0" indent="0">
              <a:buNone/>
            </a:pPr>
            <a:r>
              <a:rPr lang="fr-CI" sz="1000" i="1" noProof="0" dirty="0">
                <a:solidFill>
                  <a:srgbClr val="02C39A"/>
                </a:solidFill>
                <a:latin typeface="Calibri" pitchFamily="34" charset="0"/>
                <a:ea typeface="Calibri" pitchFamily="34" charset="-122"/>
                <a:cs typeface="Calibri" pitchFamily="34" charset="-120"/>
              </a:rPr>
              <a:t>www.who.int</a:t>
            </a:r>
            <a:endParaRPr lang="fr-CI" sz="1000" noProof="0" dirty="0"/>
          </a:p>
        </p:txBody>
      </p:sp>
      <p:sp>
        <p:nvSpPr>
          <p:cNvPr id="9" name="Shape 7"/>
          <p:cNvSpPr/>
          <p:nvPr/>
        </p:nvSpPr>
        <p:spPr>
          <a:xfrm>
            <a:off x="457200" y="2560320"/>
            <a:ext cx="292608" cy="292608"/>
          </a:xfrm>
          <a:prstGeom prst="ellipse">
            <a:avLst/>
          </a:prstGeom>
          <a:solidFill>
            <a:srgbClr val="00A896"/>
          </a:solidFill>
          <a:ln/>
        </p:spPr>
        <p:txBody>
          <a:bodyPr/>
          <a:lstStyle/>
          <a:p>
            <a:endParaRPr lang="fr-CI" noProof="0" dirty="0"/>
          </a:p>
        </p:txBody>
      </p:sp>
      <p:sp>
        <p:nvSpPr>
          <p:cNvPr id="10" name="Text 8"/>
          <p:cNvSpPr/>
          <p:nvPr/>
        </p:nvSpPr>
        <p:spPr>
          <a:xfrm>
            <a:off x="457200" y="2560320"/>
            <a:ext cx="292608" cy="292608"/>
          </a:xfrm>
          <a:prstGeom prst="rect">
            <a:avLst/>
          </a:prstGeom>
          <a:noFill/>
          <a:ln/>
        </p:spPr>
        <p:txBody>
          <a:bodyPr wrap="square" lIns="0" tIns="0" rIns="0" bIns="0" rtlCol="0" anchor="ctr"/>
          <a:lstStyle/>
          <a:p>
            <a:pPr marL="0" indent="0" algn="ctr">
              <a:buNone/>
            </a:pPr>
            <a:r>
              <a:rPr lang="fr-CI" sz="1000" b="1" noProof="0" dirty="0">
                <a:solidFill>
                  <a:srgbClr val="FFFFFF"/>
                </a:solidFill>
                <a:latin typeface="Calibri" pitchFamily="34" charset="0"/>
                <a:ea typeface="Calibri" pitchFamily="34" charset="-122"/>
                <a:cs typeface="Calibri" pitchFamily="34" charset="-120"/>
              </a:rPr>
              <a:t>2</a:t>
            </a:r>
            <a:endParaRPr lang="fr-CI" sz="1000" noProof="0" dirty="0"/>
          </a:p>
        </p:txBody>
      </p:sp>
      <p:sp>
        <p:nvSpPr>
          <p:cNvPr id="11" name="Text 9"/>
          <p:cNvSpPr/>
          <p:nvPr/>
        </p:nvSpPr>
        <p:spPr>
          <a:xfrm>
            <a:off x="914400" y="2423160"/>
            <a:ext cx="7772400" cy="347472"/>
          </a:xfrm>
          <a:prstGeom prst="rect">
            <a:avLst/>
          </a:prstGeom>
          <a:noFill/>
          <a:ln/>
        </p:spPr>
        <p:txBody>
          <a:bodyPr wrap="square" lIns="0" tIns="0" rIns="0" bIns="0" rtlCol="0" anchor="ctr"/>
          <a:lstStyle/>
          <a:p>
            <a:pPr marL="0" indent="0">
              <a:buNone/>
            </a:pPr>
            <a:r>
              <a:rPr lang="fr-CI" sz="1200" b="1" noProof="0" dirty="0">
                <a:solidFill>
                  <a:srgbClr val="00A896"/>
                </a:solidFill>
                <a:latin typeface="Calibri" pitchFamily="34" charset="0"/>
                <a:ea typeface="Calibri" pitchFamily="34" charset="-122"/>
                <a:cs typeface="Calibri" pitchFamily="34" charset="-120"/>
              </a:rPr>
              <a:t>UNICEF (2024)</a:t>
            </a:r>
            <a:endParaRPr lang="fr-CI" sz="1200" noProof="0" dirty="0"/>
          </a:p>
        </p:txBody>
      </p:sp>
      <p:sp>
        <p:nvSpPr>
          <p:cNvPr id="12" name="Text 10"/>
          <p:cNvSpPr/>
          <p:nvPr/>
        </p:nvSpPr>
        <p:spPr>
          <a:xfrm>
            <a:off x="914400" y="2770632"/>
            <a:ext cx="7772400" cy="347472"/>
          </a:xfrm>
          <a:prstGeom prst="rect">
            <a:avLst/>
          </a:prstGeom>
          <a:noFill/>
          <a:ln/>
        </p:spPr>
        <p:txBody>
          <a:bodyPr wrap="square" lIns="0" tIns="0" rIns="0" bIns="0" rtlCol="0" anchor="ctr"/>
          <a:lstStyle/>
          <a:p>
            <a:pPr marL="0" indent="0">
              <a:buNone/>
            </a:pPr>
            <a:r>
              <a:rPr lang="fr-CI" sz="1100" noProof="0" dirty="0">
                <a:solidFill>
                  <a:srgbClr val="FFFFFF"/>
                </a:solidFill>
                <a:latin typeface="Calibri" pitchFamily="34" charset="0"/>
                <a:ea typeface="Calibri" pitchFamily="34" charset="-122"/>
                <a:cs typeface="Calibri" pitchFamily="34" charset="-120"/>
              </a:rPr>
              <a:t>Levels and Trends in Child </a:t>
            </a:r>
            <a:r>
              <a:rPr lang="fr-CI" sz="1100" noProof="0" dirty="0" err="1">
                <a:solidFill>
                  <a:srgbClr val="FFFFFF"/>
                </a:solidFill>
                <a:latin typeface="Calibri" pitchFamily="34" charset="0"/>
                <a:ea typeface="Calibri" pitchFamily="34" charset="-122"/>
                <a:cs typeface="Calibri" pitchFamily="34" charset="-120"/>
              </a:rPr>
              <a:t>Mortality</a:t>
            </a:r>
            <a:r>
              <a:rPr lang="fr-CI" sz="1100" noProof="0" dirty="0">
                <a:solidFill>
                  <a:srgbClr val="FFFFFF"/>
                </a:solidFill>
                <a:latin typeface="Calibri" pitchFamily="34" charset="0"/>
                <a:ea typeface="Calibri" pitchFamily="34" charset="-122"/>
                <a:cs typeface="Calibri" pitchFamily="34" charset="-120"/>
              </a:rPr>
              <a:t> Report</a:t>
            </a:r>
            <a:endParaRPr lang="fr-CI" sz="1100" noProof="0" dirty="0"/>
          </a:p>
        </p:txBody>
      </p:sp>
      <p:sp>
        <p:nvSpPr>
          <p:cNvPr id="13" name="Text 11"/>
          <p:cNvSpPr/>
          <p:nvPr/>
        </p:nvSpPr>
        <p:spPr>
          <a:xfrm>
            <a:off x="914400" y="3108960"/>
            <a:ext cx="7772400" cy="274320"/>
          </a:xfrm>
          <a:prstGeom prst="rect">
            <a:avLst/>
          </a:prstGeom>
          <a:noFill/>
          <a:ln/>
        </p:spPr>
        <p:txBody>
          <a:bodyPr wrap="square" lIns="0" tIns="0" rIns="0" bIns="0" rtlCol="0" anchor="ctr"/>
          <a:lstStyle/>
          <a:p>
            <a:pPr marL="0" indent="0">
              <a:buNone/>
            </a:pPr>
            <a:r>
              <a:rPr lang="fr-CI" sz="1000" i="1" noProof="0" dirty="0">
                <a:solidFill>
                  <a:srgbClr val="02C39A"/>
                </a:solidFill>
                <a:latin typeface="Calibri" pitchFamily="34" charset="0"/>
                <a:ea typeface="Calibri" pitchFamily="34" charset="-122"/>
                <a:cs typeface="Calibri" pitchFamily="34" charset="-120"/>
              </a:rPr>
              <a:t>www.unicef.org</a:t>
            </a:r>
            <a:endParaRPr lang="fr-CI" sz="1000" noProof="0" dirty="0"/>
          </a:p>
        </p:txBody>
      </p:sp>
      <p:sp>
        <p:nvSpPr>
          <p:cNvPr id="14" name="Shape 12"/>
          <p:cNvSpPr/>
          <p:nvPr/>
        </p:nvSpPr>
        <p:spPr>
          <a:xfrm>
            <a:off x="457200" y="3749040"/>
            <a:ext cx="292608" cy="292608"/>
          </a:xfrm>
          <a:prstGeom prst="ellipse">
            <a:avLst/>
          </a:prstGeom>
          <a:solidFill>
            <a:srgbClr val="00A896"/>
          </a:solidFill>
          <a:ln/>
        </p:spPr>
        <p:txBody>
          <a:bodyPr/>
          <a:lstStyle/>
          <a:p>
            <a:endParaRPr lang="fr-CI" noProof="0" dirty="0"/>
          </a:p>
        </p:txBody>
      </p:sp>
      <p:sp>
        <p:nvSpPr>
          <p:cNvPr id="15" name="Text 13"/>
          <p:cNvSpPr/>
          <p:nvPr/>
        </p:nvSpPr>
        <p:spPr>
          <a:xfrm>
            <a:off x="457200" y="3749040"/>
            <a:ext cx="292608" cy="292608"/>
          </a:xfrm>
          <a:prstGeom prst="rect">
            <a:avLst/>
          </a:prstGeom>
          <a:noFill/>
          <a:ln/>
        </p:spPr>
        <p:txBody>
          <a:bodyPr wrap="square" lIns="0" tIns="0" rIns="0" bIns="0" rtlCol="0" anchor="ctr"/>
          <a:lstStyle/>
          <a:p>
            <a:pPr marL="0" indent="0" algn="ctr">
              <a:buNone/>
            </a:pPr>
            <a:r>
              <a:rPr lang="fr-CI" sz="1000" b="1" noProof="0" dirty="0">
                <a:solidFill>
                  <a:srgbClr val="FFFFFF"/>
                </a:solidFill>
                <a:latin typeface="Calibri" pitchFamily="34" charset="0"/>
                <a:ea typeface="Calibri" pitchFamily="34" charset="-122"/>
                <a:cs typeface="Calibri" pitchFamily="34" charset="-120"/>
              </a:rPr>
              <a:t>3</a:t>
            </a:r>
            <a:endParaRPr lang="fr-CI" sz="1000" noProof="0" dirty="0"/>
          </a:p>
        </p:txBody>
      </p:sp>
      <p:sp>
        <p:nvSpPr>
          <p:cNvPr id="16" name="Text 14"/>
          <p:cNvSpPr/>
          <p:nvPr/>
        </p:nvSpPr>
        <p:spPr>
          <a:xfrm>
            <a:off x="914400" y="3611880"/>
            <a:ext cx="7772400" cy="347472"/>
          </a:xfrm>
          <a:prstGeom prst="rect">
            <a:avLst/>
          </a:prstGeom>
          <a:noFill/>
          <a:ln/>
        </p:spPr>
        <p:txBody>
          <a:bodyPr wrap="square" lIns="0" tIns="0" rIns="0" bIns="0" rtlCol="0" anchor="ctr"/>
          <a:lstStyle/>
          <a:p>
            <a:pPr marL="0" indent="0">
              <a:buNone/>
            </a:pPr>
            <a:r>
              <a:rPr lang="fr-CI" sz="1200" b="1" noProof="0" dirty="0">
                <a:solidFill>
                  <a:srgbClr val="00A896"/>
                </a:solidFill>
                <a:latin typeface="Calibri" pitchFamily="34" charset="0"/>
                <a:ea typeface="Calibri" pitchFamily="34" charset="-122"/>
                <a:cs typeface="Calibri" pitchFamily="34" charset="-120"/>
              </a:rPr>
              <a:t>The Lancet Digital Health (2022–2025)</a:t>
            </a:r>
            <a:endParaRPr lang="fr-CI" sz="1200" noProof="0" dirty="0"/>
          </a:p>
        </p:txBody>
      </p:sp>
      <p:sp>
        <p:nvSpPr>
          <p:cNvPr id="17" name="Text 15"/>
          <p:cNvSpPr/>
          <p:nvPr/>
        </p:nvSpPr>
        <p:spPr>
          <a:xfrm>
            <a:off x="914400" y="3959352"/>
            <a:ext cx="7772400" cy="347472"/>
          </a:xfrm>
          <a:prstGeom prst="rect">
            <a:avLst/>
          </a:prstGeom>
          <a:noFill/>
          <a:ln/>
        </p:spPr>
        <p:txBody>
          <a:bodyPr wrap="square" lIns="0" tIns="0" rIns="0" bIns="0" rtlCol="0" anchor="ctr"/>
          <a:lstStyle/>
          <a:p>
            <a:pPr marL="0" indent="0">
              <a:buNone/>
            </a:pPr>
            <a:r>
              <a:rPr lang="fr-CI" sz="1100" noProof="0" dirty="0">
                <a:solidFill>
                  <a:srgbClr val="FFFFFF"/>
                </a:solidFill>
                <a:latin typeface="Calibri" pitchFamily="34" charset="0"/>
                <a:ea typeface="Calibri" pitchFamily="34" charset="-122"/>
                <a:cs typeface="Calibri" pitchFamily="34" charset="-120"/>
              </a:rPr>
              <a:t>Articles sur l'intelligence artificielle et la santé maternelle</a:t>
            </a:r>
            <a:endParaRPr lang="fr-CI" sz="1100" noProof="0" dirty="0"/>
          </a:p>
        </p:txBody>
      </p:sp>
      <p:sp>
        <p:nvSpPr>
          <p:cNvPr id="18" name="Text 16"/>
          <p:cNvSpPr/>
          <p:nvPr/>
        </p:nvSpPr>
        <p:spPr>
          <a:xfrm>
            <a:off x="914400" y="4297680"/>
            <a:ext cx="7772400" cy="274320"/>
          </a:xfrm>
          <a:prstGeom prst="rect">
            <a:avLst/>
          </a:prstGeom>
          <a:noFill/>
          <a:ln/>
        </p:spPr>
        <p:txBody>
          <a:bodyPr wrap="square" lIns="0" tIns="0" rIns="0" bIns="0" rtlCol="0" anchor="ctr"/>
          <a:lstStyle/>
          <a:p>
            <a:pPr marL="0" indent="0">
              <a:buNone/>
            </a:pPr>
            <a:r>
              <a:rPr lang="fr-CI" sz="1000" i="1" noProof="0" dirty="0">
                <a:solidFill>
                  <a:srgbClr val="02C39A"/>
                </a:solidFill>
                <a:latin typeface="Calibri" pitchFamily="34" charset="0"/>
                <a:ea typeface="Calibri" pitchFamily="34" charset="-122"/>
                <a:cs typeface="Calibri" pitchFamily="34" charset="-120"/>
              </a:rPr>
              <a:t>www.thelancet.com/journals/landig</a:t>
            </a:r>
            <a:endParaRPr lang="fr-CI" sz="1000" noProof="0" dirty="0"/>
          </a:p>
        </p:txBody>
      </p:sp>
      <p:sp>
        <p:nvSpPr>
          <p:cNvPr id="20" name="Shape 18"/>
          <p:cNvSpPr/>
          <p:nvPr/>
        </p:nvSpPr>
        <p:spPr>
          <a:xfrm>
            <a:off x="8046720" y="4663440"/>
            <a:ext cx="457200" cy="457200"/>
          </a:xfrm>
          <a:prstGeom prst="ellipse">
            <a:avLst/>
          </a:prstGeom>
          <a:solidFill>
            <a:srgbClr val="6D2E46"/>
          </a:solidFill>
          <a:ln/>
          <a:effectLst>
            <a:outerShdw blurRad="101600" dist="38100" dir="2700000" algn="bl" rotWithShape="0">
              <a:srgbClr val="000000">
                <a:alpha val="12000"/>
              </a:srgbClr>
            </a:outerShdw>
          </a:effectLst>
        </p:spPr>
        <p:txBody>
          <a:bodyPr/>
          <a:lstStyle/>
          <a:p>
            <a:endParaRPr lang="fr-CI" noProof="0" dirty="0"/>
          </a:p>
        </p:txBody>
      </p:sp>
      <p:pic>
        <p:nvPicPr>
          <p:cNvPr id="21" name="Image 0" descr="preencoded.png"/>
          <p:cNvPicPr>
            <a:picLocks noChangeAspect="1"/>
          </p:cNvPicPr>
          <p:nvPr/>
        </p:nvPicPr>
        <p:blipFill>
          <a:blip r:embed="rId3"/>
          <a:stretch>
            <a:fillRect/>
          </a:stretch>
        </p:blipFill>
        <p:spPr>
          <a:xfrm>
            <a:off x="8092440" y="4709160"/>
            <a:ext cx="365760" cy="3657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858</TotalTime>
  <Words>703</Words>
  <Application>Microsoft Office PowerPoint</Application>
  <PresentationFormat>Affichage à l'écran (16:9)</PresentationFormat>
  <Paragraphs>151</Paragraphs>
  <Slides>13</Slides>
  <Notes>13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Science des Données pour Réduire la Mortalité Maternelle et Infantile</dc:title>
  <dc:subject>PptxGenJS Presentation</dc:subject>
  <dc:creator>PptxGenJS</dc:creator>
  <cp:lastModifiedBy>Essan Ano Julien</cp:lastModifiedBy>
  <cp:revision>2</cp:revision>
  <dcterms:created xsi:type="dcterms:W3CDTF">2026-06-10T00:26:19Z</dcterms:created>
  <dcterms:modified xsi:type="dcterms:W3CDTF">2026-06-10T14:52:29Z</dcterms:modified>
</cp:coreProperties>
</file>